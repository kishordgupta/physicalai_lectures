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10"/>
  </p:normalViewPr>
  <p:slideViewPr>
    <p:cSldViewPr snapToGrid="0" snapToObjects="1">
      <p:cViewPr varScale="1">
        <p:scale>
          <a:sx n="83" d="100"/>
          <a:sy n="83" d="100"/>
        </p:scale>
        <p:origin x="21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847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0:30.
Open by framing the topic: Physical AI is not only about smarter robots; it is the shift from AI that describes the world to AI that operates in the world. The talk gives the foundations, not a vendor-specific product pitch.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1:10.
Explain the step change. Language models operate on symbols. Physical AI takes sensor input, maintains a state estimate, chooses actions, and uses actuators to affect the world. Because actions have consequences, safety and control are core parts of the foundation.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Use the equation to make the definition concrete. A chatbot can give instructions. A physical AI system must sense the current state, choose an action, send commands to actuators, and learn from the result. It is embodied and closed-loop.
Sources to mention: NVIDIA Glossary — What is Physical 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
Walk through the loop. Perception is not enough; reasoning is not enough; control is not enough. Physical AI is the integration of these steps into one reliable cycle.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
Contrast a text model error with a robotic error. In physical AI, small perception errors can compound into unsafe motion. This is why evaluation, safety envelopes, and control systems are not optional.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Use this slide to explain why Physical AI projects require both AI and robotics engineering. The foundation model is a component, not the whole system.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
Grounding is the bridge between language and action. The system has to know not only what the instruction means, but where things are, which surfaces can be used, what contacts are allowed, and how confident it 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1:40.
Explain why foundation models matter. They can bring language, vision, and prior knowledge into robotics. But they are not a substitute for physical testing, robust controllers, and safety cases.
Sources to mention: Google DeepMind RT-2; Open X-Embodiment; Octo.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1:30.
Present the basic simulation workflow. Start with a digital twin, add physics and sensors, use world models to generate or predict scenarios, then train and evaluate policies before deployment.
Sources to mention: NVIDIA Cosmos; NVIDIA Physical AI Glossary.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
The key point is operational. Physical AI improves through a data flywheel: deployment produces logs; logs expose gaps; simulation creates targeted edge cases; retraining improves the policy; monitoring validates the next deployment.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1:25.
Summarize the learning toolbox. Imitation is efficient for known tasks. Reinforcement learning can improve skills in simulation. Self-supervision uses unlabeled data. Fine-tuning adapts foundation models to site-specific conditions.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
The sim-to-real gap is the difference between what the simulated system assumes and what the physical system actually does. Practical transfer uses randomization, calibration, staged testing, and hard safety limits.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1:25.
Explain the trade-offs. Modular systems are easier to test but can be brittle. End-to-end models can be flexible but difficult to validate. Hybrid designs are typically the most deployable for near-term Physical AI.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Evaluation must cover more than benchmark accuracy. A policy that succeeds 98% of the time may still be unacceptable if failures are dangerous or hard to detect. Release gates should progressively increase physical exposure.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1:25.
Use the numbers to ground the discussion. Robotics is already deployed at scale in factories. Physical AI aims to make robotic capabilities more general, adaptive, and easier to transfer across tasks.
Sources to mention: International Federation of Robotics, World Robotics 2025 report; Stanford AI Index 2025 for broader AI context.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1:35.
Safety is not a final checklist. It starts at requirements and continues through deployment. Mention that robot safety standards and AI governance frameworks should be integrated, especially when AI changes behavior after updates.
Sources to mention: NIST AI RMF; ISO 10218-1:2025; European Commission AI Act.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Physical AI is likely to appear first in bounded domains. These environments have repeatable tasks, instrumented processes, clear ROI, and manageable safety zones.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
Give the audience a starting path. The most reliable entry point is a bounded task with measurable outcomes. The roadmap is practical: define the operating domain, collect data, build testbeds, gate releases, and run the data flywheel.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1:25.
Keep expectations grounded. Physical AI is promising but not magic. Many current demonstrations are constrained. Scaling requires better data, validation methods, real-time deployment, and governance for model updates.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1:10.
Close with three points. Then ask the discussion prompt. The best way to make Physical AI tangible is to identify a bounded, measurable workflow that could be instrumented and tested.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
Introduce this as a practical module. The case is useful because it shows Physical AI as a system: robots, sensors, routing intelligence, manipulation, people, safety limits, and operational feedback. Clarify that the metrics shown are Amazon-reported figures, not independent audit results.
Sources to mention: Amazon DeepFleet launch; Amazon next-generation fulfillment center update.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2:00.
Frame the case around four properties: scale, embodiment, feedback, and safety boundaries. Emphasize that this is not a general-purpose robot in an uncontrolled world. It is a carefully designed operating domain, which is why Physical AI can work reliably enough to matter.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2:15.
Walk through the map from left to right. Customer demand becomes tasking. Tasking becomes motion. Motion is constrained by the environment. Manipulation creates exceptions. Human handoff and logs close the loop. The important point is that the AI model is embedded inside a broader automation system.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2:30.
Explain DeepFleet as fleet-level Physical AI. The model coordinates robot movements across fulfillment centers, similar to traffic management. It is trained on operational data from warehouse and inventory movement. Be precise: the reported 10 percent figure is robot travel efficiency, not total facility productivity.
Sources to mention: Amazon DeepFleet launch; Amazon Q2 2025 results.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2:30.
Use Vulcan to show embodiment. Amazon describes Vulcan as its first robot with a sense of touch. Amazon Science explains that its end-of-arm tools use sensors measuring force and torque along six axes. The system is designed to make contact with random objects and back off before force becomes excessive. This is a clean example of sense, reason, act, and learn in contact-rich manipulation.
Sources to mention: Amazon Vulcan launch; Amazon Science Vulcan explainer.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2:15.
Show how the system is not just a robot fleet. Amazon describes the Shreveport site as a next-generation fulfillment center with five floors and over 3 million square feet. Sequoia coordinates mobile robots and arms, and Amazon reports up to 25 percent reduced fulfillment processing time in these next-generation sites. The lesson is co-design.
Sources to mention: Amazon next-generation fulfillment center update.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2:15.
Connect this to the safety foundations from the earlier section. Physical AI safety is socio-technical: the robot behavior, the site layout, the operators, the training model, and the maintenance process all matter. Use the workforce numbers as Amazon-reported claims and invite critical interpretation.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2:00.
This slide prevents overclaiming. The case is impressive, but it should be analyzed carefully. Distinguish robot travel efficiency from total productivity. Distinguish company-reported results from independent verification. Distinguish bounded warehouse automation from open-world autonomy.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2:15.
Translate the case into actionable lessons. The strongest practical lesson is not scale. It is disciplined system design: bounded domain, instrumentation, hybrid architecture, environmental design, and a data flywheel.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Close the case study. The main conclusion is that Physical AI is not a single technology. It is a deployable operating system for physical work: sensing, movement, manipulation, safety, human collaboration, and data-driven improvement.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0:30.
References slide. Leave this up during questions if useful.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_wide_cinematic_high_tech_robotics_lab_scene_in_c_batch_1.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F">
              <a:alpha val="72000"/>
            </a:srgbClr>
          </a:solidFill>
          <a:ln w="12700">
            <a:solidFill>
              <a:srgbClr val="07101F">
                <a:alpha val="0"/>
              </a:srgbClr>
            </a:solidFill>
            <a:prstDash val="solid"/>
          </a:ln>
        </p:spPr>
        <p:txBody>
          <a:bodyPr/>
          <a:lstStyle/>
          <a:p>
            <a:endParaRPr lang="en-US"/>
          </a:p>
        </p:txBody>
      </p:sp>
      <p:sp>
        <p:nvSpPr>
          <p:cNvPr id="4" name="Shape 1"/>
          <p:cNvSpPr/>
          <p:nvPr/>
        </p:nvSpPr>
        <p:spPr>
          <a:xfrm>
            <a:off x="0" y="0"/>
            <a:ext cx="5852160" cy="6858000"/>
          </a:xfrm>
          <a:prstGeom prst="rect">
            <a:avLst/>
          </a:prstGeom>
          <a:solidFill>
            <a:srgbClr val="07101F">
              <a:alpha val="88000"/>
            </a:srgbClr>
          </a:solidFill>
          <a:ln w="12700">
            <a:solidFill>
              <a:srgbClr val="07101F">
                <a:alpha val="0"/>
              </a:srgbClr>
            </a:solidFill>
            <a:prstDash val="solid"/>
          </a:ln>
        </p:spPr>
        <p:txBody>
          <a:bodyPr/>
          <a:lstStyle/>
          <a:p>
            <a:endParaRPr lang="en-US"/>
          </a:p>
        </p:txBody>
      </p:sp>
      <p:sp>
        <p:nvSpPr>
          <p:cNvPr id="5" name="Text 2"/>
          <p:cNvSpPr/>
          <p:nvPr/>
        </p:nvSpPr>
        <p:spPr>
          <a:xfrm>
            <a:off x="658368" y="960120"/>
            <a:ext cx="5120640" cy="1234440"/>
          </a:xfrm>
          <a:prstGeom prst="rect">
            <a:avLst/>
          </a:prstGeom>
          <a:noFill/>
          <a:ln/>
        </p:spPr>
        <p:txBody>
          <a:bodyPr wrap="square" lIns="0" tIns="0" rIns="0" bIns="0" rtlCol="0" anchor="ctr">
            <a:normAutofit/>
          </a:bodyPr>
          <a:lstStyle/>
          <a:p>
            <a:pPr marL="0" indent="0">
              <a:buNone/>
            </a:pPr>
            <a:r>
              <a:rPr lang="en-US" sz="4800" b="1" dirty="0">
                <a:solidFill>
                  <a:srgbClr val="F8FAFC"/>
                </a:solidFill>
                <a:latin typeface="Aptos Display" pitchFamily="34" charset="0"/>
                <a:ea typeface="Aptos Display" pitchFamily="34" charset="-122"/>
                <a:cs typeface="Aptos Display" pitchFamily="34" charset="-120"/>
              </a:rPr>
              <a:t>Foundations of</a:t>
            </a:r>
            <a:endParaRPr lang="en-US" sz="4800" dirty="0"/>
          </a:p>
          <a:p>
            <a:pPr marL="0" indent="0">
              <a:buNone/>
            </a:pPr>
            <a:r>
              <a:rPr lang="en-US" sz="4800" b="1" dirty="0">
                <a:solidFill>
                  <a:srgbClr val="F8FAFC"/>
                </a:solidFill>
                <a:latin typeface="Aptos Display" pitchFamily="34" charset="0"/>
                <a:ea typeface="Aptos Display" pitchFamily="34" charset="-122"/>
                <a:cs typeface="Aptos Display" pitchFamily="34" charset="-120"/>
              </a:rPr>
              <a:t>Physical AI</a:t>
            </a:r>
            <a:endParaRPr lang="en-US" sz="4800" dirty="0"/>
          </a:p>
        </p:txBody>
      </p:sp>
      <p:sp>
        <p:nvSpPr>
          <p:cNvPr id="6" name="Shape 3"/>
          <p:cNvSpPr/>
          <p:nvPr/>
        </p:nvSpPr>
        <p:spPr>
          <a:xfrm>
            <a:off x="713232" y="2487168"/>
            <a:ext cx="1280160" cy="0"/>
          </a:xfrm>
          <a:prstGeom prst="line">
            <a:avLst/>
          </a:prstGeom>
          <a:noFill/>
          <a:ln w="40640">
            <a:solidFill>
              <a:srgbClr val="31D8FF"/>
            </a:solidFill>
            <a:prstDash val="solid"/>
          </a:ln>
        </p:spPr>
        <p:txBody>
          <a:bodyPr/>
          <a:lstStyle/>
          <a:p>
            <a:endParaRPr lang="en-US"/>
          </a:p>
        </p:txBody>
      </p:sp>
      <p:sp>
        <p:nvSpPr>
          <p:cNvPr id="7" name="Text 4"/>
          <p:cNvSpPr/>
          <p:nvPr/>
        </p:nvSpPr>
        <p:spPr>
          <a:xfrm>
            <a:off x="713232" y="2788920"/>
            <a:ext cx="4754880" cy="676656"/>
          </a:xfrm>
          <a:prstGeom prst="rect">
            <a:avLst/>
          </a:prstGeom>
          <a:noFill/>
          <a:ln/>
        </p:spPr>
        <p:txBody>
          <a:bodyPr wrap="square" lIns="0" tIns="0" rIns="0" bIns="0" rtlCol="0" anchor="ctr">
            <a:normAutofit/>
          </a:bodyPr>
          <a:lstStyle/>
          <a:p>
            <a:pPr marL="0" indent="0">
              <a:buNone/>
            </a:pPr>
            <a:r>
              <a:rPr lang="en-US" sz="2000" dirty="0">
                <a:solidFill>
                  <a:srgbClr val="B6C2D5"/>
                </a:solidFill>
                <a:latin typeface="Aptos" pitchFamily="34" charset="0"/>
                <a:ea typeface="Aptos" pitchFamily="34" charset="-122"/>
                <a:cs typeface="Aptos" pitchFamily="34" charset="-120"/>
              </a:rPr>
              <a:t>How AI learns to sense, reason, and act in the physical world</a:t>
            </a:r>
            <a:endParaRPr lang="en-US" sz="2000" dirty="0"/>
          </a:p>
        </p:txBody>
      </p:sp>
      <p:sp>
        <p:nvSpPr>
          <p:cNvPr id="8" name="Text 5"/>
          <p:cNvSpPr/>
          <p:nvPr/>
        </p:nvSpPr>
        <p:spPr>
          <a:xfrm>
            <a:off x="713232" y="5879592"/>
            <a:ext cx="4937760" cy="329184"/>
          </a:xfrm>
          <a:prstGeom prst="rect">
            <a:avLst/>
          </a:prstGeom>
          <a:noFill/>
          <a:ln/>
        </p:spPr>
        <p:txBody>
          <a:bodyPr wrap="square" lIns="0" tIns="0" rIns="0" bIns="0" rtlCol="0" anchor="ctr">
            <a:normAutofit/>
          </a:bodyPr>
          <a:lstStyle/>
          <a:p>
            <a:pPr marL="0" indent="0">
              <a:buNone/>
            </a:pPr>
            <a:r>
              <a:rPr lang="en-US" sz="1220" b="1" dirty="0">
                <a:solidFill>
                  <a:srgbClr val="31D8FF"/>
                </a:solidFill>
                <a:latin typeface="Aptos" pitchFamily="34" charset="0"/>
                <a:ea typeface="Aptos" pitchFamily="34" charset="-122"/>
                <a:cs typeface="Aptos" pitchFamily="34" charset="-120"/>
              </a:rPr>
              <a:t>30-minute foundation + 20-minute case study module</a:t>
            </a:r>
            <a:endParaRPr lang="en-US" sz="12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02</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From digital prediction to physical action</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Physical AI is the next step after generative AI: outputs become movements, controls, and interventions.</a:t>
            </a:r>
            <a:endParaRPr lang="en-US" sz="1450" dirty="0"/>
          </a:p>
        </p:txBody>
      </p:sp>
      <p:sp>
        <p:nvSpPr>
          <p:cNvPr id="7" name="Shape 5"/>
          <p:cNvSpPr/>
          <p:nvPr/>
        </p:nvSpPr>
        <p:spPr>
          <a:xfrm>
            <a:off x="868680" y="2331720"/>
            <a:ext cx="2834640" cy="1325880"/>
          </a:xfrm>
          <a:prstGeom prst="roundRect">
            <a:avLst>
              <a:gd name="adj" fmla="val 12414"/>
            </a:avLst>
          </a:prstGeom>
          <a:solidFill>
            <a:srgbClr val="12213B"/>
          </a:solidFill>
          <a:ln w="13970">
            <a:solidFill>
              <a:srgbClr val="3B82F6">
                <a:alpha val="80000"/>
              </a:srgbClr>
            </a:solidFill>
            <a:prstDash val="solid"/>
          </a:ln>
        </p:spPr>
        <p:txBody>
          <a:bodyPr/>
          <a:lstStyle/>
          <a:p>
            <a:endParaRPr lang="en-US"/>
          </a:p>
        </p:txBody>
      </p:sp>
      <p:sp>
        <p:nvSpPr>
          <p:cNvPr id="8" name="Text 6"/>
          <p:cNvSpPr/>
          <p:nvPr/>
        </p:nvSpPr>
        <p:spPr>
          <a:xfrm>
            <a:off x="1097280" y="2542032"/>
            <a:ext cx="2377440" cy="310896"/>
          </a:xfrm>
          <a:prstGeom prst="rect">
            <a:avLst/>
          </a:prstGeom>
          <a:noFill/>
          <a:ln/>
        </p:spPr>
        <p:txBody>
          <a:bodyPr wrap="square" lIns="0" tIns="0" rIns="0" bIns="0" rtlCol="0" anchor="ctr"/>
          <a:lstStyle/>
          <a:p>
            <a:pPr marL="0" indent="0" algn="ctr">
              <a:buNone/>
            </a:pPr>
            <a:r>
              <a:rPr lang="en-US" sz="2100" b="1" dirty="0">
                <a:solidFill>
                  <a:srgbClr val="F8FAFC"/>
                </a:solidFill>
                <a:latin typeface="Aptos Display" pitchFamily="34" charset="0"/>
                <a:ea typeface="Aptos Display" pitchFamily="34" charset="-122"/>
                <a:cs typeface="Aptos Display" pitchFamily="34" charset="-120"/>
              </a:rPr>
              <a:t>Digital AI</a:t>
            </a:r>
            <a:endParaRPr lang="en-US" sz="2100" dirty="0"/>
          </a:p>
        </p:txBody>
      </p:sp>
      <p:sp>
        <p:nvSpPr>
          <p:cNvPr id="9" name="Text 7"/>
          <p:cNvSpPr/>
          <p:nvPr/>
        </p:nvSpPr>
        <p:spPr>
          <a:xfrm>
            <a:off x="1106424" y="3026664"/>
            <a:ext cx="2377440" cy="347472"/>
          </a:xfrm>
          <a:prstGeom prst="rect">
            <a:avLst/>
          </a:prstGeom>
          <a:noFill/>
          <a:ln/>
        </p:spPr>
        <p:txBody>
          <a:bodyPr wrap="square" lIns="0" tIns="0" rIns="0" bIns="0" rtlCol="0" anchor="ctr">
            <a:normAutofit/>
          </a:bodyPr>
          <a:lstStyle/>
          <a:p>
            <a:pPr marL="0" indent="0" algn="ctr">
              <a:buNone/>
            </a:pPr>
            <a:r>
              <a:rPr lang="en-US" sz="1200" dirty="0">
                <a:solidFill>
                  <a:srgbClr val="B6C2D5"/>
                </a:solidFill>
                <a:latin typeface="Aptos" pitchFamily="34" charset="0"/>
                <a:ea typeface="Aptos" pitchFamily="34" charset="-122"/>
                <a:cs typeface="Aptos" pitchFamily="34" charset="-120"/>
              </a:rPr>
              <a:t>predicts, writes, classifies, reasons over files</a:t>
            </a:r>
            <a:endParaRPr lang="en-US" sz="1200" dirty="0"/>
          </a:p>
        </p:txBody>
      </p:sp>
      <p:sp>
        <p:nvSpPr>
          <p:cNvPr id="10" name="Shape 8"/>
          <p:cNvSpPr/>
          <p:nvPr/>
        </p:nvSpPr>
        <p:spPr>
          <a:xfrm>
            <a:off x="3941064" y="2990088"/>
            <a:ext cx="905256" cy="0"/>
          </a:xfrm>
          <a:prstGeom prst="line">
            <a:avLst/>
          </a:prstGeom>
          <a:noFill/>
          <a:ln w="21590">
            <a:solidFill>
              <a:srgbClr val="31D8FF">
                <a:alpha val="90000"/>
              </a:srgbClr>
            </a:solidFill>
            <a:prstDash val="solid"/>
            <a:tailEnd type="triangle"/>
          </a:ln>
        </p:spPr>
        <p:txBody>
          <a:bodyPr/>
          <a:lstStyle/>
          <a:p>
            <a:endParaRPr lang="en-US"/>
          </a:p>
        </p:txBody>
      </p:sp>
      <p:sp>
        <p:nvSpPr>
          <p:cNvPr id="11" name="Shape 9"/>
          <p:cNvSpPr/>
          <p:nvPr/>
        </p:nvSpPr>
        <p:spPr>
          <a:xfrm>
            <a:off x="5029200" y="2103120"/>
            <a:ext cx="3108960" cy="1783080"/>
          </a:xfrm>
          <a:prstGeom prst="roundRect">
            <a:avLst>
              <a:gd name="adj" fmla="val 9231"/>
            </a:avLst>
          </a:prstGeom>
          <a:solidFill>
            <a:srgbClr val="12213B"/>
          </a:solidFill>
          <a:ln w="17780">
            <a:solidFill>
              <a:srgbClr val="31D8FF"/>
            </a:solidFill>
            <a:prstDash val="solid"/>
          </a:ln>
        </p:spPr>
        <p:txBody>
          <a:bodyPr/>
          <a:lstStyle/>
          <a:p>
            <a:endParaRPr lang="en-US"/>
          </a:p>
        </p:txBody>
      </p:sp>
      <p:sp>
        <p:nvSpPr>
          <p:cNvPr id="12" name="Text 10"/>
          <p:cNvSpPr/>
          <p:nvPr/>
        </p:nvSpPr>
        <p:spPr>
          <a:xfrm>
            <a:off x="5257800" y="2386584"/>
            <a:ext cx="2651760" cy="384048"/>
          </a:xfrm>
          <a:prstGeom prst="rect">
            <a:avLst/>
          </a:prstGeom>
          <a:noFill/>
          <a:ln/>
        </p:spPr>
        <p:txBody>
          <a:bodyPr wrap="square" lIns="0" tIns="0" rIns="0" bIns="0" rtlCol="0" anchor="ctr"/>
          <a:lstStyle/>
          <a:p>
            <a:pPr marL="0" indent="0" algn="ctr">
              <a:buNone/>
            </a:pPr>
            <a:r>
              <a:rPr lang="en-US" sz="2400" b="1" dirty="0">
                <a:solidFill>
                  <a:srgbClr val="F8FAFC"/>
                </a:solidFill>
                <a:latin typeface="Aptos Display" pitchFamily="34" charset="0"/>
                <a:ea typeface="Aptos Display" pitchFamily="34" charset="-122"/>
                <a:cs typeface="Aptos Display" pitchFamily="34" charset="-120"/>
              </a:rPr>
              <a:t>Physical AI</a:t>
            </a:r>
            <a:endParaRPr lang="en-US" sz="2400" dirty="0"/>
          </a:p>
        </p:txBody>
      </p:sp>
      <p:sp>
        <p:nvSpPr>
          <p:cNvPr id="13" name="Text 11"/>
          <p:cNvSpPr/>
          <p:nvPr/>
        </p:nvSpPr>
        <p:spPr>
          <a:xfrm>
            <a:off x="5312664" y="2999232"/>
            <a:ext cx="2542032" cy="438912"/>
          </a:xfrm>
          <a:prstGeom prst="rect">
            <a:avLst/>
          </a:prstGeom>
          <a:noFill/>
          <a:ln/>
        </p:spPr>
        <p:txBody>
          <a:bodyPr wrap="square" lIns="0" tIns="0" rIns="0" bIns="0" rtlCol="0" anchor="ctr">
            <a:normAutofit/>
          </a:bodyPr>
          <a:lstStyle/>
          <a:p>
            <a:pPr marL="0" indent="0" algn="ctr">
              <a:buNone/>
            </a:pPr>
            <a:r>
              <a:rPr lang="en-US" sz="1300" dirty="0">
                <a:solidFill>
                  <a:srgbClr val="B6C2D5"/>
                </a:solidFill>
                <a:latin typeface="Aptos" pitchFamily="34" charset="0"/>
                <a:ea typeface="Aptos" pitchFamily="34" charset="-122"/>
                <a:cs typeface="Aptos" pitchFamily="34" charset="-120"/>
              </a:rPr>
              <a:t>perceives, plans, controls, learns from feedback</a:t>
            </a:r>
            <a:endParaRPr lang="en-US" sz="1300" dirty="0"/>
          </a:p>
        </p:txBody>
      </p:sp>
      <p:sp>
        <p:nvSpPr>
          <p:cNvPr id="14" name="Shape 12"/>
          <p:cNvSpPr/>
          <p:nvPr/>
        </p:nvSpPr>
        <p:spPr>
          <a:xfrm>
            <a:off x="8321040" y="2990088"/>
            <a:ext cx="905256" cy="0"/>
          </a:xfrm>
          <a:prstGeom prst="line">
            <a:avLst/>
          </a:prstGeom>
          <a:noFill/>
          <a:ln w="21590">
            <a:solidFill>
              <a:srgbClr val="31D8FF">
                <a:alpha val="90000"/>
              </a:srgbClr>
            </a:solidFill>
            <a:prstDash val="solid"/>
            <a:tailEnd type="triangle"/>
          </a:ln>
        </p:spPr>
        <p:txBody>
          <a:bodyPr/>
          <a:lstStyle/>
          <a:p>
            <a:endParaRPr lang="en-US"/>
          </a:p>
        </p:txBody>
      </p:sp>
      <p:sp>
        <p:nvSpPr>
          <p:cNvPr id="15" name="Shape 13"/>
          <p:cNvSpPr/>
          <p:nvPr/>
        </p:nvSpPr>
        <p:spPr>
          <a:xfrm>
            <a:off x="9418320" y="2331720"/>
            <a:ext cx="2468880" cy="1325880"/>
          </a:xfrm>
          <a:prstGeom prst="roundRect">
            <a:avLst>
              <a:gd name="adj" fmla="val 12414"/>
            </a:avLst>
          </a:prstGeom>
          <a:solidFill>
            <a:srgbClr val="12213B"/>
          </a:solidFill>
          <a:ln w="13970">
            <a:solidFill>
              <a:srgbClr val="F59E0B">
                <a:alpha val="80000"/>
              </a:srgbClr>
            </a:solidFill>
            <a:prstDash val="solid"/>
          </a:ln>
        </p:spPr>
        <p:txBody>
          <a:bodyPr/>
          <a:lstStyle/>
          <a:p>
            <a:endParaRPr lang="en-US"/>
          </a:p>
        </p:txBody>
      </p:sp>
      <p:sp>
        <p:nvSpPr>
          <p:cNvPr id="16" name="Text 14"/>
          <p:cNvSpPr/>
          <p:nvPr/>
        </p:nvSpPr>
        <p:spPr>
          <a:xfrm>
            <a:off x="9619488" y="2560320"/>
            <a:ext cx="2057400" cy="310896"/>
          </a:xfrm>
          <a:prstGeom prst="rect">
            <a:avLst/>
          </a:prstGeom>
          <a:noFill/>
          <a:ln/>
        </p:spPr>
        <p:txBody>
          <a:bodyPr wrap="square" lIns="0" tIns="0" rIns="0" bIns="0" rtlCol="0" anchor="ctr"/>
          <a:lstStyle/>
          <a:p>
            <a:pPr marL="0" indent="0" algn="ctr">
              <a:buNone/>
            </a:pPr>
            <a:r>
              <a:rPr lang="en-US" sz="2100" b="1" dirty="0">
                <a:solidFill>
                  <a:srgbClr val="F8FAFC"/>
                </a:solidFill>
                <a:latin typeface="Aptos Display" pitchFamily="34" charset="0"/>
                <a:ea typeface="Aptos Display" pitchFamily="34" charset="-122"/>
                <a:cs typeface="Aptos Display" pitchFamily="34" charset="-120"/>
              </a:rPr>
              <a:t>Action</a:t>
            </a:r>
            <a:endParaRPr lang="en-US" sz="2100" dirty="0"/>
          </a:p>
        </p:txBody>
      </p:sp>
      <p:sp>
        <p:nvSpPr>
          <p:cNvPr id="17" name="Text 15"/>
          <p:cNvSpPr/>
          <p:nvPr/>
        </p:nvSpPr>
        <p:spPr>
          <a:xfrm>
            <a:off x="9628632" y="3026664"/>
            <a:ext cx="2011680" cy="347472"/>
          </a:xfrm>
          <a:prstGeom prst="rect">
            <a:avLst/>
          </a:prstGeom>
          <a:noFill/>
          <a:ln/>
        </p:spPr>
        <p:txBody>
          <a:bodyPr wrap="square" lIns="0" tIns="0" rIns="0" bIns="0" rtlCol="0" anchor="ctr">
            <a:normAutofit/>
          </a:bodyPr>
          <a:lstStyle/>
          <a:p>
            <a:pPr marL="0" indent="0" algn="ctr">
              <a:buNone/>
            </a:pPr>
            <a:r>
              <a:rPr lang="en-US" sz="1200" dirty="0">
                <a:solidFill>
                  <a:srgbClr val="B6C2D5"/>
                </a:solidFill>
                <a:latin typeface="Aptos" pitchFamily="34" charset="0"/>
                <a:ea typeface="Aptos" pitchFamily="34" charset="-122"/>
                <a:cs typeface="Aptos" pitchFamily="34" charset="-120"/>
              </a:rPr>
              <a:t>robots, vehicles, smart spaces, machines</a:t>
            </a:r>
            <a:endParaRPr lang="en-US" sz="1200" dirty="0"/>
          </a:p>
        </p:txBody>
      </p:sp>
      <p:sp>
        <p:nvSpPr>
          <p:cNvPr id="18" name="Shape 16"/>
          <p:cNvSpPr/>
          <p:nvPr/>
        </p:nvSpPr>
        <p:spPr>
          <a:xfrm>
            <a:off x="914400" y="4709160"/>
            <a:ext cx="10378440" cy="713232"/>
          </a:xfrm>
          <a:prstGeom prst="roundRect">
            <a:avLst>
              <a:gd name="adj" fmla="val 15385"/>
            </a:avLst>
          </a:prstGeom>
          <a:solidFill>
            <a:srgbClr val="12213B"/>
          </a:solidFill>
          <a:ln w="11430">
            <a:solidFill>
              <a:srgbClr val="31D8FF">
                <a:alpha val="55000"/>
              </a:srgbClr>
            </a:solidFill>
            <a:prstDash val="solid"/>
          </a:ln>
        </p:spPr>
        <p:txBody>
          <a:bodyPr/>
          <a:lstStyle/>
          <a:p>
            <a:endParaRPr lang="en-US"/>
          </a:p>
        </p:txBody>
      </p:sp>
      <p:sp>
        <p:nvSpPr>
          <p:cNvPr id="19" name="Shape 17"/>
          <p:cNvSpPr/>
          <p:nvPr/>
        </p:nvSpPr>
        <p:spPr>
          <a:xfrm>
            <a:off x="914400" y="4709160"/>
            <a:ext cx="64008" cy="713232"/>
          </a:xfrm>
          <a:prstGeom prst="rect">
            <a:avLst/>
          </a:prstGeom>
          <a:solidFill>
            <a:srgbClr val="31D8FF"/>
          </a:solidFill>
          <a:ln w="12700">
            <a:solidFill>
              <a:srgbClr val="31D8FF">
                <a:alpha val="0"/>
              </a:srgbClr>
            </a:solidFill>
            <a:prstDash val="solid"/>
          </a:ln>
        </p:spPr>
        <p:txBody>
          <a:bodyPr/>
          <a:lstStyle/>
          <a:p>
            <a:endParaRPr lang="en-US"/>
          </a:p>
        </p:txBody>
      </p:sp>
      <p:sp>
        <p:nvSpPr>
          <p:cNvPr id="20" name="Text 18"/>
          <p:cNvSpPr/>
          <p:nvPr/>
        </p:nvSpPr>
        <p:spPr>
          <a:xfrm>
            <a:off x="1078992" y="4818888"/>
            <a:ext cx="10085832" cy="530352"/>
          </a:xfrm>
          <a:prstGeom prst="rect">
            <a:avLst/>
          </a:prstGeom>
          <a:noFill/>
          <a:ln/>
        </p:spPr>
        <p:txBody>
          <a:bodyPr wrap="square" lIns="254" tIns="254" rIns="254" bIns="254" rtlCol="0" anchor="ctr">
            <a:normAutofit/>
          </a:bodyPr>
          <a:lstStyle/>
          <a:p>
            <a:pPr marL="0" indent="0">
              <a:buNone/>
            </a:pPr>
            <a:r>
              <a:rPr lang="en-US" sz="1800" dirty="0">
                <a:solidFill>
                  <a:srgbClr val="F8FAFC"/>
                </a:solidFill>
                <a:latin typeface="Aptos" pitchFamily="34" charset="0"/>
                <a:ea typeface="Aptos" pitchFamily="34" charset="-122"/>
                <a:cs typeface="Aptos" pitchFamily="34" charset="-120"/>
              </a:rPr>
              <a:t>Key idea: the output is no longer only text or pixels. It becomes a safe physical behavior under real constraints.</a:t>
            </a:r>
            <a:endParaRPr lang="en-US" sz="1800" dirty="0"/>
          </a:p>
        </p:txBody>
      </p:sp>
      <p:sp>
        <p:nvSpPr>
          <p:cNvPr id="21" name="Shape 19"/>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2" name="Text 20"/>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23" name="Text 21"/>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02</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04</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Working definition</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Physical AI systems perceive the physical world, reason about it, and perform actions through machines.</a:t>
            </a:r>
            <a:endParaRPr lang="en-US" sz="1450" dirty="0"/>
          </a:p>
        </p:txBody>
      </p:sp>
      <p:sp>
        <p:nvSpPr>
          <p:cNvPr id="7" name="Shape 5"/>
          <p:cNvSpPr/>
          <p:nvPr/>
        </p:nvSpPr>
        <p:spPr>
          <a:xfrm>
            <a:off x="786384" y="2267712"/>
            <a:ext cx="2057400" cy="1316736"/>
          </a:xfrm>
          <a:prstGeom prst="roundRect">
            <a:avLst>
              <a:gd name="adj" fmla="val 11111"/>
            </a:avLst>
          </a:prstGeom>
          <a:solidFill>
            <a:srgbClr val="12213B"/>
          </a:solidFill>
          <a:ln w="13970">
            <a:solidFill>
              <a:srgbClr val="31D8FF">
                <a:alpha val="90000"/>
              </a:srgbClr>
            </a:solidFill>
            <a:prstDash val="solid"/>
          </a:ln>
        </p:spPr>
        <p:txBody>
          <a:bodyPr/>
          <a:lstStyle/>
          <a:p>
            <a:endParaRPr lang="en-US"/>
          </a:p>
        </p:txBody>
      </p:sp>
      <p:sp>
        <p:nvSpPr>
          <p:cNvPr id="8" name="Text 6"/>
          <p:cNvSpPr/>
          <p:nvPr/>
        </p:nvSpPr>
        <p:spPr>
          <a:xfrm>
            <a:off x="896112" y="2377440"/>
            <a:ext cx="183794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Sensors</a:t>
            </a:r>
            <a:endParaRPr lang="en-US" sz="1550" dirty="0"/>
          </a:p>
        </p:txBody>
      </p:sp>
      <p:sp>
        <p:nvSpPr>
          <p:cNvPr id="9" name="Text 7"/>
          <p:cNvSpPr/>
          <p:nvPr/>
        </p:nvSpPr>
        <p:spPr>
          <a:xfrm>
            <a:off x="923544" y="2761488"/>
            <a:ext cx="1783080" cy="722376"/>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vision</a:t>
            </a:r>
            <a:endParaRPr lang="en-US" sz="1030" dirty="0"/>
          </a:p>
          <a:p>
            <a:pPr marL="0" indent="0" algn="ctr">
              <a:buNone/>
            </a:pPr>
            <a:r>
              <a:rPr lang="en-US" sz="1030" dirty="0">
                <a:solidFill>
                  <a:srgbClr val="B6C2D5"/>
                </a:solidFill>
                <a:latin typeface="Aptos" pitchFamily="34" charset="0"/>
                <a:ea typeface="Aptos" pitchFamily="34" charset="-122"/>
                <a:cs typeface="Aptos" pitchFamily="34" charset="-120"/>
              </a:rPr>
              <a:t>force</a:t>
            </a:r>
            <a:endParaRPr lang="en-US" sz="1030" dirty="0"/>
          </a:p>
          <a:p>
            <a:pPr marL="0" indent="0" algn="ctr">
              <a:buNone/>
            </a:pPr>
            <a:r>
              <a:rPr lang="en-US" sz="1030" dirty="0">
                <a:solidFill>
                  <a:srgbClr val="B6C2D5"/>
                </a:solidFill>
                <a:latin typeface="Aptos" pitchFamily="34" charset="0"/>
                <a:ea typeface="Aptos" pitchFamily="34" charset="-122"/>
                <a:cs typeface="Aptos" pitchFamily="34" charset="-120"/>
              </a:rPr>
              <a:t>position</a:t>
            </a:r>
            <a:endParaRPr lang="en-US" sz="1030" dirty="0"/>
          </a:p>
        </p:txBody>
      </p:sp>
      <p:sp>
        <p:nvSpPr>
          <p:cNvPr id="10" name="Shape 8"/>
          <p:cNvSpPr/>
          <p:nvPr/>
        </p:nvSpPr>
        <p:spPr>
          <a:xfrm>
            <a:off x="2916936" y="2926080"/>
            <a:ext cx="320040" cy="0"/>
          </a:xfrm>
          <a:prstGeom prst="line">
            <a:avLst/>
          </a:prstGeom>
          <a:noFill/>
          <a:ln w="16510">
            <a:solidFill>
              <a:srgbClr val="25436C">
                <a:alpha val="90000"/>
              </a:srgbClr>
            </a:solidFill>
            <a:prstDash val="solid"/>
            <a:tailEnd type="triangle"/>
          </a:ln>
        </p:spPr>
        <p:txBody>
          <a:bodyPr/>
          <a:lstStyle/>
          <a:p>
            <a:endParaRPr lang="en-US"/>
          </a:p>
        </p:txBody>
      </p:sp>
      <p:sp>
        <p:nvSpPr>
          <p:cNvPr id="11" name="Shape 9"/>
          <p:cNvSpPr/>
          <p:nvPr/>
        </p:nvSpPr>
        <p:spPr>
          <a:xfrm>
            <a:off x="3456432" y="2267712"/>
            <a:ext cx="2057400" cy="1316736"/>
          </a:xfrm>
          <a:prstGeom prst="roundRect">
            <a:avLst>
              <a:gd name="adj" fmla="val 11111"/>
            </a:avLst>
          </a:prstGeom>
          <a:solidFill>
            <a:srgbClr val="12213B"/>
          </a:solidFill>
          <a:ln w="13970">
            <a:solidFill>
              <a:srgbClr val="3B82F6">
                <a:alpha val="90000"/>
              </a:srgbClr>
            </a:solidFill>
            <a:prstDash val="solid"/>
          </a:ln>
        </p:spPr>
        <p:txBody>
          <a:bodyPr/>
          <a:lstStyle/>
          <a:p>
            <a:endParaRPr lang="en-US"/>
          </a:p>
        </p:txBody>
      </p:sp>
      <p:sp>
        <p:nvSpPr>
          <p:cNvPr id="12" name="Text 10"/>
          <p:cNvSpPr/>
          <p:nvPr/>
        </p:nvSpPr>
        <p:spPr>
          <a:xfrm>
            <a:off x="3566160" y="2377440"/>
            <a:ext cx="183794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Models</a:t>
            </a:r>
            <a:endParaRPr lang="en-US" sz="1550" dirty="0"/>
          </a:p>
        </p:txBody>
      </p:sp>
      <p:sp>
        <p:nvSpPr>
          <p:cNvPr id="13" name="Text 11"/>
          <p:cNvSpPr/>
          <p:nvPr/>
        </p:nvSpPr>
        <p:spPr>
          <a:xfrm>
            <a:off x="3593592" y="2761488"/>
            <a:ext cx="1783080" cy="722376"/>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world state</a:t>
            </a:r>
            <a:endParaRPr lang="en-US" sz="1030" dirty="0"/>
          </a:p>
          <a:p>
            <a:pPr marL="0" indent="0" algn="ctr">
              <a:buNone/>
            </a:pPr>
            <a:r>
              <a:rPr lang="en-US" sz="1030" dirty="0">
                <a:solidFill>
                  <a:srgbClr val="B6C2D5"/>
                </a:solidFill>
                <a:latin typeface="Aptos" pitchFamily="34" charset="0"/>
                <a:ea typeface="Aptos" pitchFamily="34" charset="-122"/>
                <a:cs typeface="Aptos" pitchFamily="34" charset="-120"/>
              </a:rPr>
              <a:t>intent</a:t>
            </a:r>
            <a:endParaRPr lang="en-US" sz="1030" dirty="0"/>
          </a:p>
          <a:p>
            <a:pPr marL="0" indent="0" algn="ctr">
              <a:buNone/>
            </a:pPr>
            <a:r>
              <a:rPr lang="en-US" sz="1030" dirty="0">
                <a:solidFill>
                  <a:srgbClr val="B6C2D5"/>
                </a:solidFill>
                <a:latin typeface="Aptos" pitchFamily="34" charset="0"/>
                <a:ea typeface="Aptos" pitchFamily="34" charset="-122"/>
                <a:cs typeface="Aptos" pitchFamily="34" charset="-120"/>
              </a:rPr>
              <a:t>uncertainty</a:t>
            </a:r>
            <a:endParaRPr lang="en-US" sz="1030" dirty="0"/>
          </a:p>
        </p:txBody>
      </p:sp>
      <p:sp>
        <p:nvSpPr>
          <p:cNvPr id="14" name="Shape 12"/>
          <p:cNvSpPr/>
          <p:nvPr/>
        </p:nvSpPr>
        <p:spPr>
          <a:xfrm>
            <a:off x="5586984" y="2926080"/>
            <a:ext cx="320040" cy="0"/>
          </a:xfrm>
          <a:prstGeom prst="line">
            <a:avLst/>
          </a:prstGeom>
          <a:noFill/>
          <a:ln w="16510">
            <a:solidFill>
              <a:srgbClr val="25436C">
                <a:alpha val="90000"/>
              </a:srgbClr>
            </a:solidFill>
            <a:prstDash val="solid"/>
            <a:tailEnd type="triangle"/>
          </a:ln>
        </p:spPr>
        <p:txBody>
          <a:bodyPr/>
          <a:lstStyle/>
          <a:p>
            <a:endParaRPr lang="en-US"/>
          </a:p>
        </p:txBody>
      </p:sp>
      <p:sp>
        <p:nvSpPr>
          <p:cNvPr id="15" name="Shape 13"/>
          <p:cNvSpPr/>
          <p:nvPr/>
        </p:nvSpPr>
        <p:spPr>
          <a:xfrm>
            <a:off x="6126480" y="2267712"/>
            <a:ext cx="2057400" cy="1316736"/>
          </a:xfrm>
          <a:prstGeom prst="roundRect">
            <a:avLst>
              <a:gd name="adj" fmla="val 11111"/>
            </a:avLst>
          </a:prstGeom>
          <a:solidFill>
            <a:srgbClr val="12213B"/>
          </a:solidFill>
          <a:ln w="13970">
            <a:solidFill>
              <a:srgbClr val="F59E0B">
                <a:alpha val="90000"/>
              </a:srgbClr>
            </a:solidFill>
            <a:prstDash val="solid"/>
          </a:ln>
        </p:spPr>
        <p:txBody>
          <a:bodyPr/>
          <a:lstStyle/>
          <a:p>
            <a:endParaRPr lang="en-US"/>
          </a:p>
        </p:txBody>
      </p:sp>
      <p:sp>
        <p:nvSpPr>
          <p:cNvPr id="16" name="Text 14"/>
          <p:cNvSpPr/>
          <p:nvPr/>
        </p:nvSpPr>
        <p:spPr>
          <a:xfrm>
            <a:off x="6236208" y="2377440"/>
            <a:ext cx="183794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Policies</a:t>
            </a:r>
            <a:endParaRPr lang="en-US" sz="1550" dirty="0"/>
          </a:p>
        </p:txBody>
      </p:sp>
      <p:sp>
        <p:nvSpPr>
          <p:cNvPr id="17" name="Text 15"/>
          <p:cNvSpPr/>
          <p:nvPr/>
        </p:nvSpPr>
        <p:spPr>
          <a:xfrm>
            <a:off x="6263640" y="2761488"/>
            <a:ext cx="1783080" cy="722376"/>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plans</a:t>
            </a:r>
            <a:endParaRPr lang="en-US" sz="1030" dirty="0"/>
          </a:p>
          <a:p>
            <a:pPr marL="0" indent="0" algn="ctr">
              <a:buNone/>
            </a:pPr>
            <a:r>
              <a:rPr lang="en-US" sz="1030" dirty="0">
                <a:solidFill>
                  <a:srgbClr val="B6C2D5"/>
                </a:solidFill>
                <a:latin typeface="Aptos" pitchFamily="34" charset="0"/>
                <a:ea typeface="Aptos" pitchFamily="34" charset="-122"/>
                <a:cs typeface="Aptos" pitchFamily="34" charset="-120"/>
              </a:rPr>
              <a:t>actions</a:t>
            </a:r>
            <a:endParaRPr lang="en-US" sz="1030" dirty="0"/>
          </a:p>
          <a:p>
            <a:pPr marL="0" indent="0" algn="ctr">
              <a:buNone/>
            </a:pPr>
            <a:r>
              <a:rPr lang="en-US" sz="1030" dirty="0">
                <a:solidFill>
                  <a:srgbClr val="B6C2D5"/>
                </a:solidFill>
                <a:latin typeface="Aptos" pitchFamily="34" charset="0"/>
                <a:ea typeface="Aptos" pitchFamily="34" charset="-122"/>
                <a:cs typeface="Aptos" pitchFamily="34" charset="-120"/>
              </a:rPr>
              <a:t>control</a:t>
            </a:r>
            <a:endParaRPr lang="en-US" sz="1030" dirty="0"/>
          </a:p>
        </p:txBody>
      </p:sp>
      <p:sp>
        <p:nvSpPr>
          <p:cNvPr id="18" name="Shape 16"/>
          <p:cNvSpPr/>
          <p:nvPr/>
        </p:nvSpPr>
        <p:spPr>
          <a:xfrm>
            <a:off x="8257032" y="2926080"/>
            <a:ext cx="320040" cy="0"/>
          </a:xfrm>
          <a:prstGeom prst="line">
            <a:avLst/>
          </a:prstGeom>
          <a:noFill/>
          <a:ln w="16510">
            <a:solidFill>
              <a:srgbClr val="25436C">
                <a:alpha val="90000"/>
              </a:srgbClr>
            </a:solidFill>
            <a:prstDash val="solid"/>
            <a:tailEnd type="triangle"/>
          </a:ln>
        </p:spPr>
        <p:txBody>
          <a:bodyPr/>
          <a:lstStyle/>
          <a:p>
            <a:endParaRPr lang="en-US"/>
          </a:p>
        </p:txBody>
      </p:sp>
      <p:sp>
        <p:nvSpPr>
          <p:cNvPr id="19" name="Shape 17"/>
          <p:cNvSpPr/>
          <p:nvPr/>
        </p:nvSpPr>
        <p:spPr>
          <a:xfrm>
            <a:off x="8796528" y="2267712"/>
            <a:ext cx="2057400" cy="1316736"/>
          </a:xfrm>
          <a:prstGeom prst="roundRect">
            <a:avLst>
              <a:gd name="adj" fmla="val 11111"/>
            </a:avLst>
          </a:prstGeom>
          <a:solidFill>
            <a:srgbClr val="12213B"/>
          </a:solidFill>
          <a:ln w="13970">
            <a:solidFill>
              <a:srgbClr val="22C55E">
                <a:alpha val="90000"/>
              </a:srgbClr>
            </a:solidFill>
            <a:prstDash val="solid"/>
          </a:ln>
        </p:spPr>
        <p:txBody>
          <a:bodyPr/>
          <a:lstStyle/>
          <a:p>
            <a:endParaRPr lang="en-US"/>
          </a:p>
        </p:txBody>
      </p:sp>
      <p:sp>
        <p:nvSpPr>
          <p:cNvPr id="20" name="Text 18"/>
          <p:cNvSpPr/>
          <p:nvPr/>
        </p:nvSpPr>
        <p:spPr>
          <a:xfrm>
            <a:off x="8906256" y="2377440"/>
            <a:ext cx="183794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Actuators</a:t>
            </a:r>
            <a:endParaRPr lang="en-US" sz="1550" dirty="0"/>
          </a:p>
        </p:txBody>
      </p:sp>
      <p:sp>
        <p:nvSpPr>
          <p:cNvPr id="21" name="Text 19"/>
          <p:cNvSpPr/>
          <p:nvPr/>
        </p:nvSpPr>
        <p:spPr>
          <a:xfrm>
            <a:off x="8933688" y="2761488"/>
            <a:ext cx="1783080" cy="722376"/>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wheels</a:t>
            </a:r>
            <a:endParaRPr lang="en-US" sz="1030" dirty="0"/>
          </a:p>
          <a:p>
            <a:pPr marL="0" indent="0" algn="ctr">
              <a:buNone/>
            </a:pPr>
            <a:r>
              <a:rPr lang="en-US" sz="1030" dirty="0">
                <a:solidFill>
                  <a:srgbClr val="B6C2D5"/>
                </a:solidFill>
                <a:latin typeface="Aptos" pitchFamily="34" charset="0"/>
                <a:ea typeface="Aptos" pitchFamily="34" charset="-122"/>
                <a:cs typeface="Aptos" pitchFamily="34" charset="-120"/>
              </a:rPr>
              <a:t>arms</a:t>
            </a:r>
            <a:endParaRPr lang="en-US" sz="1030" dirty="0"/>
          </a:p>
          <a:p>
            <a:pPr marL="0" indent="0" algn="ctr">
              <a:buNone/>
            </a:pPr>
            <a:r>
              <a:rPr lang="en-US" sz="1030" dirty="0">
                <a:solidFill>
                  <a:srgbClr val="B6C2D5"/>
                </a:solidFill>
                <a:latin typeface="Aptos" pitchFamily="34" charset="0"/>
                <a:ea typeface="Aptos" pitchFamily="34" charset="-122"/>
                <a:cs typeface="Aptos" pitchFamily="34" charset="-120"/>
              </a:rPr>
              <a:t>grippers</a:t>
            </a:r>
            <a:endParaRPr lang="en-US" sz="1030" dirty="0"/>
          </a:p>
        </p:txBody>
      </p:sp>
      <p:sp>
        <p:nvSpPr>
          <p:cNvPr id="22" name="Text 20"/>
          <p:cNvSpPr/>
          <p:nvPr/>
        </p:nvSpPr>
        <p:spPr>
          <a:xfrm>
            <a:off x="1874520" y="4160520"/>
            <a:ext cx="8412480" cy="420624"/>
          </a:xfrm>
          <a:prstGeom prst="rect">
            <a:avLst/>
          </a:prstGeom>
          <a:noFill/>
          <a:ln/>
        </p:spPr>
        <p:txBody>
          <a:bodyPr wrap="square" lIns="0" tIns="0" rIns="0" bIns="0" rtlCol="0" anchor="ctr"/>
          <a:lstStyle/>
          <a:p>
            <a:pPr marL="0" indent="0" algn="ctr">
              <a:buNone/>
            </a:pPr>
            <a:r>
              <a:rPr lang="en-US" sz="2500" b="1" dirty="0">
                <a:solidFill>
                  <a:srgbClr val="F8FAFC"/>
                </a:solidFill>
                <a:latin typeface="Aptos Display" pitchFamily="34" charset="0"/>
                <a:ea typeface="Aptos Display" pitchFamily="34" charset="-122"/>
                <a:cs typeface="Aptos Display" pitchFamily="34" charset="-120"/>
              </a:rPr>
              <a:t>Closed-loop autonomy</a:t>
            </a:r>
            <a:endParaRPr lang="en-US" sz="2500" dirty="0"/>
          </a:p>
        </p:txBody>
      </p:sp>
      <p:sp>
        <p:nvSpPr>
          <p:cNvPr id="23" name="Text 21"/>
          <p:cNvSpPr/>
          <p:nvPr/>
        </p:nvSpPr>
        <p:spPr>
          <a:xfrm>
            <a:off x="2011680" y="4681728"/>
            <a:ext cx="8046720" cy="457200"/>
          </a:xfrm>
          <a:prstGeom prst="rect">
            <a:avLst/>
          </a:prstGeom>
          <a:noFill/>
          <a:ln/>
        </p:spPr>
        <p:txBody>
          <a:bodyPr wrap="square" lIns="0" tIns="0" rIns="0" bIns="0" rtlCol="0" anchor="ctr">
            <a:normAutofit/>
          </a:bodyPr>
          <a:lstStyle/>
          <a:p>
            <a:pPr marL="0" indent="0" algn="ctr">
              <a:buNone/>
            </a:pPr>
            <a:r>
              <a:rPr lang="en-US" sz="1550" dirty="0">
                <a:solidFill>
                  <a:srgbClr val="B6C2D5"/>
                </a:solidFill>
                <a:latin typeface="Aptos" pitchFamily="34" charset="0"/>
                <a:ea typeface="Aptos" pitchFamily="34" charset="-122"/>
                <a:cs typeface="Aptos" pitchFamily="34" charset="-120"/>
              </a:rPr>
              <a:t>The system constantly compares intended behavior with what actually happened, then updates its next action.</a:t>
            </a:r>
            <a:endParaRPr lang="en-US" sz="1550" dirty="0"/>
          </a:p>
        </p:txBody>
      </p:sp>
      <p:sp>
        <p:nvSpPr>
          <p:cNvPr id="24" name="Text 22"/>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Concept aligned with NVIDIA’s definition of Physical AI: autonomous systems that perceive, understand, reason, and act in the physical world.</a:t>
            </a:r>
            <a:endParaRPr lang="en-US" sz="760" dirty="0"/>
          </a:p>
        </p:txBody>
      </p:sp>
      <p:sp>
        <p:nvSpPr>
          <p:cNvPr id="25" name="Shape 23"/>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6" name="Text 24"/>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27" name="Text 25"/>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04</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05</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The core loop</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Every Physical AI system is built around a feedback loop between perception and action.</a:t>
            </a:r>
            <a:endParaRPr lang="en-US" sz="1450" dirty="0"/>
          </a:p>
        </p:txBody>
      </p:sp>
      <p:sp>
        <p:nvSpPr>
          <p:cNvPr id="7" name="Shape 5"/>
          <p:cNvSpPr/>
          <p:nvPr/>
        </p:nvSpPr>
        <p:spPr>
          <a:xfrm>
            <a:off x="8412480" y="2807208"/>
            <a:ext cx="868680" cy="777240"/>
          </a:xfrm>
          <a:prstGeom prst="line">
            <a:avLst/>
          </a:prstGeom>
          <a:noFill/>
          <a:ln w="13970">
            <a:solidFill>
              <a:srgbClr val="25436C">
                <a:alpha val="90000"/>
              </a:srgbClr>
            </a:solidFill>
            <a:prstDash val="solid"/>
            <a:tailEnd type="triangle"/>
          </a:ln>
        </p:spPr>
        <p:txBody>
          <a:bodyPr/>
          <a:lstStyle/>
          <a:p>
            <a:endParaRPr lang="en-US"/>
          </a:p>
        </p:txBody>
      </p:sp>
      <p:sp>
        <p:nvSpPr>
          <p:cNvPr id="8" name="Shape 6"/>
          <p:cNvSpPr/>
          <p:nvPr/>
        </p:nvSpPr>
        <p:spPr>
          <a:xfrm>
            <a:off x="9189720" y="4041648"/>
            <a:ext cx="0" cy="685800"/>
          </a:xfrm>
          <a:prstGeom prst="line">
            <a:avLst/>
          </a:prstGeom>
          <a:noFill/>
          <a:ln w="13970">
            <a:solidFill>
              <a:srgbClr val="25436C">
                <a:alpha val="90000"/>
              </a:srgbClr>
            </a:solidFill>
            <a:prstDash val="solid"/>
            <a:tailEnd type="triangle"/>
          </a:ln>
        </p:spPr>
        <p:txBody>
          <a:bodyPr/>
          <a:lstStyle/>
          <a:p>
            <a:endParaRPr lang="en-US"/>
          </a:p>
        </p:txBody>
      </p:sp>
      <p:sp>
        <p:nvSpPr>
          <p:cNvPr id="9" name="Shape 7"/>
          <p:cNvSpPr/>
          <p:nvPr/>
        </p:nvSpPr>
        <p:spPr>
          <a:xfrm>
            <a:off x="7040880" y="4727448"/>
            <a:ext cx="0" cy="0"/>
          </a:xfrm>
          <a:prstGeom prst="line">
            <a:avLst/>
          </a:prstGeom>
          <a:noFill/>
          <a:ln w="13970">
            <a:solidFill>
              <a:srgbClr val="25436C">
                <a:alpha val="90000"/>
              </a:srgbClr>
            </a:solidFill>
            <a:prstDash val="solid"/>
            <a:tailEnd type="triangle"/>
          </a:ln>
        </p:spPr>
        <p:txBody>
          <a:bodyPr/>
          <a:lstStyle/>
          <a:p>
            <a:endParaRPr lang="en-US"/>
          </a:p>
        </p:txBody>
      </p:sp>
      <p:sp>
        <p:nvSpPr>
          <p:cNvPr id="10" name="Shape 8"/>
          <p:cNvSpPr/>
          <p:nvPr/>
        </p:nvSpPr>
        <p:spPr>
          <a:xfrm>
            <a:off x="6263640" y="3493008"/>
            <a:ext cx="777240" cy="0"/>
          </a:xfrm>
          <a:prstGeom prst="line">
            <a:avLst/>
          </a:prstGeom>
          <a:noFill/>
          <a:ln w="13970">
            <a:solidFill>
              <a:srgbClr val="25436C">
                <a:alpha val="90000"/>
              </a:srgbClr>
            </a:solidFill>
            <a:prstDash val="solid"/>
            <a:tailEnd type="triangle"/>
          </a:ln>
        </p:spPr>
        <p:txBody>
          <a:bodyPr/>
          <a:lstStyle/>
          <a:p>
            <a:endParaRPr lang="en-US"/>
          </a:p>
        </p:txBody>
      </p:sp>
      <p:sp>
        <p:nvSpPr>
          <p:cNvPr id="11" name="Shape 9"/>
          <p:cNvSpPr/>
          <p:nvPr/>
        </p:nvSpPr>
        <p:spPr>
          <a:xfrm>
            <a:off x="6903720" y="2185416"/>
            <a:ext cx="1645920" cy="786384"/>
          </a:xfrm>
          <a:prstGeom prst="roundRect">
            <a:avLst>
              <a:gd name="adj" fmla="val 18605"/>
            </a:avLst>
          </a:prstGeom>
          <a:solidFill>
            <a:srgbClr val="12213B"/>
          </a:solidFill>
          <a:ln w="13970">
            <a:solidFill>
              <a:srgbClr val="31D8FF">
                <a:alpha val="85000"/>
              </a:srgbClr>
            </a:solidFill>
            <a:prstDash val="solid"/>
          </a:ln>
        </p:spPr>
        <p:txBody>
          <a:bodyPr/>
          <a:lstStyle/>
          <a:p>
            <a:endParaRPr lang="en-US"/>
          </a:p>
        </p:txBody>
      </p:sp>
      <p:sp>
        <p:nvSpPr>
          <p:cNvPr id="12" name="Text 10"/>
          <p:cNvSpPr/>
          <p:nvPr/>
        </p:nvSpPr>
        <p:spPr>
          <a:xfrm>
            <a:off x="7013448" y="2313432"/>
            <a:ext cx="1426464" cy="256032"/>
          </a:xfrm>
          <a:prstGeom prst="rect">
            <a:avLst/>
          </a:prstGeom>
          <a:noFill/>
          <a:ln/>
        </p:spPr>
        <p:txBody>
          <a:bodyPr wrap="square" lIns="0" tIns="0" rIns="0" bIns="0" rtlCol="0" anchor="ctr">
            <a:normAutofit/>
          </a:bodyPr>
          <a:lstStyle/>
          <a:p>
            <a:pPr marL="0" indent="0" algn="ctr">
              <a:buNone/>
            </a:pPr>
            <a:r>
              <a:rPr lang="en-US" sz="1650" b="1" dirty="0">
                <a:solidFill>
                  <a:srgbClr val="F8FAFC"/>
                </a:solidFill>
                <a:latin typeface="Aptos Display" pitchFamily="34" charset="0"/>
                <a:ea typeface="Aptos Display" pitchFamily="34" charset="-122"/>
                <a:cs typeface="Aptos Display" pitchFamily="34" charset="-120"/>
              </a:rPr>
              <a:t>Perceive</a:t>
            </a:r>
            <a:endParaRPr lang="en-US" sz="1650" dirty="0"/>
          </a:p>
        </p:txBody>
      </p:sp>
      <p:sp>
        <p:nvSpPr>
          <p:cNvPr id="13" name="Text 11"/>
          <p:cNvSpPr/>
          <p:nvPr/>
        </p:nvSpPr>
        <p:spPr>
          <a:xfrm>
            <a:off x="7031736" y="2624328"/>
            <a:ext cx="1389888" cy="219456"/>
          </a:xfrm>
          <a:prstGeom prst="rect">
            <a:avLst/>
          </a:prstGeom>
          <a:noFill/>
          <a:ln/>
        </p:spPr>
        <p:txBody>
          <a:bodyPr wrap="square" lIns="0" tIns="0" rIns="0" bIns="0" rtlCol="0" anchor="ctr">
            <a:normAutofit/>
          </a:bodyPr>
          <a:lstStyle/>
          <a:p>
            <a:pPr marL="0" indent="0" algn="ctr">
              <a:buNone/>
            </a:pPr>
            <a:r>
              <a:rPr lang="en-US" sz="820" dirty="0">
                <a:solidFill>
                  <a:srgbClr val="B6C2D5"/>
                </a:solidFill>
                <a:latin typeface="Aptos" pitchFamily="34" charset="0"/>
                <a:ea typeface="Aptos" pitchFamily="34" charset="-122"/>
                <a:cs typeface="Aptos" pitchFamily="34" charset="-120"/>
              </a:rPr>
              <a:t>sensors → scene</a:t>
            </a:r>
            <a:endParaRPr lang="en-US" sz="820" dirty="0"/>
          </a:p>
        </p:txBody>
      </p:sp>
      <p:sp>
        <p:nvSpPr>
          <p:cNvPr id="14" name="Shape 12"/>
          <p:cNvSpPr/>
          <p:nvPr/>
        </p:nvSpPr>
        <p:spPr>
          <a:xfrm>
            <a:off x="8961120" y="3374136"/>
            <a:ext cx="1645920" cy="786384"/>
          </a:xfrm>
          <a:prstGeom prst="roundRect">
            <a:avLst>
              <a:gd name="adj" fmla="val 18605"/>
            </a:avLst>
          </a:prstGeom>
          <a:solidFill>
            <a:srgbClr val="12213B"/>
          </a:solidFill>
          <a:ln w="13970">
            <a:solidFill>
              <a:srgbClr val="3B82F6">
                <a:alpha val="85000"/>
              </a:srgbClr>
            </a:solidFill>
            <a:prstDash val="solid"/>
          </a:ln>
        </p:spPr>
        <p:txBody>
          <a:bodyPr/>
          <a:lstStyle/>
          <a:p>
            <a:endParaRPr lang="en-US"/>
          </a:p>
        </p:txBody>
      </p:sp>
      <p:sp>
        <p:nvSpPr>
          <p:cNvPr id="15" name="Text 13"/>
          <p:cNvSpPr/>
          <p:nvPr/>
        </p:nvSpPr>
        <p:spPr>
          <a:xfrm>
            <a:off x="9070848" y="3502152"/>
            <a:ext cx="1426464" cy="256032"/>
          </a:xfrm>
          <a:prstGeom prst="rect">
            <a:avLst/>
          </a:prstGeom>
          <a:noFill/>
          <a:ln/>
        </p:spPr>
        <p:txBody>
          <a:bodyPr wrap="square" lIns="0" tIns="0" rIns="0" bIns="0" rtlCol="0" anchor="ctr">
            <a:normAutofit/>
          </a:bodyPr>
          <a:lstStyle/>
          <a:p>
            <a:pPr marL="0" indent="0" algn="ctr">
              <a:buNone/>
            </a:pPr>
            <a:r>
              <a:rPr lang="en-US" sz="1650" b="1" dirty="0">
                <a:solidFill>
                  <a:srgbClr val="F8FAFC"/>
                </a:solidFill>
                <a:latin typeface="Aptos Display" pitchFamily="34" charset="0"/>
                <a:ea typeface="Aptos Display" pitchFamily="34" charset="-122"/>
                <a:cs typeface="Aptos Display" pitchFamily="34" charset="-120"/>
              </a:rPr>
              <a:t>Model</a:t>
            </a:r>
            <a:endParaRPr lang="en-US" sz="1650" dirty="0"/>
          </a:p>
        </p:txBody>
      </p:sp>
      <p:sp>
        <p:nvSpPr>
          <p:cNvPr id="16" name="Text 14"/>
          <p:cNvSpPr/>
          <p:nvPr/>
        </p:nvSpPr>
        <p:spPr>
          <a:xfrm>
            <a:off x="9089136" y="3813048"/>
            <a:ext cx="1389888" cy="219456"/>
          </a:xfrm>
          <a:prstGeom prst="rect">
            <a:avLst/>
          </a:prstGeom>
          <a:noFill/>
          <a:ln/>
        </p:spPr>
        <p:txBody>
          <a:bodyPr wrap="square" lIns="0" tIns="0" rIns="0" bIns="0" rtlCol="0" anchor="ctr">
            <a:normAutofit/>
          </a:bodyPr>
          <a:lstStyle/>
          <a:p>
            <a:pPr marL="0" indent="0" algn="ctr">
              <a:buNone/>
            </a:pPr>
            <a:r>
              <a:rPr lang="en-US" sz="820" dirty="0">
                <a:solidFill>
                  <a:srgbClr val="B6C2D5"/>
                </a:solidFill>
                <a:latin typeface="Aptos" pitchFamily="34" charset="0"/>
                <a:ea typeface="Aptos" pitchFamily="34" charset="-122"/>
                <a:cs typeface="Aptos" pitchFamily="34" charset="-120"/>
              </a:rPr>
              <a:t>state → prediction</a:t>
            </a:r>
            <a:endParaRPr lang="en-US" sz="820" dirty="0"/>
          </a:p>
        </p:txBody>
      </p:sp>
      <p:sp>
        <p:nvSpPr>
          <p:cNvPr id="17" name="Shape 15"/>
          <p:cNvSpPr/>
          <p:nvPr/>
        </p:nvSpPr>
        <p:spPr>
          <a:xfrm>
            <a:off x="6903720" y="4562856"/>
            <a:ext cx="1645920" cy="786384"/>
          </a:xfrm>
          <a:prstGeom prst="roundRect">
            <a:avLst>
              <a:gd name="adj" fmla="val 18605"/>
            </a:avLst>
          </a:prstGeom>
          <a:solidFill>
            <a:srgbClr val="12213B"/>
          </a:solidFill>
          <a:ln w="13970">
            <a:solidFill>
              <a:srgbClr val="A78BFA">
                <a:alpha val="85000"/>
              </a:srgbClr>
            </a:solidFill>
            <a:prstDash val="solid"/>
          </a:ln>
        </p:spPr>
        <p:txBody>
          <a:bodyPr/>
          <a:lstStyle/>
          <a:p>
            <a:endParaRPr lang="en-US"/>
          </a:p>
        </p:txBody>
      </p:sp>
      <p:sp>
        <p:nvSpPr>
          <p:cNvPr id="18" name="Text 16"/>
          <p:cNvSpPr/>
          <p:nvPr/>
        </p:nvSpPr>
        <p:spPr>
          <a:xfrm>
            <a:off x="7013448" y="4690872"/>
            <a:ext cx="1426464" cy="256032"/>
          </a:xfrm>
          <a:prstGeom prst="rect">
            <a:avLst/>
          </a:prstGeom>
          <a:noFill/>
          <a:ln/>
        </p:spPr>
        <p:txBody>
          <a:bodyPr wrap="square" lIns="0" tIns="0" rIns="0" bIns="0" rtlCol="0" anchor="ctr">
            <a:normAutofit/>
          </a:bodyPr>
          <a:lstStyle/>
          <a:p>
            <a:pPr marL="0" indent="0" algn="ctr">
              <a:buNone/>
            </a:pPr>
            <a:r>
              <a:rPr lang="en-US" sz="1650" b="1" dirty="0">
                <a:solidFill>
                  <a:srgbClr val="F8FAFC"/>
                </a:solidFill>
                <a:latin typeface="Aptos Display" pitchFamily="34" charset="0"/>
                <a:ea typeface="Aptos Display" pitchFamily="34" charset="-122"/>
                <a:cs typeface="Aptos Display" pitchFamily="34" charset="-120"/>
              </a:rPr>
              <a:t>Reason</a:t>
            </a:r>
            <a:endParaRPr lang="en-US" sz="1650" dirty="0"/>
          </a:p>
        </p:txBody>
      </p:sp>
      <p:sp>
        <p:nvSpPr>
          <p:cNvPr id="19" name="Text 17"/>
          <p:cNvSpPr/>
          <p:nvPr/>
        </p:nvSpPr>
        <p:spPr>
          <a:xfrm>
            <a:off x="7031736" y="5001768"/>
            <a:ext cx="1389888" cy="219456"/>
          </a:xfrm>
          <a:prstGeom prst="rect">
            <a:avLst/>
          </a:prstGeom>
          <a:noFill/>
          <a:ln/>
        </p:spPr>
        <p:txBody>
          <a:bodyPr wrap="square" lIns="0" tIns="0" rIns="0" bIns="0" rtlCol="0" anchor="ctr">
            <a:normAutofit/>
          </a:bodyPr>
          <a:lstStyle/>
          <a:p>
            <a:pPr marL="0" indent="0" algn="ctr">
              <a:buNone/>
            </a:pPr>
            <a:r>
              <a:rPr lang="en-US" sz="820" dirty="0">
                <a:solidFill>
                  <a:srgbClr val="B6C2D5"/>
                </a:solidFill>
                <a:latin typeface="Aptos" pitchFamily="34" charset="0"/>
                <a:ea typeface="Aptos" pitchFamily="34" charset="-122"/>
                <a:cs typeface="Aptos" pitchFamily="34" charset="-120"/>
              </a:rPr>
              <a:t>goals → plans</a:t>
            </a:r>
            <a:endParaRPr lang="en-US" sz="820" dirty="0"/>
          </a:p>
        </p:txBody>
      </p:sp>
      <p:sp>
        <p:nvSpPr>
          <p:cNvPr id="20" name="Shape 18"/>
          <p:cNvSpPr/>
          <p:nvPr/>
        </p:nvSpPr>
        <p:spPr>
          <a:xfrm>
            <a:off x="4846320" y="3374136"/>
            <a:ext cx="1645920" cy="786384"/>
          </a:xfrm>
          <a:prstGeom prst="roundRect">
            <a:avLst>
              <a:gd name="adj" fmla="val 18605"/>
            </a:avLst>
          </a:prstGeom>
          <a:solidFill>
            <a:srgbClr val="12213B"/>
          </a:solidFill>
          <a:ln w="13970">
            <a:solidFill>
              <a:srgbClr val="F59E0B">
                <a:alpha val="85000"/>
              </a:srgbClr>
            </a:solidFill>
            <a:prstDash val="solid"/>
          </a:ln>
        </p:spPr>
        <p:txBody>
          <a:bodyPr/>
          <a:lstStyle/>
          <a:p>
            <a:endParaRPr lang="en-US"/>
          </a:p>
        </p:txBody>
      </p:sp>
      <p:sp>
        <p:nvSpPr>
          <p:cNvPr id="21" name="Text 19"/>
          <p:cNvSpPr/>
          <p:nvPr/>
        </p:nvSpPr>
        <p:spPr>
          <a:xfrm>
            <a:off x="4956048" y="3502152"/>
            <a:ext cx="1426464" cy="256032"/>
          </a:xfrm>
          <a:prstGeom prst="rect">
            <a:avLst/>
          </a:prstGeom>
          <a:noFill/>
          <a:ln/>
        </p:spPr>
        <p:txBody>
          <a:bodyPr wrap="square" lIns="0" tIns="0" rIns="0" bIns="0" rtlCol="0" anchor="ctr">
            <a:normAutofit/>
          </a:bodyPr>
          <a:lstStyle/>
          <a:p>
            <a:pPr marL="0" indent="0" algn="ctr">
              <a:buNone/>
            </a:pPr>
            <a:r>
              <a:rPr lang="en-US" sz="1650" b="1" dirty="0">
                <a:solidFill>
                  <a:srgbClr val="F8FAFC"/>
                </a:solidFill>
                <a:latin typeface="Aptos Display" pitchFamily="34" charset="0"/>
                <a:ea typeface="Aptos Display" pitchFamily="34" charset="-122"/>
                <a:cs typeface="Aptos Display" pitchFamily="34" charset="-120"/>
              </a:rPr>
              <a:t>Act</a:t>
            </a:r>
            <a:endParaRPr lang="en-US" sz="1650" dirty="0"/>
          </a:p>
        </p:txBody>
      </p:sp>
      <p:sp>
        <p:nvSpPr>
          <p:cNvPr id="22" name="Text 20"/>
          <p:cNvSpPr/>
          <p:nvPr/>
        </p:nvSpPr>
        <p:spPr>
          <a:xfrm>
            <a:off x="4974336" y="3813048"/>
            <a:ext cx="1389888" cy="219456"/>
          </a:xfrm>
          <a:prstGeom prst="rect">
            <a:avLst/>
          </a:prstGeom>
          <a:noFill/>
          <a:ln/>
        </p:spPr>
        <p:txBody>
          <a:bodyPr wrap="square" lIns="0" tIns="0" rIns="0" bIns="0" rtlCol="0" anchor="ctr">
            <a:normAutofit/>
          </a:bodyPr>
          <a:lstStyle/>
          <a:p>
            <a:pPr marL="0" indent="0" algn="ctr">
              <a:buNone/>
            </a:pPr>
            <a:r>
              <a:rPr lang="en-US" sz="820" dirty="0">
                <a:solidFill>
                  <a:srgbClr val="B6C2D5"/>
                </a:solidFill>
                <a:latin typeface="Aptos" pitchFamily="34" charset="0"/>
                <a:ea typeface="Aptos" pitchFamily="34" charset="-122"/>
                <a:cs typeface="Aptos" pitchFamily="34" charset="-120"/>
              </a:rPr>
              <a:t>policy → control</a:t>
            </a:r>
            <a:endParaRPr lang="en-US" sz="820" dirty="0"/>
          </a:p>
        </p:txBody>
      </p:sp>
      <p:sp>
        <p:nvSpPr>
          <p:cNvPr id="23" name="Shape 21"/>
          <p:cNvSpPr/>
          <p:nvPr/>
        </p:nvSpPr>
        <p:spPr>
          <a:xfrm>
            <a:off x="6675120" y="3310128"/>
            <a:ext cx="2103120" cy="914400"/>
          </a:xfrm>
          <a:prstGeom prst="ellipse">
            <a:avLst/>
          </a:prstGeom>
          <a:solidFill>
            <a:srgbClr val="162744"/>
          </a:solidFill>
          <a:ln w="13970">
            <a:solidFill>
              <a:srgbClr val="22C55E">
                <a:alpha val="80000"/>
              </a:srgbClr>
            </a:solidFill>
            <a:prstDash val="solid"/>
          </a:ln>
        </p:spPr>
        <p:txBody>
          <a:bodyPr/>
          <a:lstStyle/>
          <a:p>
            <a:endParaRPr lang="en-US"/>
          </a:p>
        </p:txBody>
      </p:sp>
      <p:sp>
        <p:nvSpPr>
          <p:cNvPr id="24" name="Text 22"/>
          <p:cNvSpPr/>
          <p:nvPr/>
        </p:nvSpPr>
        <p:spPr>
          <a:xfrm>
            <a:off x="6995160" y="3456432"/>
            <a:ext cx="1463040" cy="256032"/>
          </a:xfrm>
          <a:prstGeom prst="rect">
            <a:avLst/>
          </a:prstGeom>
          <a:noFill/>
          <a:ln/>
        </p:spPr>
        <p:txBody>
          <a:bodyPr wrap="square" lIns="0" tIns="0" rIns="0" bIns="0" rtlCol="0" anchor="ctr"/>
          <a:lstStyle/>
          <a:p>
            <a:pPr marL="0" indent="0" algn="ctr">
              <a:buNone/>
            </a:pPr>
            <a:r>
              <a:rPr lang="en-US" sz="1800" b="1" dirty="0">
                <a:solidFill>
                  <a:srgbClr val="F8FAFC"/>
                </a:solidFill>
                <a:latin typeface="Aptos Display" pitchFamily="34" charset="0"/>
                <a:ea typeface="Aptos Display" pitchFamily="34" charset="-122"/>
                <a:cs typeface="Aptos Display" pitchFamily="34" charset="-120"/>
              </a:rPr>
              <a:t>Learn</a:t>
            </a:r>
            <a:endParaRPr lang="en-US" sz="1800" dirty="0"/>
          </a:p>
        </p:txBody>
      </p:sp>
      <p:sp>
        <p:nvSpPr>
          <p:cNvPr id="25" name="Text 23"/>
          <p:cNvSpPr/>
          <p:nvPr/>
        </p:nvSpPr>
        <p:spPr>
          <a:xfrm>
            <a:off x="6995160" y="3758184"/>
            <a:ext cx="1463040" cy="237744"/>
          </a:xfrm>
          <a:prstGeom prst="rect">
            <a:avLst/>
          </a:prstGeom>
          <a:noFill/>
          <a:ln/>
        </p:spPr>
        <p:txBody>
          <a:bodyPr wrap="square" lIns="0" tIns="0" rIns="0" bIns="0" rtlCol="0" anchor="ctr"/>
          <a:lstStyle/>
          <a:p>
            <a:pPr marL="0" indent="0" algn="ctr">
              <a:buNone/>
            </a:pPr>
            <a:r>
              <a:rPr lang="en-US" sz="860" dirty="0">
                <a:solidFill>
                  <a:srgbClr val="B6C2D5"/>
                </a:solidFill>
                <a:latin typeface="Aptos" pitchFamily="34" charset="0"/>
                <a:ea typeface="Aptos" pitchFamily="34" charset="-122"/>
                <a:cs typeface="Aptos" pitchFamily="34" charset="-120"/>
              </a:rPr>
              <a:t>update models</a:t>
            </a:r>
            <a:endParaRPr lang="en-US" sz="860" dirty="0"/>
          </a:p>
          <a:p>
            <a:pPr marL="0" indent="0" algn="ctr">
              <a:buNone/>
            </a:pPr>
            <a:r>
              <a:rPr lang="en-US" sz="860" dirty="0">
                <a:solidFill>
                  <a:srgbClr val="B6C2D5"/>
                </a:solidFill>
                <a:latin typeface="Aptos" pitchFamily="34" charset="0"/>
                <a:ea typeface="Aptos" pitchFamily="34" charset="-122"/>
                <a:cs typeface="Aptos" pitchFamily="34" charset="-120"/>
              </a:rPr>
              <a:t>from outcomes</a:t>
            </a:r>
            <a:endParaRPr lang="en-US" sz="860" dirty="0"/>
          </a:p>
        </p:txBody>
      </p:sp>
      <p:sp>
        <p:nvSpPr>
          <p:cNvPr id="26" name="Shape 24"/>
          <p:cNvSpPr/>
          <p:nvPr/>
        </p:nvSpPr>
        <p:spPr>
          <a:xfrm>
            <a:off x="868680" y="2560320"/>
            <a:ext cx="3337560" cy="987552"/>
          </a:xfrm>
          <a:prstGeom prst="roundRect">
            <a:avLst>
              <a:gd name="adj" fmla="val 11111"/>
            </a:avLst>
          </a:prstGeom>
          <a:solidFill>
            <a:srgbClr val="12213B"/>
          </a:solidFill>
          <a:ln w="11430">
            <a:solidFill>
              <a:srgbClr val="31D8FF">
                <a:alpha val="55000"/>
              </a:srgbClr>
            </a:solidFill>
            <a:prstDash val="solid"/>
          </a:ln>
        </p:spPr>
        <p:txBody>
          <a:bodyPr/>
          <a:lstStyle/>
          <a:p>
            <a:endParaRPr lang="en-US"/>
          </a:p>
        </p:txBody>
      </p:sp>
      <p:sp>
        <p:nvSpPr>
          <p:cNvPr id="27" name="Shape 25"/>
          <p:cNvSpPr/>
          <p:nvPr/>
        </p:nvSpPr>
        <p:spPr>
          <a:xfrm>
            <a:off x="868680" y="2560320"/>
            <a:ext cx="64008" cy="987552"/>
          </a:xfrm>
          <a:prstGeom prst="rect">
            <a:avLst/>
          </a:prstGeom>
          <a:solidFill>
            <a:srgbClr val="31D8FF"/>
          </a:solidFill>
          <a:ln w="12700">
            <a:solidFill>
              <a:srgbClr val="31D8FF">
                <a:alpha val="0"/>
              </a:srgbClr>
            </a:solidFill>
            <a:prstDash val="solid"/>
          </a:ln>
        </p:spPr>
        <p:txBody>
          <a:bodyPr/>
          <a:lstStyle/>
          <a:p>
            <a:endParaRPr lang="en-US"/>
          </a:p>
        </p:txBody>
      </p:sp>
      <p:sp>
        <p:nvSpPr>
          <p:cNvPr id="28" name="Text 26"/>
          <p:cNvSpPr/>
          <p:nvPr/>
        </p:nvSpPr>
        <p:spPr>
          <a:xfrm>
            <a:off x="1033272" y="2670048"/>
            <a:ext cx="3044952" cy="804672"/>
          </a:xfrm>
          <a:prstGeom prst="rect">
            <a:avLst/>
          </a:prstGeom>
          <a:noFill/>
          <a:ln/>
        </p:spPr>
        <p:txBody>
          <a:bodyPr wrap="square" lIns="254" tIns="254" rIns="254" bIns="254" rtlCol="0" anchor="ctr">
            <a:normAutofit/>
          </a:bodyPr>
          <a:lstStyle/>
          <a:p>
            <a:pPr marL="0" indent="0">
              <a:buNone/>
            </a:pPr>
            <a:r>
              <a:rPr lang="en-US" sz="1900" dirty="0">
                <a:solidFill>
                  <a:srgbClr val="F8FAFC"/>
                </a:solidFill>
                <a:latin typeface="Aptos" pitchFamily="34" charset="0"/>
                <a:ea typeface="Aptos" pitchFamily="34" charset="-122"/>
                <a:cs typeface="Aptos" pitchFamily="34" charset="-120"/>
              </a:rPr>
              <a:t>“Intelligence” emerges from the loop, not from a model alone.</a:t>
            </a:r>
            <a:endParaRPr lang="en-US" sz="1900" dirty="0"/>
          </a:p>
        </p:txBody>
      </p:sp>
      <p:sp>
        <p:nvSpPr>
          <p:cNvPr id="29" name="Shape 27"/>
          <p:cNvSpPr/>
          <p:nvPr/>
        </p:nvSpPr>
        <p:spPr>
          <a:xfrm>
            <a:off x="868680" y="3886200"/>
            <a:ext cx="3337560" cy="1207008"/>
          </a:xfrm>
          <a:prstGeom prst="roundRect">
            <a:avLst>
              <a:gd name="adj" fmla="val 9091"/>
            </a:avLst>
          </a:prstGeom>
          <a:solidFill>
            <a:srgbClr val="12213B"/>
          </a:solidFill>
          <a:ln w="11430">
            <a:solidFill>
              <a:srgbClr val="F59E0B">
                <a:alpha val="55000"/>
              </a:srgbClr>
            </a:solidFill>
            <a:prstDash val="solid"/>
          </a:ln>
        </p:spPr>
        <p:txBody>
          <a:bodyPr/>
          <a:lstStyle/>
          <a:p>
            <a:endParaRPr lang="en-US"/>
          </a:p>
        </p:txBody>
      </p:sp>
      <p:sp>
        <p:nvSpPr>
          <p:cNvPr id="30" name="Shape 28"/>
          <p:cNvSpPr/>
          <p:nvPr/>
        </p:nvSpPr>
        <p:spPr>
          <a:xfrm>
            <a:off x="868680" y="3886200"/>
            <a:ext cx="64008" cy="1207008"/>
          </a:xfrm>
          <a:prstGeom prst="rect">
            <a:avLst/>
          </a:prstGeom>
          <a:solidFill>
            <a:srgbClr val="F59E0B"/>
          </a:solidFill>
          <a:ln w="12700">
            <a:solidFill>
              <a:srgbClr val="F59E0B">
                <a:alpha val="0"/>
              </a:srgbClr>
            </a:solidFill>
            <a:prstDash val="solid"/>
          </a:ln>
        </p:spPr>
        <p:txBody>
          <a:bodyPr/>
          <a:lstStyle/>
          <a:p>
            <a:endParaRPr lang="en-US"/>
          </a:p>
        </p:txBody>
      </p:sp>
      <p:sp>
        <p:nvSpPr>
          <p:cNvPr id="31" name="Text 29"/>
          <p:cNvSpPr/>
          <p:nvPr/>
        </p:nvSpPr>
        <p:spPr>
          <a:xfrm>
            <a:off x="1033272" y="3995928"/>
            <a:ext cx="3044952" cy="1024128"/>
          </a:xfrm>
          <a:prstGeom prst="rect">
            <a:avLst/>
          </a:prstGeom>
          <a:noFill/>
          <a:ln/>
        </p:spPr>
        <p:txBody>
          <a:bodyPr wrap="square" lIns="254" tIns="254" rIns="254" bIns="254" rtlCol="0" anchor="ctr">
            <a:normAutofit/>
          </a:bodyPr>
          <a:lstStyle/>
          <a:p>
            <a:pPr marL="0" indent="0">
              <a:buNone/>
            </a:pPr>
            <a:r>
              <a:rPr lang="en-US" sz="1450" dirty="0">
                <a:solidFill>
                  <a:srgbClr val="F8FAFC"/>
                </a:solidFill>
                <a:latin typeface="Aptos" pitchFamily="34" charset="0"/>
                <a:ea typeface="Aptos" pitchFamily="34" charset="-122"/>
                <a:cs typeface="Aptos" pitchFamily="34" charset="-120"/>
              </a:rPr>
              <a:t>Failure at any layer can break the system: bad sensing, wrong state, unsafe plan, weak control, or poor feedback.</a:t>
            </a:r>
            <a:endParaRPr lang="en-US" sz="1450" dirty="0"/>
          </a:p>
        </p:txBody>
      </p:sp>
      <p:sp>
        <p:nvSpPr>
          <p:cNvPr id="32" name="Shape 30"/>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3" name="Text 31"/>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34" name="Text 32"/>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05</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a_wide_detailed_industrial_factory_robotics_works_batch_3.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F">
              <a:alpha val="52000"/>
            </a:srgbClr>
          </a:solidFill>
          <a:ln w="12700">
            <a:solidFill>
              <a:srgbClr val="07101F">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7101F">
              <a:alpha val="72000"/>
            </a:srgbClr>
          </a:solidFill>
          <a:ln w="12700">
            <a:solidFill>
              <a:srgbClr val="07101F">
                <a:alpha val="0"/>
              </a:srgbClr>
            </a:solidFill>
            <a:prstDash val="solid"/>
          </a:ln>
        </p:spPr>
        <p:txBody>
          <a:bodyPr/>
          <a:lstStyle/>
          <a:p>
            <a:endParaRPr lang="en-US"/>
          </a:p>
        </p:txBody>
      </p:sp>
      <p:sp>
        <p:nvSpPr>
          <p:cNvPr id="5" name="Text 2"/>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06</a:t>
            </a:r>
            <a:endParaRPr lang="en-US" sz="950" dirty="0"/>
          </a:p>
        </p:txBody>
      </p:sp>
      <p:sp>
        <p:nvSpPr>
          <p:cNvPr id="6" name="Text 3"/>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Why the physical world is hard</a:t>
            </a:r>
            <a:endParaRPr lang="en-US" sz="3100" dirty="0"/>
          </a:p>
        </p:txBody>
      </p:sp>
      <p:sp>
        <p:nvSpPr>
          <p:cNvPr id="7" name="Shape 4"/>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8" name="Text 5"/>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The same model must handle uncertainty, contact, latency, safety, and long-tail edge cases.</a:t>
            </a:r>
            <a:endParaRPr lang="en-US" sz="1450" dirty="0"/>
          </a:p>
        </p:txBody>
      </p:sp>
      <p:sp>
        <p:nvSpPr>
          <p:cNvPr id="9" name="Shape 6"/>
          <p:cNvSpPr/>
          <p:nvPr/>
        </p:nvSpPr>
        <p:spPr>
          <a:xfrm>
            <a:off x="868680" y="2148840"/>
            <a:ext cx="5486400" cy="585216"/>
          </a:xfrm>
          <a:prstGeom prst="roundRect">
            <a:avLst>
              <a:gd name="adj" fmla="val 12500"/>
            </a:avLst>
          </a:prstGeom>
          <a:solidFill>
            <a:srgbClr val="0F1C33">
              <a:alpha val="92000"/>
            </a:srgbClr>
          </a:solidFill>
          <a:ln w="8890">
            <a:solidFill>
              <a:srgbClr val="31D8FF">
                <a:alpha val="65000"/>
              </a:srgbClr>
            </a:solidFill>
            <a:prstDash val="solid"/>
          </a:ln>
        </p:spPr>
        <p:txBody>
          <a:bodyPr/>
          <a:lstStyle/>
          <a:p>
            <a:endParaRPr lang="en-US"/>
          </a:p>
        </p:txBody>
      </p:sp>
      <p:sp>
        <p:nvSpPr>
          <p:cNvPr id="10" name="Shape 7"/>
          <p:cNvSpPr/>
          <p:nvPr/>
        </p:nvSpPr>
        <p:spPr>
          <a:xfrm>
            <a:off x="868680" y="2148840"/>
            <a:ext cx="73152" cy="585216"/>
          </a:xfrm>
          <a:prstGeom prst="rect">
            <a:avLst/>
          </a:prstGeom>
          <a:solidFill>
            <a:srgbClr val="31D8FF"/>
          </a:solidFill>
          <a:ln w="12700">
            <a:solidFill>
              <a:srgbClr val="31D8FF">
                <a:alpha val="0"/>
              </a:srgbClr>
            </a:solidFill>
            <a:prstDash val="solid"/>
          </a:ln>
        </p:spPr>
        <p:txBody>
          <a:bodyPr/>
          <a:lstStyle/>
          <a:p>
            <a:endParaRPr lang="en-US"/>
          </a:p>
        </p:txBody>
      </p:sp>
      <p:sp>
        <p:nvSpPr>
          <p:cNvPr id="11" name="Text 8"/>
          <p:cNvSpPr/>
          <p:nvPr/>
        </p:nvSpPr>
        <p:spPr>
          <a:xfrm>
            <a:off x="1097280" y="2249424"/>
            <a:ext cx="2103120" cy="237744"/>
          </a:xfrm>
          <a:prstGeom prst="rect">
            <a:avLst/>
          </a:prstGeom>
          <a:noFill/>
          <a:ln/>
        </p:spPr>
        <p:txBody>
          <a:bodyPr wrap="square" lIns="0" tIns="0" rIns="0" bIns="0" rtlCol="0" anchor="ctr"/>
          <a:lstStyle/>
          <a:p>
            <a:pPr marL="0" indent="0">
              <a:buNone/>
            </a:pPr>
            <a:r>
              <a:rPr lang="en-US" sz="1450" b="1" dirty="0">
                <a:solidFill>
                  <a:srgbClr val="F8FAFC"/>
                </a:solidFill>
                <a:latin typeface="Aptos Display" pitchFamily="34" charset="0"/>
                <a:ea typeface="Aptos Display" pitchFamily="34" charset="-122"/>
                <a:cs typeface="Aptos Display" pitchFamily="34" charset="-120"/>
              </a:rPr>
              <a:t>Partial observability</a:t>
            </a:r>
            <a:endParaRPr lang="en-US" sz="1450" dirty="0"/>
          </a:p>
        </p:txBody>
      </p:sp>
      <p:sp>
        <p:nvSpPr>
          <p:cNvPr id="12" name="Text 9"/>
          <p:cNvSpPr/>
          <p:nvPr/>
        </p:nvSpPr>
        <p:spPr>
          <a:xfrm>
            <a:off x="3401568" y="2276856"/>
            <a:ext cx="2697480" cy="219456"/>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sensors miss, occlude, drift</a:t>
            </a:r>
            <a:endParaRPr lang="en-US" sz="1150" dirty="0"/>
          </a:p>
        </p:txBody>
      </p:sp>
      <p:sp>
        <p:nvSpPr>
          <p:cNvPr id="13" name="Shape 10"/>
          <p:cNvSpPr/>
          <p:nvPr/>
        </p:nvSpPr>
        <p:spPr>
          <a:xfrm>
            <a:off x="868680" y="2898648"/>
            <a:ext cx="5486400" cy="585216"/>
          </a:xfrm>
          <a:prstGeom prst="roundRect">
            <a:avLst>
              <a:gd name="adj" fmla="val 12500"/>
            </a:avLst>
          </a:prstGeom>
          <a:solidFill>
            <a:srgbClr val="0F1C33">
              <a:alpha val="92000"/>
            </a:srgbClr>
          </a:solidFill>
          <a:ln w="8890">
            <a:solidFill>
              <a:srgbClr val="3B82F6">
                <a:alpha val="65000"/>
              </a:srgbClr>
            </a:solidFill>
            <a:prstDash val="solid"/>
          </a:ln>
        </p:spPr>
        <p:txBody>
          <a:bodyPr/>
          <a:lstStyle/>
          <a:p>
            <a:endParaRPr lang="en-US"/>
          </a:p>
        </p:txBody>
      </p:sp>
      <p:sp>
        <p:nvSpPr>
          <p:cNvPr id="14" name="Shape 11"/>
          <p:cNvSpPr/>
          <p:nvPr/>
        </p:nvSpPr>
        <p:spPr>
          <a:xfrm>
            <a:off x="868680" y="2898648"/>
            <a:ext cx="73152" cy="585216"/>
          </a:xfrm>
          <a:prstGeom prst="rect">
            <a:avLst/>
          </a:prstGeom>
          <a:solidFill>
            <a:srgbClr val="3B82F6"/>
          </a:solidFill>
          <a:ln w="12700">
            <a:solidFill>
              <a:srgbClr val="3B82F6">
                <a:alpha val="0"/>
              </a:srgbClr>
            </a:solidFill>
            <a:prstDash val="solid"/>
          </a:ln>
        </p:spPr>
        <p:txBody>
          <a:bodyPr/>
          <a:lstStyle/>
          <a:p>
            <a:endParaRPr lang="en-US"/>
          </a:p>
        </p:txBody>
      </p:sp>
      <p:sp>
        <p:nvSpPr>
          <p:cNvPr id="15" name="Text 12"/>
          <p:cNvSpPr/>
          <p:nvPr/>
        </p:nvSpPr>
        <p:spPr>
          <a:xfrm>
            <a:off x="1097280" y="2999232"/>
            <a:ext cx="2103120" cy="237744"/>
          </a:xfrm>
          <a:prstGeom prst="rect">
            <a:avLst/>
          </a:prstGeom>
          <a:noFill/>
          <a:ln/>
        </p:spPr>
        <p:txBody>
          <a:bodyPr wrap="square" lIns="0" tIns="0" rIns="0" bIns="0" rtlCol="0" anchor="ctr"/>
          <a:lstStyle/>
          <a:p>
            <a:pPr marL="0" indent="0">
              <a:buNone/>
            </a:pPr>
            <a:r>
              <a:rPr lang="en-US" sz="1450" b="1" dirty="0">
                <a:solidFill>
                  <a:srgbClr val="F8FAFC"/>
                </a:solidFill>
                <a:latin typeface="Aptos Display" pitchFamily="34" charset="0"/>
                <a:ea typeface="Aptos Display" pitchFamily="34" charset="-122"/>
                <a:cs typeface="Aptos Display" pitchFamily="34" charset="-120"/>
              </a:rPr>
              <a:t>Physics and contact</a:t>
            </a:r>
            <a:endParaRPr lang="en-US" sz="1450" dirty="0"/>
          </a:p>
        </p:txBody>
      </p:sp>
      <p:sp>
        <p:nvSpPr>
          <p:cNvPr id="16" name="Text 13"/>
          <p:cNvSpPr/>
          <p:nvPr/>
        </p:nvSpPr>
        <p:spPr>
          <a:xfrm>
            <a:off x="3401568" y="3026664"/>
            <a:ext cx="2697480" cy="219456"/>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friction, force, deformable objects</a:t>
            </a:r>
            <a:endParaRPr lang="en-US" sz="1150" dirty="0"/>
          </a:p>
        </p:txBody>
      </p:sp>
      <p:sp>
        <p:nvSpPr>
          <p:cNvPr id="17" name="Shape 14"/>
          <p:cNvSpPr/>
          <p:nvPr/>
        </p:nvSpPr>
        <p:spPr>
          <a:xfrm>
            <a:off x="868680" y="3648456"/>
            <a:ext cx="5486400" cy="585216"/>
          </a:xfrm>
          <a:prstGeom prst="roundRect">
            <a:avLst>
              <a:gd name="adj" fmla="val 12500"/>
            </a:avLst>
          </a:prstGeom>
          <a:solidFill>
            <a:srgbClr val="0F1C33">
              <a:alpha val="92000"/>
            </a:srgbClr>
          </a:solidFill>
          <a:ln w="8890">
            <a:solidFill>
              <a:srgbClr val="F59E0B">
                <a:alpha val="65000"/>
              </a:srgbClr>
            </a:solidFill>
            <a:prstDash val="solid"/>
          </a:ln>
        </p:spPr>
        <p:txBody>
          <a:bodyPr/>
          <a:lstStyle/>
          <a:p>
            <a:endParaRPr lang="en-US"/>
          </a:p>
        </p:txBody>
      </p:sp>
      <p:sp>
        <p:nvSpPr>
          <p:cNvPr id="18" name="Shape 15"/>
          <p:cNvSpPr/>
          <p:nvPr/>
        </p:nvSpPr>
        <p:spPr>
          <a:xfrm>
            <a:off x="868680" y="3648456"/>
            <a:ext cx="73152" cy="585216"/>
          </a:xfrm>
          <a:prstGeom prst="rect">
            <a:avLst/>
          </a:prstGeom>
          <a:solidFill>
            <a:srgbClr val="F59E0B"/>
          </a:solidFill>
          <a:ln w="12700">
            <a:solidFill>
              <a:srgbClr val="F59E0B">
                <a:alpha val="0"/>
              </a:srgbClr>
            </a:solidFill>
            <a:prstDash val="solid"/>
          </a:ln>
        </p:spPr>
        <p:txBody>
          <a:bodyPr/>
          <a:lstStyle/>
          <a:p>
            <a:endParaRPr lang="en-US"/>
          </a:p>
        </p:txBody>
      </p:sp>
      <p:sp>
        <p:nvSpPr>
          <p:cNvPr id="19" name="Text 16"/>
          <p:cNvSpPr/>
          <p:nvPr/>
        </p:nvSpPr>
        <p:spPr>
          <a:xfrm>
            <a:off x="1097280" y="3749040"/>
            <a:ext cx="2103120" cy="237744"/>
          </a:xfrm>
          <a:prstGeom prst="rect">
            <a:avLst/>
          </a:prstGeom>
          <a:noFill/>
          <a:ln/>
        </p:spPr>
        <p:txBody>
          <a:bodyPr wrap="square" lIns="0" tIns="0" rIns="0" bIns="0" rtlCol="0" anchor="ctr"/>
          <a:lstStyle/>
          <a:p>
            <a:pPr marL="0" indent="0">
              <a:buNone/>
            </a:pPr>
            <a:r>
              <a:rPr lang="en-US" sz="1450" b="1" dirty="0">
                <a:solidFill>
                  <a:srgbClr val="F8FAFC"/>
                </a:solidFill>
                <a:latin typeface="Aptos Display" pitchFamily="34" charset="0"/>
                <a:ea typeface="Aptos Display" pitchFamily="34" charset="-122"/>
                <a:cs typeface="Aptos Display" pitchFamily="34" charset="-120"/>
              </a:rPr>
              <a:t>Real-time constraints</a:t>
            </a:r>
            <a:endParaRPr lang="en-US" sz="1450" dirty="0"/>
          </a:p>
        </p:txBody>
      </p:sp>
      <p:sp>
        <p:nvSpPr>
          <p:cNvPr id="20" name="Text 17"/>
          <p:cNvSpPr/>
          <p:nvPr/>
        </p:nvSpPr>
        <p:spPr>
          <a:xfrm>
            <a:off x="3401568" y="3776472"/>
            <a:ext cx="2697480" cy="219456"/>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milliseconds matter for safety</a:t>
            </a:r>
            <a:endParaRPr lang="en-US" sz="1150" dirty="0"/>
          </a:p>
        </p:txBody>
      </p:sp>
      <p:sp>
        <p:nvSpPr>
          <p:cNvPr id="21" name="Shape 18"/>
          <p:cNvSpPr/>
          <p:nvPr/>
        </p:nvSpPr>
        <p:spPr>
          <a:xfrm>
            <a:off x="868680" y="4398264"/>
            <a:ext cx="5486400" cy="585216"/>
          </a:xfrm>
          <a:prstGeom prst="roundRect">
            <a:avLst>
              <a:gd name="adj" fmla="val 12500"/>
            </a:avLst>
          </a:prstGeom>
          <a:solidFill>
            <a:srgbClr val="0F1C33">
              <a:alpha val="92000"/>
            </a:srgbClr>
          </a:solidFill>
          <a:ln w="8890">
            <a:solidFill>
              <a:srgbClr val="EF4444">
                <a:alpha val="65000"/>
              </a:srgbClr>
            </a:solidFill>
            <a:prstDash val="solid"/>
          </a:ln>
        </p:spPr>
        <p:txBody>
          <a:bodyPr/>
          <a:lstStyle/>
          <a:p>
            <a:endParaRPr lang="en-US"/>
          </a:p>
        </p:txBody>
      </p:sp>
      <p:sp>
        <p:nvSpPr>
          <p:cNvPr id="22" name="Shape 19"/>
          <p:cNvSpPr/>
          <p:nvPr/>
        </p:nvSpPr>
        <p:spPr>
          <a:xfrm>
            <a:off x="868680" y="4398264"/>
            <a:ext cx="73152" cy="585216"/>
          </a:xfrm>
          <a:prstGeom prst="rect">
            <a:avLst/>
          </a:prstGeom>
          <a:solidFill>
            <a:srgbClr val="EF4444"/>
          </a:solidFill>
          <a:ln w="12700">
            <a:solidFill>
              <a:srgbClr val="EF4444">
                <a:alpha val="0"/>
              </a:srgbClr>
            </a:solidFill>
            <a:prstDash val="solid"/>
          </a:ln>
        </p:spPr>
        <p:txBody>
          <a:bodyPr/>
          <a:lstStyle/>
          <a:p>
            <a:endParaRPr lang="en-US"/>
          </a:p>
        </p:txBody>
      </p:sp>
      <p:sp>
        <p:nvSpPr>
          <p:cNvPr id="23" name="Text 20"/>
          <p:cNvSpPr/>
          <p:nvPr/>
        </p:nvSpPr>
        <p:spPr>
          <a:xfrm>
            <a:off x="1097280" y="4498848"/>
            <a:ext cx="2103120" cy="237744"/>
          </a:xfrm>
          <a:prstGeom prst="rect">
            <a:avLst/>
          </a:prstGeom>
          <a:noFill/>
          <a:ln/>
        </p:spPr>
        <p:txBody>
          <a:bodyPr wrap="square" lIns="0" tIns="0" rIns="0" bIns="0" rtlCol="0" anchor="ctr"/>
          <a:lstStyle/>
          <a:p>
            <a:pPr marL="0" indent="0">
              <a:buNone/>
            </a:pPr>
            <a:r>
              <a:rPr lang="en-US" sz="1450" b="1" dirty="0">
                <a:solidFill>
                  <a:srgbClr val="F8FAFC"/>
                </a:solidFill>
                <a:latin typeface="Aptos Display" pitchFamily="34" charset="0"/>
                <a:ea typeface="Aptos Display" pitchFamily="34" charset="-122"/>
                <a:cs typeface="Aptos Display" pitchFamily="34" charset="-120"/>
              </a:rPr>
              <a:t>Irreversible errors</a:t>
            </a:r>
            <a:endParaRPr lang="en-US" sz="1450" dirty="0"/>
          </a:p>
        </p:txBody>
      </p:sp>
      <p:sp>
        <p:nvSpPr>
          <p:cNvPr id="24" name="Text 21"/>
          <p:cNvSpPr/>
          <p:nvPr/>
        </p:nvSpPr>
        <p:spPr>
          <a:xfrm>
            <a:off x="3401568" y="4526280"/>
            <a:ext cx="2697480" cy="219456"/>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a bad action can damage people or equipment</a:t>
            </a:r>
            <a:endParaRPr lang="en-US" sz="1150" dirty="0"/>
          </a:p>
        </p:txBody>
      </p:sp>
      <p:sp>
        <p:nvSpPr>
          <p:cNvPr id="25" name="Shape 22"/>
          <p:cNvSpPr/>
          <p:nvPr/>
        </p:nvSpPr>
        <p:spPr>
          <a:xfrm>
            <a:off x="868680" y="5148072"/>
            <a:ext cx="5486400" cy="585216"/>
          </a:xfrm>
          <a:prstGeom prst="roundRect">
            <a:avLst>
              <a:gd name="adj" fmla="val 12500"/>
            </a:avLst>
          </a:prstGeom>
          <a:solidFill>
            <a:srgbClr val="0F1C33">
              <a:alpha val="92000"/>
            </a:srgbClr>
          </a:solidFill>
          <a:ln w="8890">
            <a:solidFill>
              <a:srgbClr val="A78BFA">
                <a:alpha val="65000"/>
              </a:srgbClr>
            </a:solidFill>
            <a:prstDash val="solid"/>
          </a:ln>
        </p:spPr>
        <p:txBody>
          <a:bodyPr/>
          <a:lstStyle/>
          <a:p>
            <a:endParaRPr lang="en-US"/>
          </a:p>
        </p:txBody>
      </p:sp>
      <p:sp>
        <p:nvSpPr>
          <p:cNvPr id="26" name="Shape 23"/>
          <p:cNvSpPr/>
          <p:nvPr/>
        </p:nvSpPr>
        <p:spPr>
          <a:xfrm>
            <a:off x="868680" y="5148072"/>
            <a:ext cx="73152" cy="585216"/>
          </a:xfrm>
          <a:prstGeom prst="rect">
            <a:avLst/>
          </a:prstGeom>
          <a:solidFill>
            <a:srgbClr val="A78BFA"/>
          </a:solidFill>
          <a:ln w="12700">
            <a:solidFill>
              <a:srgbClr val="A78BFA">
                <a:alpha val="0"/>
              </a:srgbClr>
            </a:solidFill>
            <a:prstDash val="solid"/>
          </a:ln>
        </p:spPr>
        <p:txBody>
          <a:bodyPr/>
          <a:lstStyle/>
          <a:p>
            <a:endParaRPr lang="en-US"/>
          </a:p>
        </p:txBody>
      </p:sp>
      <p:sp>
        <p:nvSpPr>
          <p:cNvPr id="27" name="Text 24"/>
          <p:cNvSpPr/>
          <p:nvPr/>
        </p:nvSpPr>
        <p:spPr>
          <a:xfrm>
            <a:off x="1097280" y="5248656"/>
            <a:ext cx="2103120" cy="237744"/>
          </a:xfrm>
          <a:prstGeom prst="rect">
            <a:avLst/>
          </a:prstGeom>
          <a:noFill/>
          <a:ln/>
        </p:spPr>
        <p:txBody>
          <a:bodyPr wrap="square" lIns="0" tIns="0" rIns="0" bIns="0" rtlCol="0" anchor="ctr"/>
          <a:lstStyle/>
          <a:p>
            <a:pPr marL="0" indent="0">
              <a:buNone/>
            </a:pPr>
            <a:r>
              <a:rPr lang="en-US" sz="1450" b="1" dirty="0">
                <a:solidFill>
                  <a:srgbClr val="F8FAFC"/>
                </a:solidFill>
                <a:latin typeface="Aptos Display" pitchFamily="34" charset="0"/>
                <a:ea typeface="Aptos Display" pitchFamily="34" charset="-122"/>
                <a:cs typeface="Aptos Display" pitchFamily="34" charset="-120"/>
              </a:rPr>
              <a:t>Long-tail environments</a:t>
            </a:r>
            <a:endParaRPr lang="en-US" sz="1450" dirty="0"/>
          </a:p>
        </p:txBody>
      </p:sp>
      <p:sp>
        <p:nvSpPr>
          <p:cNvPr id="28" name="Text 25"/>
          <p:cNvSpPr/>
          <p:nvPr/>
        </p:nvSpPr>
        <p:spPr>
          <a:xfrm>
            <a:off x="3401568" y="5276088"/>
            <a:ext cx="2697480" cy="219456"/>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rare events dominate failure modes</a:t>
            </a:r>
            <a:endParaRPr lang="en-US" sz="1150" dirty="0"/>
          </a:p>
        </p:txBody>
      </p:sp>
      <p:sp>
        <p:nvSpPr>
          <p:cNvPr id="29" name="Shape 26"/>
          <p:cNvSpPr/>
          <p:nvPr/>
        </p:nvSpPr>
        <p:spPr>
          <a:xfrm>
            <a:off x="6766560" y="4434840"/>
            <a:ext cx="4480560" cy="868680"/>
          </a:xfrm>
          <a:prstGeom prst="roundRect">
            <a:avLst>
              <a:gd name="adj" fmla="val 12632"/>
            </a:avLst>
          </a:prstGeom>
          <a:solidFill>
            <a:srgbClr val="07101F">
              <a:alpha val="85000"/>
            </a:srgbClr>
          </a:solidFill>
          <a:ln w="11430">
            <a:solidFill>
              <a:srgbClr val="31D8FF">
                <a:alpha val="55000"/>
              </a:srgbClr>
            </a:solidFill>
            <a:prstDash val="solid"/>
          </a:ln>
        </p:spPr>
        <p:txBody>
          <a:bodyPr/>
          <a:lstStyle/>
          <a:p>
            <a:endParaRPr lang="en-US"/>
          </a:p>
        </p:txBody>
      </p:sp>
      <p:sp>
        <p:nvSpPr>
          <p:cNvPr id="30" name="Shape 27"/>
          <p:cNvSpPr/>
          <p:nvPr/>
        </p:nvSpPr>
        <p:spPr>
          <a:xfrm>
            <a:off x="6766560" y="4434840"/>
            <a:ext cx="64008" cy="868680"/>
          </a:xfrm>
          <a:prstGeom prst="rect">
            <a:avLst/>
          </a:prstGeom>
          <a:solidFill>
            <a:srgbClr val="31D8FF"/>
          </a:solidFill>
          <a:ln w="12700">
            <a:solidFill>
              <a:srgbClr val="31D8FF">
                <a:alpha val="0"/>
              </a:srgbClr>
            </a:solidFill>
            <a:prstDash val="solid"/>
          </a:ln>
        </p:spPr>
        <p:txBody>
          <a:bodyPr/>
          <a:lstStyle/>
          <a:p>
            <a:endParaRPr lang="en-US"/>
          </a:p>
        </p:txBody>
      </p:sp>
      <p:sp>
        <p:nvSpPr>
          <p:cNvPr id="31" name="Text 28"/>
          <p:cNvSpPr/>
          <p:nvPr/>
        </p:nvSpPr>
        <p:spPr>
          <a:xfrm>
            <a:off x="6931152" y="4544568"/>
            <a:ext cx="4187952" cy="685800"/>
          </a:xfrm>
          <a:prstGeom prst="rect">
            <a:avLst/>
          </a:prstGeom>
          <a:noFill/>
          <a:ln/>
        </p:spPr>
        <p:txBody>
          <a:bodyPr wrap="square" lIns="254" tIns="254" rIns="254" bIns="254" rtlCol="0" anchor="ctr">
            <a:normAutofit/>
          </a:bodyPr>
          <a:lstStyle/>
          <a:p>
            <a:pPr marL="0" indent="0">
              <a:buNone/>
            </a:pPr>
            <a:r>
              <a:rPr lang="en-US" sz="1800" dirty="0">
                <a:solidFill>
                  <a:srgbClr val="F8FAFC"/>
                </a:solidFill>
                <a:latin typeface="Aptos" pitchFamily="34" charset="0"/>
                <a:ea typeface="Aptos" pitchFamily="34" charset="-122"/>
                <a:cs typeface="Aptos" pitchFamily="34" charset="-120"/>
              </a:rPr>
              <a:t>A robot policy is useful only when it is robust under noisy sensing and imperfect execution.</a:t>
            </a:r>
            <a:endParaRPr lang="en-US" sz="1800" dirty="0"/>
          </a:p>
        </p:txBody>
      </p:sp>
      <p:sp>
        <p:nvSpPr>
          <p:cNvPr id="32" name="Shape 29"/>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3" name="Text 30"/>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34" name="Text 31"/>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06</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07</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The Physical AI stack</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Think of it as a layered system, from body and sensors up to policies and supervision.</a:t>
            </a:r>
            <a:endParaRPr lang="en-US" sz="1450" dirty="0"/>
          </a:p>
        </p:txBody>
      </p:sp>
      <p:sp>
        <p:nvSpPr>
          <p:cNvPr id="7" name="Shape 5"/>
          <p:cNvSpPr/>
          <p:nvPr/>
        </p:nvSpPr>
        <p:spPr>
          <a:xfrm>
            <a:off x="1143000" y="1993392"/>
            <a:ext cx="9921240" cy="530352"/>
          </a:xfrm>
          <a:prstGeom prst="roundRect">
            <a:avLst>
              <a:gd name="adj" fmla="val 13793"/>
            </a:avLst>
          </a:prstGeom>
          <a:solidFill>
            <a:srgbClr val="12213B"/>
          </a:solidFill>
          <a:ln w="10160">
            <a:solidFill>
              <a:srgbClr val="22C55E">
                <a:alpha val="65000"/>
              </a:srgbClr>
            </a:solidFill>
            <a:prstDash val="solid"/>
          </a:ln>
        </p:spPr>
        <p:txBody>
          <a:bodyPr/>
          <a:lstStyle/>
          <a:p>
            <a:endParaRPr lang="en-US"/>
          </a:p>
        </p:txBody>
      </p:sp>
      <p:sp>
        <p:nvSpPr>
          <p:cNvPr id="8" name="Text 6"/>
          <p:cNvSpPr/>
          <p:nvPr/>
        </p:nvSpPr>
        <p:spPr>
          <a:xfrm>
            <a:off x="1344168" y="2103120"/>
            <a:ext cx="3063240" cy="25603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Governance &amp; safety case</a:t>
            </a:r>
            <a:endParaRPr lang="en-US" sz="1420" dirty="0"/>
          </a:p>
        </p:txBody>
      </p:sp>
      <p:sp>
        <p:nvSpPr>
          <p:cNvPr id="9" name="Text 7"/>
          <p:cNvSpPr/>
          <p:nvPr/>
        </p:nvSpPr>
        <p:spPr>
          <a:xfrm>
            <a:off x="4636008" y="2121408"/>
            <a:ext cx="6172200" cy="219456"/>
          </a:xfrm>
          <a:prstGeom prst="rect">
            <a:avLst/>
          </a:prstGeom>
          <a:noFill/>
          <a:ln/>
        </p:spPr>
        <p:txBody>
          <a:bodyPr wrap="square" lIns="0" tIns="0" rIns="0" bIns="0" rtlCol="0" anchor="ctr">
            <a:normAutofit/>
          </a:bodyPr>
          <a:lstStyle/>
          <a:p>
            <a:pPr marL="0" indent="0">
              <a:buNone/>
            </a:pPr>
            <a:r>
              <a:rPr lang="en-US" sz="1120" dirty="0">
                <a:solidFill>
                  <a:srgbClr val="B6C2D5"/>
                </a:solidFill>
                <a:latin typeface="Aptos" pitchFamily="34" charset="0"/>
                <a:ea typeface="Aptos" pitchFamily="34" charset="-122"/>
                <a:cs typeface="Aptos" pitchFamily="34" charset="-120"/>
              </a:rPr>
              <a:t>risk controls, audits, standards, incident response</a:t>
            </a:r>
            <a:endParaRPr lang="en-US" sz="1120" dirty="0"/>
          </a:p>
        </p:txBody>
      </p:sp>
      <p:sp>
        <p:nvSpPr>
          <p:cNvPr id="10" name="Shape 8"/>
          <p:cNvSpPr/>
          <p:nvPr/>
        </p:nvSpPr>
        <p:spPr>
          <a:xfrm>
            <a:off x="1225296" y="2596896"/>
            <a:ext cx="9756648" cy="530352"/>
          </a:xfrm>
          <a:prstGeom prst="roundRect">
            <a:avLst>
              <a:gd name="adj" fmla="val 13793"/>
            </a:avLst>
          </a:prstGeom>
          <a:solidFill>
            <a:srgbClr val="12213B">
              <a:alpha val="94000"/>
            </a:srgbClr>
          </a:solidFill>
          <a:ln w="10160">
            <a:solidFill>
              <a:srgbClr val="A78BFA">
                <a:alpha val="65000"/>
              </a:srgbClr>
            </a:solidFill>
            <a:prstDash val="solid"/>
          </a:ln>
        </p:spPr>
        <p:txBody>
          <a:bodyPr/>
          <a:lstStyle/>
          <a:p>
            <a:endParaRPr lang="en-US"/>
          </a:p>
        </p:txBody>
      </p:sp>
      <p:sp>
        <p:nvSpPr>
          <p:cNvPr id="11" name="Text 9"/>
          <p:cNvSpPr/>
          <p:nvPr/>
        </p:nvSpPr>
        <p:spPr>
          <a:xfrm>
            <a:off x="1426464" y="2706624"/>
            <a:ext cx="3063240" cy="25603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Task planning &amp; policy</a:t>
            </a:r>
            <a:endParaRPr lang="en-US" sz="1420" dirty="0"/>
          </a:p>
        </p:txBody>
      </p:sp>
      <p:sp>
        <p:nvSpPr>
          <p:cNvPr id="12" name="Text 10"/>
          <p:cNvSpPr/>
          <p:nvPr/>
        </p:nvSpPr>
        <p:spPr>
          <a:xfrm>
            <a:off x="4718304" y="2724912"/>
            <a:ext cx="6007608" cy="219456"/>
          </a:xfrm>
          <a:prstGeom prst="rect">
            <a:avLst/>
          </a:prstGeom>
          <a:noFill/>
          <a:ln/>
        </p:spPr>
        <p:txBody>
          <a:bodyPr wrap="square" lIns="0" tIns="0" rIns="0" bIns="0" rtlCol="0" anchor="ctr">
            <a:normAutofit/>
          </a:bodyPr>
          <a:lstStyle/>
          <a:p>
            <a:pPr marL="0" indent="0">
              <a:buNone/>
            </a:pPr>
            <a:r>
              <a:rPr lang="en-US" sz="1120" dirty="0">
                <a:solidFill>
                  <a:srgbClr val="B6C2D5"/>
                </a:solidFill>
                <a:latin typeface="Aptos" pitchFamily="34" charset="0"/>
                <a:ea typeface="Aptos" pitchFamily="34" charset="-122"/>
                <a:cs typeface="Aptos" pitchFamily="34" charset="-120"/>
              </a:rPr>
              <a:t>goals → actions; skill selection; language grounding</a:t>
            </a:r>
            <a:endParaRPr lang="en-US" sz="1120" dirty="0"/>
          </a:p>
        </p:txBody>
      </p:sp>
      <p:sp>
        <p:nvSpPr>
          <p:cNvPr id="13" name="Shape 11"/>
          <p:cNvSpPr/>
          <p:nvPr/>
        </p:nvSpPr>
        <p:spPr>
          <a:xfrm>
            <a:off x="1307592" y="3200400"/>
            <a:ext cx="9592056" cy="530352"/>
          </a:xfrm>
          <a:prstGeom prst="roundRect">
            <a:avLst>
              <a:gd name="adj" fmla="val 13793"/>
            </a:avLst>
          </a:prstGeom>
          <a:solidFill>
            <a:srgbClr val="12213B"/>
          </a:solidFill>
          <a:ln w="10160">
            <a:solidFill>
              <a:srgbClr val="3B82F6">
                <a:alpha val="65000"/>
              </a:srgbClr>
            </a:solidFill>
            <a:prstDash val="solid"/>
          </a:ln>
        </p:spPr>
        <p:txBody>
          <a:bodyPr/>
          <a:lstStyle/>
          <a:p>
            <a:endParaRPr lang="en-US"/>
          </a:p>
        </p:txBody>
      </p:sp>
      <p:sp>
        <p:nvSpPr>
          <p:cNvPr id="14" name="Text 12"/>
          <p:cNvSpPr/>
          <p:nvPr/>
        </p:nvSpPr>
        <p:spPr>
          <a:xfrm>
            <a:off x="1508760" y="3310128"/>
            <a:ext cx="3063240" cy="25603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World model / state estimation</a:t>
            </a:r>
            <a:endParaRPr lang="en-US" sz="1420" dirty="0"/>
          </a:p>
        </p:txBody>
      </p:sp>
      <p:sp>
        <p:nvSpPr>
          <p:cNvPr id="15" name="Text 13"/>
          <p:cNvSpPr/>
          <p:nvPr/>
        </p:nvSpPr>
        <p:spPr>
          <a:xfrm>
            <a:off x="4800600" y="3328416"/>
            <a:ext cx="5843016" cy="219456"/>
          </a:xfrm>
          <a:prstGeom prst="rect">
            <a:avLst/>
          </a:prstGeom>
          <a:noFill/>
          <a:ln/>
        </p:spPr>
        <p:txBody>
          <a:bodyPr wrap="square" lIns="0" tIns="0" rIns="0" bIns="0" rtlCol="0" anchor="ctr">
            <a:normAutofit/>
          </a:bodyPr>
          <a:lstStyle/>
          <a:p>
            <a:pPr marL="0" indent="0">
              <a:buNone/>
            </a:pPr>
            <a:r>
              <a:rPr lang="en-US" sz="1120" dirty="0">
                <a:solidFill>
                  <a:srgbClr val="B6C2D5"/>
                </a:solidFill>
                <a:latin typeface="Aptos" pitchFamily="34" charset="0"/>
                <a:ea typeface="Aptos" pitchFamily="34" charset="-122"/>
                <a:cs typeface="Aptos" pitchFamily="34" charset="-120"/>
              </a:rPr>
              <a:t>what is where, what may happen next, uncertainty</a:t>
            </a:r>
            <a:endParaRPr lang="en-US" sz="1120" dirty="0"/>
          </a:p>
        </p:txBody>
      </p:sp>
      <p:sp>
        <p:nvSpPr>
          <p:cNvPr id="16" name="Shape 14"/>
          <p:cNvSpPr/>
          <p:nvPr/>
        </p:nvSpPr>
        <p:spPr>
          <a:xfrm>
            <a:off x="1389888" y="3803904"/>
            <a:ext cx="9427464" cy="530352"/>
          </a:xfrm>
          <a:prstGeom prst="roundRect">
            <a:avLst>
              <a:gd name="adj" fmla="val 13793"/>
            </a:avLst>
          </a:prstGeom>
          <a:solidFill>
            <a:srgbClr val="12213B">
              <a:alpha val="94000"/>
            </a:srgbClr>
          </a:solidFill>
          <a:ln w="10160">
            <a:solidFill>
              <a:srgbClr val="31D8FF">
                <a:alpha val="65000"/>
              </a:srgbClr>
            </a:solidFill>
            <a:prstDash val="solid"/>
          </a:ln>
        </p:spPr>
        <p:txBody>
          <a:bodyPr/>
          <a:lstStyle/>
          <a:p>
            <a:endParaRPr lang="en-US"/>
          </a:p>
        </p:txBody>
      </p:sp>
      <p:sp>
        <p:nvSpPr>
          <p:cNvPr id="17" name="Text 15"/>
          <p:cNvSpPr/>
          <p:nvPr/>
        </p:nvSpPr>
        <p:spPr>
          <a:xfrm>
            <a:off x="1591056" y="3913632"/>
            <a:ext cx="3063240" cy="25603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Perception</a:t>
            </a:r>
            <a:endParaRPr lang="en-US" sz="1420" dirty="0"/>
          </a:p>
        </p:txBody>
      </p:sp>
      <p:sp>
        <p:nvSpPr>
          <p:cNvPr id="18" name="Text 16"/>
          <p:cNvSpPr/>
          <p:nvPr/>
        </p:nvSpPr>
        <p:spPr>
          <a:xfrm>
            <a:off x="4882896" y="3931920"/>
            <a:ext cx="5678424" cy="219456"/>
          </a:xfrm>
          <a:prstGeom prst="rect">
            <a:avLst/>
          </a:prstGeom>
          <a:noFill/>
          <a:ln/>
        </p:spPr>
        <p:txBody>
          <a:bodyPr wrap="square" lIns="0" tIns="0" rIns="0" bIns="0" rtlCol="0" anchor="ctr">
            <a:normAutofit/>
          </a:bodyPr>
          <a:lstStyle/>
          <a:p>
            <a:pPr marL="0" indent="0">
              <a:buNone/>
            </a:pPr>
            <a:r>
              <a:rPr lang="en-US" sz="1120" dirty="0">
                <a:solidFill>
                  <a:srgbClr val="B6C2D5"/>
                </a:solidFill>
                <a:latin typeface="Aptos" pitchFamily="34" charset="0"/>
                <a:ea typeface="Aptos" pitchFamily="34" charset="-122"/>
                <a:cs typeface="Aptos" pitchFamily="34" charset="-120"/>
              </a:rPr>
              <a:t>camera, lidar, force, audio, proprioception</a:t>
            </a:r>
            <a:endParaRPr lang="en-US" sz="1120" dirty="0"/>
          </a:p>
        </p:txBody>
      </p:sp>
      <p:sp>
        <p:nvSpPr>
          <p:cNvPr id="19" name="Shape 17"/>
          <p:cNvSpPr/>
          <p:nvPr/>
        </p:nvSpPr>
        <p:spPr>
          <a:xfrm>
            <a:off x="1472184" y="4407408"/>
            <a:ext cx="9262872" cy="530352"/>
          </a:xfrm>
          <a:prstGeom prst="roundRect">
            <a:avLst>
              <a:gd name="adj" fmla="val 13793"/>
            </a:avLst>
          </a:prstGeom>
          <a:solidFill>
            <a:srgbClr val="12213B"/>
          </a:solidFill>
          <a:ln w="10160">
            <a:solidFill>
              <a:srgbClr val="F59E0B">
                <a:alpha val="65000"/>
              </a:srgbClr>
            </a:solidFill>
            <a:prstDash val="solid"/>
          </a:ln>
        </p:spPr>
        <p:txBody>
          <a:bodyPr/>
          <a:lstStyle/>
          <a:p>
            <a:endParaRPr lang="en-US"/>
          </a:p>
        </p:txBody>
      </p:sp>
      <p:sp>
        <p:nvSpPr>
          <p:cNvPr id="20" name="Text 18"/>
          <p:cNvSpPr/>
          <p:nvPr/>
        </p:nvSpPr>
        <p:spPr>
          <a:xfrm>
            <a:off x="1673352" y="4517136"/>
            <a:ext cx="3063240" cy="25603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Control &amp; actuation</a:t>
            </a:r>
            <a:endParaRPr lang="en-US" sz="1420" dirty="0"/>
          </a:p>
        </p:txBody>
      </p:sp>
      <p:sp>
        <p:nvSpPr>
          <p:cNvPr id="21" name="Text 19"/>
          <p:cNvSpPr/>
          <p:nvPr/>
        </p:nvSpPr>
        <p:spPr>
          <a:xfrm>
            <a:off x="4965192" y="4535424"/>
            <a:ext cx="5513832" cy="219456"/>
          </a:xfrm>
          <a:prstGeom prst="rect">
            <a:avLst/>
          </a:prstGeom>
          <a:noFill/>
          <a:ln/>
        </p:spPr>
        <p:txBody>
          <a:bodyPr wrap="square" lIns="0" tIns="0" rIns="0" bIns="0" rtlCol="0" anchor="ctr">
            <a:normAutofit/>
          </a:bodyPr>
          <a:lstStyle/>
          <a:p>
            <a:pPr marL="0" indent="0">
              <a:buNone/>
            </a:pPr>
            <a:r>
              <a:rPr lang="en-US" sz="1120" dirty="0">
                <a:solidFill>
                  <a:srgbClr val="B6C2D5"/>
                </a:solidFill>
                <a:latin typeface="Aptos" pitchFamily="34" charset="0"/>
                <a:ea typeface="Aptos" pitchFamily="34" charset="-122"/>
                <a:cs typeface="Aptos" pitchFamily="34" charset="-120"/>
              </a:rPr>
              <a:t>motors, arms, grippers, wheels, low-level controllers</a:t>
            </a:r>
            <a:endParaRPr lang="en-US" sz="1120" dirty="0"/>
          </a:p>
        </p:txBody>
      </p:sp>
      <p:sp>
        <p:nvSpPr>
          <p:cNvPr id="22" name="Shape 20"/>
          <p:cNvSpPr/>
          <p:nvPr/>
        </p:nvSpPr>
        <p:spPr>
          <a:xfrm>
            <a:off x="1554480" y="5010912"/>
            <a:ext cx="9098280" cy="530352"/>
          </a:xfrm>
          <a:prstGeom prst="roundRect">
            <a:avLst>
              <a:gd name="adj" fmla="val 13793"/>
            </a:avLst>
          </a:prstGeom>
          <a:solidFill>
            <a:srgbClr val="12213B">
              <a:alpha val="94000"/>
            </a:srgbClr>
          </a:solidFill>
          <a:ln w="10160">
            <a:solidFill>
              <a:srgbClr val="EF4444">
                <a:alpha val="65000"/>
              </a:srgbClr>
            </a:solidFill>
            <a:prstDash val="solid"/>
          </a:ln>
        </p:spPr>
        <p:txBody>
          <a:bodyPr/>
          <a:lstStyle/>
          <a:p>
            <a:endParaRPr lang="en-US"/>
          </a:p>
        </p:txBody>
      </p:sp>
      <p:sp>
        <p:nvSpPr>
          <p:cNvPr id="23" name="Text 21"/>
          <p:cNvSpPr/>
          <p:nvPr/>
        </p:nvSpPr>
        <p:spPr>
          <a:xfrm>
            <a:off x="1755648" y="5120640"/>
            <a:ext cx="3063240" cy="256032"/>
          </a:xfrm>
          <a:prstGeom prst="rect">
            <a:avLst/>
          </a:prstGeom>
          <a:noFill/>
          <a:ln/>
        </p:spPr>
        <p:txBody>
          <a:bodyPr wrap="square" lIns="0" tIns="0" rIns="0" bIns="0" rtlCol="0" anchor="ctr"/>
          <a:lstStyle/>
          <a:p>
            <a:pPr marL="0" indent="0">
              <a:buNone/>
            </a:pPr>
            <a:r>
              <a:rPr lang="en-US" sz="1420" b="1" dirty="0">
                <a:solidFill>
                  <a:srgbClr val="F8FAFC"/>
                </a:solidFill>
                <a:latin typeface="Aptos Display" pitchFamily="34" charset="0"/>
                <a:ea typeface="Aptos Display" pitchFamily="34" charset="-122"/>
                <a:cs typeface="Aptos Display" pitchFamily="34" charset="-120"/>
              </a:rPr>
              <a:t>Embodiment &amp; environment</a:t>
            </a:r>
            <a:endParaRPr lang="en-US" sz="1420" dirty="0"/>
          </a:p>
        </p:txBody>
      </p:sp>
      <p:sp>
        <p:nvSpPr>
          <p:cNvPr id="24" name="Text 22"/>
          <p:cNvSpPr/>
          <p:nvPr/>
        </p:nvSpPr>
        <p:spPr>
          <a:xfrm>
            <a:off x="5047488" y="5138928"/>
            <a:ext cx="5349240" cy="219456"/>
          </a:xfrm>
          <a:prstGeom prst="rect">
            <a:avLst/>
          </a:prstGeom>
          <a:noFill/>
          <a:ln/>
        </p:spPr>
        <p:txBody>
          <a:bodyPr wrap="square" lIns="0" tIns="0" rIns="0" bIns="0" rtlCol="0" anchor="ctr">
            <a:normAutofit/>
          </a:bodyPr>
          <a:lstStyle/>
          <a:p>
            <a:pPr marL="0" indent="0">
              <a:buNone/>
            </a:pPr>
            <a:r>
              <a:rPr lang="en-US" sz="1120" dirty="0">
                <a:solidFill>
                  <a:srgbClr val="B6C2D5"/>
                </a:solidFill>
                <a:latin typeface="Aptos" pitchFamily="34" charset="0"/>
                <a:ea typeface="Aptos" pitchFamily="34" charset="-122"/>
                <a:cs typeface="Aptos" pitchFamily="34" charset="-120"/>
              </a:rPr>
              <a:t>morphology, workspace, objects, people, constraints</a:t>
            </a:r>
            <a:endParaRPr lang="en-US" sz="1120" dirty="0"/>
          </a:p>
        </p:txBody>
      </p:sp>
      <p:sp>
        <p:nvSpPr>
          <p:cNvPr id="25" name="Shape 23"/>
          <p:cNvSpPr/>
          <p:nvPr/>
        </p:nvSpPr>
        <p:spPr>
          <a:xfrm>
            <a:off x="1188720" y="5715000"/>
            <a:ext cx="9829800" cy="457200"/>
          </a:xfrm>
          <a:prstGeom prst="roundRect">
            <a:avLst>
              <a:gd name="adj" fmla="val 24000"/>
            </a:avLst>
          </a:prstGeom>
          <a:solidFill>
            <a:srgbClr val="0F1C33"/>
          </a:solidFill>
          <a:ln w="11430">
            <a:solidFill>
              <a:srgbClr val="31D8FF">
                <a:alpha val="55000"/>
              </a:srgbClr>
            </a:solidFill>
            <a:prstDash val="solid"/>
          </a:ln>
        </p:spPr>
        <p:txBody>
          <a:bodyPr/>
          <a:lstStyle/>
          <a:p>
            <a:endParaRPr lang="en-US"/>
          </a:p>
        </p:txBody>
      </p:sp>
      <p:sp>
        <p:nvSpPr>
          <p:cNvPr id="26" name="Shape 24"/>
          <p:cNvSpPr/>
          <p:nvPr/>
        </p:nvSpPr>
        <p:spPr>
          <a:xfrm>
            <a:off x="1188720" y="5715000"/>
            <a:ext cx="64008" cy="457200"/>
          </a:xfrm>
          <a:prstGeom prst="rect">
            <a:avLst/>
          </a:prstGeom>
          <a:solidFill>
            <a:srgbClr val="31D8FF"/>
          </a:solidFill>
          <a:ln w="12700">
            <a:solidFill>
              <a:srgbClr val="31D8FF">
                <a:alpha val="0"/>
              </a:srgbClr>
            </a:solidFill>
            <a:prstDash val="solid"/>
          </a:ln>
        </p:spPr>
        <p:txBody>
          <a:bodyPr/>
          <a:lstStyle/>
          <a:p>
            <a:endParaRPr lang="en-US"/>
          </a:p>
        </p:txBody>
      </p:sp>
      <p:sp>
        <p:nvSpPr>
          <p:cNvPr id="27" name="Text 25"/>
          <p:cNvSpPr/>
          <p:nvPr/>
        </p:nvSpPr>
        <p:spPr>
          <a:xfrm>
            <a:off x="1353312" y="5824728"/>
            <a:ext cx="9537192" cy="274320"/>
          </a:xfrm>
          <a:prstGeom prst="rect">
            <a:avLst/>
          </a:prstGeom>
          <a:noFill/>
          <a:ln/>
        </p:spPr>
        <p:txBody>
          <a:bodyPr wrap="square" lIns="254" tIns="254" rIns="254" bIns="254" rtlCol="0" anchor="ctr">
            <a:normAutofit/>
          </a:bodyPr>
          <a:lstStyle/>
          <a:p>
            <a:pPr marL="0" indent="0">
              <a:buNone/>
            </a:pPr>
            <a:r>
              <a:rPr lang="en-US" sz="1280" dirty="0">
                <a:solidFill>
                  <a:srgbClr val="F8FAFC"/>
                </a:solidFill>
                <a:latin typeface="Aptos" pitchFamily="34" charset="0"/>
                <a:ea typeface="Aptos" pitchFamily="34" charset="-122"/>
                <a:cs typeface="Aptos" pitchFamily="34" charset="-120"/>
              </a:rPr>
              <a:t>Good systems are rarely “one model.” They are engineered stacks that combine learned components with control, monitoring, and safety logic.</a:t>
            </a:r>
            <a:endParaRPr lang="en-US" sz="1280" dirty="0"/>
          </a:p>
        </p:txBody>
      </p:sp>
      <p:sp>
        <p:nvSpPr>
          <p:cNvPr id="28" name="Shape 26"/>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9" name="Text 27"/>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30" name="Text 28"/>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07</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08</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Grounding: connecting words to the world</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Physical AI must translate human goals into geometric, semantic, and actionable representations.</a:t>
            </a:r>
            <a:endParaRPr lang="en-US" sz="1450" dirty="0"/>
          </a:p>
        </p:txBody>
      </p:sp>
      <p:sp>
        <p:nvSpPr>
          <p:cNvPr id="7" name="Shape 5"/>
          <p:cNvSpPr/>
          <p:nvPr/>
        </p:nvSpPr>
        <p:spPr>
          <a:xfrm>
            <a:off x="2697480" y="3108960"/>
            <a:ext cx="1463040" cy="0"/>
          </a:xfrm>
          <a:prstGeom prst="line">
            <a:avLst/>
          </a:prstGeom>
          <a:noFill/>
          <a:ln w="17780">
            <a:solidFill>
              <a:srgbClr val="25436C">
                <a:alpha val="90000"/>
              </a:srgbClr>
            </a:solidFill>
            <a:prstDash val="solid"/>
            <a:tailEnd type="triangle"/>
          </a:ln>
        </p:spPr>
        <p:txBody>
          <a:bodyPr/>
          <a:lstStyle/>
          <a:p>
            <a:endParaRPr lang="en-US"/>
          </a:p>
        </p:txBody>
      </p:sp>
      <p:sp>
        <p:nvSpPr>
          <p:cNvPr id="8" name="Shape 6"/>
          <p:cNvSpPr/>
          <p:nvPr/>
        </p:nvSpPr>
        <p:spPr>
          <a:xfrm>
            <a:off x="5623560" y="3108960"/>
            <a:ext cx="1463040" cy="0"/>
          </a:xfrm>
          <a:prstGeom prst="line">
            <a:avLst/>
          </a:prstGeom>
          <a:noFill/>
          <a:ln w="17780">
            <a:solidFill>
              <a:srgbClr val="25436C">
                <a:alpha val="90000"/>
              </a:srgbClr>
            </a:solidFill>
            <a:prstDash val="solid"/>
            <a:tailEnd type="triangle"/>
          </a:ln>
        </p:spPr>
        <p:txBody>
          <a:bodyPr/>
          <a:lstStyle/>
          <a:p>
            <a:endParaRPr lang="en-US"/>
          </a:p>
        </p:txBody>
      </p:sp>
      <p:sp>
        <p:nvSpPr>
          <p:cNvPr id="9" name="Shape 7"/>
          <p:cNvSpPr/>
          <p:nvPr/>
        </p:nvSpPr>
        <p:spPr>
          <a:xfrm>
            <a:off x="8549640" y="3108960"/>
            <a:ext cx="1005840" cy="0"/>
          </a:xfrm>
          <a:prstGeom prst="line">
            <a:avLst/>
          </a:prstGeom>
          <a:noFill/>
          <a:ln w="17780">
            <a:solidFill>
              <a:srgbClr val="25436C">
                <a:alpha val="90000"/>
              </a:srgbClr>
            </a:solidFill>
            <a:prstDash val="solid"/>
            <a:tailEnd type="triangle"/>
          </a:ln>
        </p:spPr>
        <p:txBody>
          <a:bodyPr/>
          <a:lstStyle/>
          <a:p>
            <a:endParaRPr lang="en-US"/>
          </a:p>
        </p:txBody>
      </p:sp>
      <p:sp>
        <p:nvSpPr>
          <p:cNvPr id="10" name="Shape 8"/>
          <p:cNvSpPr/>
          <p:nvPr/>
        </p:nvSpPr>
        <p:spPr>
          <a:xfrm>
            <a:off x="868680" y="2377440"/>
            <a:ext cx="2011680" cy="1417320"/>
          </a:xfrm>
          <a:prstGeom prst="roundRect">
            <a:avLst>
              <a:gd name="adj" fmla="val 10323"/>
            </a:avLst>
          </a:prstGeom>
          <a:solidFill>
            <a:srgbClr val="12213B"/>
          </a:solidFill>
          <a:ln w="13970">
            <a:solidFill>
              <a:srgbClr val="31D8FF">
                <a:alpha val="90000"/>
              </a:srgbClr>
            </a:solidFill>
            <a:prstDash val="solid"/>
          </a:ln>
        </p:spPr>
        <p:txBody>
          <a:bodyPr/>
          <a:lstStyle/>
          <a:p>
            <a:endParaRPr lang="en-US"/>
          </a:p>
        </p:txBody>
      </p:sp>
      <p:sp>
        <p:nvSpPr>
          <p:cNvPr id="11" name="Text 9"/>
          <p:cNvSpPr/>
          <p:nvPr/>
        </p:nvSpPr>
        <p:spPr>
          <a:xfrm>
            <a:off x="978408" y="2487168"/>
            <a:ext cx="179222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Instruction</a:t>
            </a:r>
            <a:endParaRPr lang="en-US" sz="1550" dirty="0"/>
          </a:p>
        </p:txBody>
      </p:sp>
      <p:sp>
        <p:nvSpPr>
          <p:cNvPr id="12" name="Text 10"/>
          <p:cNvSpPr/>
          <p:nvPr/>
        </p:nvSpPr>
        <p:spPr>
          <a:xfrm>
            <a:off x="1005840" y="2871216"/>
            <a:ext cx="1737360" cy="822960"/>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“Pick up the red part and place it in bin A.”</a:t>
            </a:r>
            <a:endParaRPr lang="en-US" sz="1030" dirty="0"/>
          </a:p>
        </p:txBody>
      </p:sp>
      <p:sp>
        <p:nvSpPr>
          <p:cNvPr id="13" name="Shape 11"/>
          <p:cNvSpPr/>
          <p:nvPr/>
        </p:nvSpPr>
        <p:spPr>
          <a:xfrm>
            <a:off x="3977640" y="2377440"/>
            <a:ext cx="2011680" cy="1417320"/>
          </a:xfrm>
          <a:prstGeom prst="roundRect">
            <a:avLst>
              <a:gd name="adj" fmla="val 10323"/>
            </a:avLst>
          </a:prstGeom>
          <a:solidFill>
            <a:srgbClr val="12213B"/>
          </a:solidFill>
          <a:ln w="13970">
            <a:solidFill>
              <a:srgbClr val="3B82F6">
                <a:alpha val="90000"/>
              </a:srgbClr>
            </a:solidFill>
            <a:prstDash val="solid"/>
          </a:ln>
        </p:spPr>
        <p:txBody>
          <a:bodyPr/>
          <a:lstStyle/>
          <a:p>
            <a:endParaRPr lang="en-US"/>
          </a:p>
        </p:txBody>
      </p:sp>
      <p:sp>
        <p:nvSpPr>
          <p:cNvPr id="14" name="Text 12"/>
          <p:cNvSpPr/>
          <p:nvPr/>
        </p:nvSpPr>
        <p:spPr>
          <a:xfrm>
            <a:off x="4087368" y="2487168"/>
            <a:ext cx="179222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Scene</a:t>
            </a:r>
            <a:endParaRPr lang="en-US" sz="1550" dirty="0"/>
          </a:p>
        </p:txBody>
      </p:sp>
      <p:sp>
        <p:nvSpPr>
          <p:cNvPr id="15" name="Text 13"/>
          <p:cNvSpPr/>
          <p:nvPr/>
        </p:nvSpPr>
        <p:spPr>
          <a:xfrm>
            <a:off x="4114800" y="2871216"/>
            <a:ext cx="1737360" cy="822960"/>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objects, positions, people, obstacles</a:t>
            </a:r>
            <a:endParaRPr lang="en-US" sz="1030" dirty="0"/>
          </a:p>
        </p:txBody>
      </p:sp>
      <p:sp>
        <p:nvSpPr>
          <p:cNvPr id="16" name="Shape 14"/>
          <p:cNvSpPr/>
          <p:nvPr/>
        </p:nvSpPr>
        <p:spPr>
          <a:xfrm>
            <a:off x="7086600" y="2377440"/>
            <a:ext cx="2011680" cy="1417320"/>
          </a:xfrm>
          <a:prstGeom prst="roundRect">
            <a:avLst>
              <a:gd name="adj" fmla="val 10323"/>
            </a:avLst>
          </a:prstGeom>
          <a:solidFill>
            <a:srgbClr val="12213B"/>
          </a:solidFill>
          <a:ln w="13970">
            <a:solidFill>
              <a:srgbClr val="F59E0B">
                <a:alpha val="90000"/>
              </a:srgbClr>
            </a:solidFill>
            <a:prstDash val="solid"/>
          </a:ln>
        </p:spPr>
        <p:txBody>
          <a:bodyPr/>
          <a:lstStyle/>
          <a:p>
            <a:endParaRPr lang="en-US"/>
          </a:p>
        </p:txBody>
      </p:sp>
      <p:sp>
        <p:nvSpPr>
          <p:cNvPr id="17" name="Text 15"/>
          <p:cNvSpPr/>
          <p:nvPr/>
        </p:nvSpPr>
        <p:spPr>
          <a:xfrm>
            <a:off x="7196328" y="2487168"/>
            <a:ext cx="179222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Affordance</a:t>
            </a:r>
            <a:endParaRPr lang="en-US" sz="1550" dirty="0"/>
          </a:p>
        </p:txBody>
      </p:sp>
      <p:sp>
        <p:nvSpPr>
          <p:cNvPr id="18" name="Text 16"/>
          <p:cNvSpPr/>
          <p:nvPr/>
        </p:nvSpPr>
        <p:spPr>
          <a:xfrm>
            <a:off x="7223760" y="2871216"/>
            <a:ext cx="1737360" cy="822960"/>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what can be grasped, moved, opened</a:t>
            </a:r>
            <a:endParaRPr lang="en-US" sz="1030" dirty="0"/>
          </a:p>
        </p:txBody>
      </p:sp>
      <p:sp>
        <p:nvSpPr>
          <p:cNvPr id="19" name="Shape 17"/>
          <p:cNvSpPr/>
          <p:nvPr/>
        </p:nvSpPr>
        <p:spPr>
          <a:xfrm>
            <a:off x="9692640" y="2377440"/>
            <a:ext cx="1691640" cy="1417320"/>
          </a:xfrm>
          <a:prstGeom prst="roundRect">
            <a:avLst>
              <a:gd name="adj" fmla="val 10323"/>
            </a:avLst>
          </a:prstGeom>
          <a:solidFill>
            <a:srgbClr val="12213B"/>
          </a:solidFill>
          <a:ln w="13970">
            <a:solidFill>
              <a:srgbClr val="22C55E">
                <a:alpha val="90000"/>
              </a:srgbClr>
            </a:solidFill>
            <a:prstDash val="solid"/>
          </a:ln>
        </p:spPr>
        <p:txBody>
          <a:bodyPr/>
          <a:lstStyle/>
          <a:p>
            <a:endParaRPr lang="en-US"/>
          </a:p>
        </p:txBody>
      </p:sp>
      <p:sp>
        <p:nvSpPr>
          <p:cNvPr id="20" name="Text 18"/>
          <p:cNvSpPr/>
          <p:nvPr/>
        </p:nvSpPr>
        <p:spPr>
          <a:xfrm>
            <a:off x="9802368" y="2487168"/>
            <a:ext cx="147218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Action</a:t>
            </a:r>
            <a:endParaRPr lang="en-US" sz="1550" dirty="0"/>
          </a:p>
        </p:txBody>
      </p:sp>
      <p:sp>
        <p:nvSpPr>
          <p:cNvPr id="21" name="Text 19"/>
          <p:cNvSpPr/>
          <p:nvPr/>
        </p:nvSpPr>
        <p:spPr>
          <a:xfrm>
            <a:off x="9829800" y="2871216"/>
            <a:ext cx="1417320" cy="822960"/>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trajectory + force + timing</a:t>
            </a:r>
            <a:endParaRPr lang="en-US" sz="1030" dirty="0"/>
          </a:p>
        </p:txBody>
      </p:sp>
      <p:sp>
        <p:nvSpPr>
          <p:cNvPr id="22" name="Shape 20"/>
          <p:cNvSpPr/>
          <p:nvPr/>
        </p:nvSpPr>
        <p:spPr>
          <a:xfrm>
            <a:off x="1051560" y="4709160"/>
            <a:ext cx="2331720" cy="731520"/>
          </a:xfrm>
          <a:prstGeom prst="roundRect">
            <a:avLst>
              <a:gd name="adj" fmla="val 12500"/>
            </a:avLst>
          </a:prstGeom>
          <a:solidFill>
            <a:srgbClr val="12213B">
              <a:alpha val="96000"/>
            </a:srgbClr>
          </a:solidFill>
          <a:ln w="10160">
            <a:solidFill>
              <a:srgbClr val="31D8FF">
                <a:alpha val="50000"/>
              </a:srgbClr>
            </a:solidFill>
            <a:prstDash val="solid"/>
          </a:ln>
        </p:spPr>
        <p:txBody>
          <a:bodyPr/>
          <a:lstStyle/>
          <a:p>
            <a:endParaRPr lang="en-US"/>
          </a:p>
        </p:txBody>
      </p:sp>
      <p:sp>
        <p:nvSpPr>
          <p:cNvPr id="23" name="Text 21"/>
          <p:cNvSpPr/>
          <p:nvPr/>
        </p:nvSpPr>
        <p:spPr>
          <a:xfrm>
            <a:off x="1161288" y="4828032"/>
            <a:ext cx="2103120" cy="201168"/>
          </a:xfrm>
          <a:prstGeom prst="rect">
            <a:avLst/>
          </a:prstGeom>
          <a:noFill/>
          <a:ln/>
        </p:spPr>
        <p:txBody>
          <a:bodyPr wrap="square" lIns="0" tIns="0" rIns="0" bIns="0" rtlCol="0" anchor="ctr"/>
          <a:lstStyle/>
          <a:p>
            <a:pPr marL="0" indent="0" algn="ctr">
              <a:buNone/>
            </a:pPr>
            <a:r>
              <a:rPr lang="en-US" sz="1420" b="1" dirty="0">
                <a:solidFill>
                  <a:srgbClr val="F8FAFC"/>
                </a:solidFill>
                <a:latin typeface="Aptos Display" pitchFamily="34" charset="0"/>
                <a:ea typeface="Aptos Display" pitchFamily="34" charset="-122"/>
                <a:cs typeface="Aptos Display" pitchFamily="34" charset="-120"/>
              </a:rPr>
              <a:t>Geometry</a:t>
            </a:r>
            <a:endParaRPr lang="en-US" sz="1420" dirty="0"/>
          </a:p>
        </p:txBody>
      </p:sp>
      <p:sp>
        <p:nvSpPr>
          <p:cNvPr id="24" name="Text 22"/>
          <p:cNvSpPr/>
          <p:nvPr/>
        </p:nvSpPr>
        <p:spPr>
          <a:xfrm>
            <a:off x="1188720" y="5093208"/>
            <a:ext cx="2057400" cy="182880"/>
          </a:xfrm>
          <a:prstGeom prst="rect">
            <a:avLst/>
          </a:prstGeom>
          <a:noFill/>
          <a:ln/>
        </p:spPr>
        <p:txBody>
          <a:bodyPr wrap="square" lIns="0" tIns="0" rIns="0" bIns="0" rtlCol="0" anchor="ctr">
            <a:normAutofit/>
          </a:bodyPr>
          <a:lstStyle/>
          <a:p>
            <a:pPr marL="0" indent="0" algn="ctr">
              <a:buNone/>
            </a:pPr>
            <a:r>
              <a:rPr lang="en-US" sz="940" dirty="0">
                <a:solidFill>
                  <a:srgbClr val="B6C2D5"/>
                </a:solidFill>
                <a:latin typeface="Aptos" pitchFamily="34" charset="0"/>
                <a:ea typeface="Aptos" pitchFamily="34" charset="-122"/>
                <a:cs typeface="Aptos" pitchFamily="34" charset="-120"/>
              </a:rPr>
              <a:t>3D maps, poses, distance</a:t>
            </a:r>
            <a:endParaRPr lang="en-US" sz="940" dirty="0"/>
          </a:p>
        </p:txBody>
      </p:sp>
      <p:sp>
        <p:nvSpPr>
          <p:cNvPr id="25" name="Shape 23"/>
          <p:cNvSpPr/>
          <p:nvPr/>
        </p:nvSpPr>
        <p:spPr>
          <a:xfrm>
            <a:off x="3593592" y="4709160"/>
            <a:ext cx="2331720" cy="731520"/>
          </a:xfrm>
          <a:prstGeom prst="roundRect">
            <a:avLst>
              <a:gd name="adj" fmla="val 12500"/>
            </a:avLst>
          </a:prstGeom>
          <a:solidFill>
            <a:srgbClr val="12213B">
              <a:alpha val="96000"/>
            </a:srgbClr>
          </a:solidFill>
          <a:ln w="10160">
            <a:solidFill>
              <a:srgbClr val="3B82F6">
                <a:alpha val="50000"/>
              </a:srgbClr>
            </a:solidFill>
            <a:prstDash val="solid"/>
          </a:ln>
        </p:spPr>
        <p:txBody>
          <a:bodyPr/>
          <a:lstStyle/>
          <a:p>
            <a:endParaRPr lang="en-US"/>
          </a:p>
        </p:txBody>
      </p:sp>
      <p:sp>
        <p:nvSpPr>
          <p:cNvPr id="26" name="Text 24"/>
          <p:cNvSpPr/>
          <p:nvPr/>
        </p:nvSpPr>
        <p:spPr>
          <a:xfrm>
            <a:off x="3703320" y="4828032"/>
            <a:ext cx="2103120" cy="201168"/>
          </a:xfrm>
          <a:prstGeom prst="rect">
            <a:avLst/>
          </a:prstGeom>
          <a:noFill/>
          <a:ln/>
        </p:spPr>
        <p:txBody>
          <a:bodyPr wrap="square" lIns="0" tIns="0" rIns="0" bIns="0" rtlCol="0" anchor="ctr"/>
          <a:lstStyle/>
          <a:p>
            <a:pPr marL="0" indent="0" algn="ctr">
              <a:buNone/>
            </a:pPr>
            <a:r>
              <a:rPr lang="en-US" sz="1420" b="1" dirty="0">
                <a:solidFill>
                  <a:srgbClr val="F8FAFC"/>
                </a:solidFill>
                <a:latin typeface="Aptos Display" pitchFamily="34" charset="0"/>
                <a:ea typeface="Aptos Display" pitchFamily="34" charset="-122"/>
                <a:cs typeface="Aptos Display" pitchFamily="34" charset="-120"/>
              </a:rPr>
              <a:t>Semantics</a:t>
            </a:r>
            <a:endParaRPr lang="en-US" sz="1420" dirty="0"/>
          </a:p>
        </p:txBody>
      </p:sp>
      <p:sp>
        <p:nvSpPr>
          <p:cNvPr id="27" name="Text 25"/>
          <p:cNvSpPr/>
          <p:nvPr/>
        </p:nvSpPr>
        <p:spPr>
          <a:xfrm>
            <a:off x="3730752" y="5093208"/>
            <a:ext cx="2057400" cy="182880"/>
          </a:xfrm>
          <a:prstGeom prst="rect">
            <a:avLst/>
          </a:prstGeom>
          <a:noFill/>
          <a:ln/>
        </p:spPr>
        <p:txBody>
          <a:bodyPr wrap="square" lIns="0" tIns="0" rIns="0" bIns="0" rtlCol="0" anchor="ctr">
            <a:normAutofit/>
          </a:bodyPr>
          <a:lstStyle/>
          <a:p>
            <a:pPr marL="0" indent="0" algn="ctr">
              <a:buNone/>
            </a:pPr>
            <a:r>
              <a:rPr lang="en-US" sz="940" dirty="0">
                <a:solidFill>
                  <a:srgbClr val="B6C2D5"/>
                </a:solidFill>
                <a:latin typeface="Aptos" pitchFamily="34" charset="0"/>
                <a:ea typeface="Aptos" pitchFamily="34" charset="-122"/>
                <a:cs typeface="Aptos" pitchFamily="34" charset="-120"/>
              </a:rPr>
              <a:t>object identity, task meaning</a:t>
            </a:r>
            <a:endParaRPr lang="en-US" sz="940" dirty="0"/>
          </a:p>
        </p:txBody>
      </p:sp>
      <p:sp>
        <p:nvSpPr>
          <p:cNvPr id="28" name="Shape 26"/>
          <p:cNvSpPr/>
          <p:nvPr/>
        </p:nvSpPr>
        <p:spPr>
          <a:xfrm>
            <a:off x="6135624" y="4709160"/>
            <a:ext cx="2331720" cy="731520"/>
          </a:xfrm>
          <a:prstGeom prst="roundRect">
            <a:avLst>
              <a:gd name="adj" fmla="val 12500"/>
            </a:avLst>
          </a:prstGeom>
          <a:solidFill>
            <a:srgbClr val="12213B">
              <a:alpha val="96000"/>
            </a:srgbClr>
          </a:solidFill>
          <a:ln w="10160">
            <a:solidFill>
              <a:srgbClr val="F59E0B">
                <a:alpha val="50000"/>
              </a:srgbClr>
            </a:solidFill>
            <a:prstDash val="solid"/>
          </a:ln>
        </p:spPr>
        <p:txBody>
          <a:bodyPr/>
          <a:lstStyle/>
          <a:p>
            <a:endParaRPr lang="en-US"/>
          </a:p>
        </p:txBody>
      </p:sp>
      <p:sp>
        <p:nvSpPr>
          <p:cNvPr id="29" name="Text 27"/>
          <p:cNvSpPr/>
          <p:nvPr/>
        </p:nvSpPr>
        <p:spPr>
          <a:xfrm>
            <a:off x="6245352" y="4828032"/>
            <a:ext cx="2103120" cy="201168"/>
          </a:xfrm>
          <a:prstGeom prst="rect">
            <a:avLst/>
          </a:prstGeom>
          <a:noFill/>
          <a:ln/>
        </p:spPr>
        <p:txBody>
          <a:bodyPr wrap="square" lIns="0" tIns="0" rIns="0" bIns="0" rtlCol="0" anchor="ctr"/>
          <a:lstStyle/>
          <a:p>
            <a:pPr marL="0" indent="0" algn="ctr">
              <a:buNone/>
            </a:pPr>
            <a:r>
              <a:rPr lang="en-US" sz="1420" b="1" dirty="0">
                <a:solidFill>
                  <a:srgbClr val="F8FAFC"/>
                </a:solidFill>
                <a:latin typeface="Aptos Display" pitchFamily="34" charset="0"/>
                <a:ea typeface="Aptos Display" pitchFamily="34" charset="-122"/>
                <a:cs typeface="Aptos Display" pitchFamily="34" charset="-120"/>
              </a:rPr>
              <a:t>Dynamics</a:t>
            </a:r>
            <a:endParaRPr lang="en-US" sz="1420" dirty="0"/>
          </a:p>
        </p:txBody>
      </p:sp>
      <p:sp>
        <p:nvSpPr>
          <p:cNvPr id="30" name="Text 28"/>
          <p:cNvSpPr/>
          <p:nvPr/>
        </p:nvSpPr>
        <p:spPr>
          <a:xfrm>
            <a:off x="6272784" y="5093208"/>
            <a:ext cx="2057400" cy="182880"/>
          </a:xfrm>
          <a:prstGeom prst="rect">
            <a:avLst/>
          </a:prstGeom>
          <a:noFill/>
          <a:ln/>
        </p:spPr>
        <p:txBody>
          <a:bodyPr wrap="square" lIns="0" tIns="0" rIns="0" bIns="0" rtlCol="0" anchor="ctr">
            <a:normAutofit/>
          </a:bodyPr>
          <a:lstStyle/>
          <a:p>
            <a:pPr marL="0" indent="0" algn="ctr">
              <a:buNone/>
            </a:pPr>
            <a:r>
              <a:rPr lang="en-US" sz="940" dirty="0">
                <a:solidFill>
                  <a:srgbClr val="B6C2D5"/>
                </a:solidFill>
                <a:latin typeface="Aptos" pitchFamily="34" charset="0"/>
                <a:ea typeface="Aptos" pitchFamily="34" charset="-122"/>
                <a:cs typeface="Aptos" pitchFamily="34" charset="-120"/>
              </a:rPr>
              <a:t>motion, force, cause-effect</a:t>
            </a:r>
            <a:endParaRPr lang="en-US" sz="940" dirty="0"/>
          </a:p>
        </p:txBody>
      </p:sp>
      <p:sp>
        <p:nvSpPr>
          <p:cNvPr id="31" name="Shape 29"/>
          <p:cNvSpPr/>
          <p:nvPr/>
        </p:nvSpPr>
        <p:spPr>
          <a:xfrm>
            <a:off x="8677656" y="4709160"/>
            <a:ext cx="2331720" cy="731520"/>
          </a:xfrm>
          <a:prstGeom prst="roundRect">
            <a:avLst>
              <a:gd name="adj" fmla="val 12500"/>
            </a:avLst>
          </a:prstGeom>
          <a:solidFill>
            <a:srgbClr val="12213B">
              <a:alpha val="96000"/>
            </a:srgbClr>
          </a:solidFill>
          <a:ln w="10160">
            <a:solidFill>
              <a:srgbClr val="22C55E">
                <a:alpha val="50000"/>
              </a:srgbClr>
            </a:solidFill>
            <a:prstDash val="solid"/>
          </a:ln>
        </p:spPr>
        <p:txBody>
          <a:bodyPr/>
          <a:lstStyle/>
          <a:p>
            <a:endParaRPr lang="en-US"/>
          </a:p>
        </p:txBody>
      </p:sp>
      <p:sp>
        <p:nvSpPr>
          <p:cNvPr id="32" name="Text 30"/>
          <p:cNvSpPr/>
          <p:nvPr/>
        </p:nvSpPr>
        <p:spPr>
          <a:xfrm>
            <a:off x="8787384" y="4828032"/>
            <a:ext cx="2103120" cy="201168"/>
          </a:xfrm>
          <a:prstGeom prst="rect">
            <a:avLst/>
          </a:prstGeom>
          <a:noFill/>
          <a:ln/>
        </p:spPr>
        <p:txBody>
          <a:bodyPr wrap="square" lIns="0" tIns="0" rIns="0" bIns="0" rtlCol="0" anchor="ctr"/>
          <a:lstStyle/>
          <a:p>
            <a:pPr marL="0" indent="0" algn="ctr">
              <a:buNone/>
            </a:pPr>
            <a:r>
              <a:rPr lang="en-US" sz="1420" b="1" dirty="0">
                <a:solidFill>
                  <a:srgbClr val="F8FAFC"/>
                </a:solidFill>
                <a:latin typeface="Aptos Display" pitchFamily="34" charset="0"/>
                <a:ea typeface="Aptos Display" pitchFamily="34" charset="-122"/>
                <a:cs typeface="Aptos Display" pitchFamily="34" charset="-120"/>
              </a:rPr>
              <a:t>Uncertainty</a:t>
            </a:r>
            <a:endParaRPr lang="en-US" sz="1420" dirty="0"/>
          </a:p>
        </p:txBody>
      </p:sp>
      <p:sp>
        <p:nvSpPr>
          <p:cNvPr id="33" name="Text 31"/>
          <p:cNvSpPr/>
          <p:nvPr/>
        </p:nvSpPr>
        <p:spPr>
          <a:xfrm>
            <a:off x="8814816" y="5093208"/>
            <a:ext cx="2057400" cy="182880"/>
          </a:xfrm>
          <a:prstGeom prst="rect">
            <a:avLst/>
          </a:prstGeom>
          <a:noFill/>
          <a:ln/>
        </p:spPr>
        <p:txBody>
          <a:bodyPr wrap="square" lIns="0" tIns="0" rIns="0" bIns="0" rtlCol="0" anchor="ctr">
            <a:normAutofit/>
          </a:bodyPr>
          <a:lstStyle/>
          <a:p>
            <a:pPr marL="0" indent="0" algn="ctr">
              <a:buNone/>
            </a:pPr>
            <a:r>
              <a:rPr lang="en-US" sz="940" dirty="0">
                <a:solidFill>
                  <a:srgbClr val="B6C2D5"/>
                </a:solidFill>
                <a:latin typeface="Aptos" pitchFamily="34" charset="0"/>
                <a:ea typeface="Aptos" pitchFamily="34" charset="-122"/>
                <a:cs typeface="Aptos" pitchFamily="34" charset="-120"/>
              </a:rPr>
              <a:t>confidence, hidden state, risk</a:t>
            </a:r>
            <a:endParaRPr lang="en-US" sz="940" dirty="0"/>
          </a:p>
        </p:txBody>
      </p:sp>
      <p:sp>
        <p:nvSpPr>
          <p:cNvPr id="34" name="Shape 32"/>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5" name="Text 33"/>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36" name="Text 34"/>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08</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09</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Foundation models add generalization</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The trend is toward models that transfer knowledge across tasks, objects, and robot bodies.</a:t>
            </a:r>
            <a:endParaRPr lang="en-US" sz="1450" dirty="0"/>
          </a:p>
        </p:txBody>
      </p:sp>
      <p:sp>
        <p:nvSpPr>
          <p:cNvPr id="7" name="Shape 5"/>
          <p:cNvSpPr/>
          <p:nvPr/>
        </p:nvSpPr>
        <p:spPr>
          <a:xfrm>
            <a:off x="841248" y="2103120"/>
            <a:ext cx="5212080" cy="868680"/>
          </a:xfrm>
          <a:prstGeom prst="roundRect">
            <a:avLst>
              <a:gd name="adj" fmla="val 12632"/>
            </a:avLst>
          </a:prstGeom>
          <a:solidFill>
            <a:srgbClr val="12213B"/>
          </a:solidFill>
          <a:ln w="12065">
            <a:solidFill>
              <a:srgbClr val="31D8FF">
                <a:alpha val="65000"/>
              </a:srgbClr>
            </a:solidFill>
            <a:prstDash val="solid"/>
          </a:ln>
        </p:spPr>
        <p:txBody>
          <a:bodyPr/>
          <a:lstStyle/>
          <a:p>
            <a:endParaRPr lang="en-US"/>
          </a:p>
        </p:txBody>
      </p:sp>
      <p:sp>
        <p:nvSpPr>
          <p:cNvPr id="8" name="Text 6"/>
          <p:cNvSpPr/>
          <p:nvPr/>
        </p:nvSpPr>
        <p:spPr>
          <a:xfrm>
            <a:off x="1051560" y="2267712"/>
            <a:ext cx="4754880" cy="256032"/>
          </a:xfrm>
          <a:prstGeom prst="rect">
            <a:avLst/>
          </a:prstGeom>
          <a:noFill/>
          <a:ln/>
        </p:spPr>
        <p:txBody>
          <a:bodyPr wrap="square" lIns="0" tIns="0" rIns="0" bIns="0" rtlCol="0" anchor="ctr"/>
          <a:lstStyle/>
          <a:p>
            <a:pPr marL="0" indent="0">
              <a:buNone/>
            </a:pPr>
            <a:r>
              <a:rPr lang="en-US" sz="1680" b="1" dirty="0">
                <a:solidFill>
                  <a:srgbClr val="F8FAFC"/>
                </a:solidFill>
                <a:latin typeface="Aptos Display" pitchFamily="34" charset="0"/>
                <a:ea typeface="Aptos Display" pitchFamily="34" charset="-122"/>
                <a:cs typeface="Aptos Display" pitchFamily="34" charset="-120"/>
              </a:rPr>
              <a:t>Vision-language models</a:t>
            </a:r>
            <a:endParaRPr lang="en-US" sz="1680" dirty="0"/>
          </a:p>
        </p:txBody>
      </p:sp>
      <p:sp>
        <p:nvSpPr>
          <p:cNvPr id="9" name="Text 7"/>
          <p:cNvSpPr/>
          <p:nvPr/>
        </p:nvSpPr>
        <p:spPr>
          <a:xfrm>
            <a:off x="1051560" y="2606040"/>
            <a:ext cx="4709160" cy="228600"/>
          </a:xfrm>
          <a:prstGeom prst="rect">
            <a:avLst/>
          </a:prstGeom>
          <a:noFill/>
          <a:ln/>
        </p:spPr>
        <p:txBody>
          <a:bodyPr wrap="square" lIns="0" tIns="0" rIns="0" bIns="0" rtlCol="0" anchor="ctr">
            <a:normAutofit/>
          </a:bodyPr>
          <a:lstStyle/>
          <a:p>
            <a:pPr marL="0" indent="0">
              <a:buNone/>
            </a:pPr>
            <a:r>
              <a:rPr lang="en-US" sz="1120" dirty="0">
                <a:solidFill>
                  <a:srgbClr val="B6C2D5"/>
                </a:solidFill>
                <a:latin typeface="Aptos" pitchFamily="34" charset="0"/>
                <a:ea typeface="Aptos" pitchFamily="34" charset="-122"/>
                <a:cs typeface="Aptos" pitchFamily="34" charset="-120"/>
              </a:rPr>
              <a:t>interpret images, objects, scenes, and instructions</a:t>
            </a:r>
            <a:endParaRPr lang="en-US" sz="1120" dirty="0"/>
          </a:p>
        </p:txBody>
      </p:sp>
      <p:sp>
        <p:nvSpPr>
          <p:cNvPr id="10" name="Shape 8"/>
          <p:cNvSpPr/>
          <p:nvPr/>
        </p:nvSpPr>
        <p:spPr>
          <a:xfrm>
            <a:off x="841248" y="3127248"/>
            <a:ext cx="5212080" cy="868680"/>
          </a:xfrm>
          <a:prstGeom prst="roundRect">
            <a:avLst>
              <a:gd name="adj" fmla="val 12632"/>
            </a:avLst>
          </a:prstGeom>
          <a:solidFill>
            <a:srgbClr val="12213B"/>
          </a:solidFill>
          <a:ln w="12065">
            <a:solidFill>
              <a:srgbClr val="3B82F6">
                <a:alpha val="65000"/>
              </a:srgbClr>
            </a:solidFill>
            <a:prstDash val="solid"/>
          </a:ln>
        </p:spPr>
        <p:txBody>
          <a:bodyPr/>
          <a:lstStyle/>
          <a:p>
            <a:endParaRPr lang="en-US"/>
          </a:p>
        </p:txBody>
      </p:sp>
      <p:sp>
        <p:nvSpPr>
          <p:cNvPr id="11" name="Text 9"/>
          <p:cNvSpPr/>
          <p:nvPr/>
        </p:nvSpPr>
        <p:spPr>
          <a:xfrm>
            <a:off x="1051560" y="3291840"/>
            <a:ext cx="4754880" cy="256032"/>
          </a:xfrm>
          <a:prstGeom prst="rect">
            <a:avLst/>
          </a:prstGeom>
          <a:noFill/>
          <a:ln/>
        </p:spPr>
        <p:txBody>
          <a:bodyPr wrap="square" lIns="0" tIns="0" rIns="0" bIns="0" rtlCol="0" anchor="ctr"/>
          <a:lstStyle/>
          <a:p>
            <a:pPr marL="0" indent="0">
              <a:buNone/>
            </a:pPr>
            <a:r>
              <a:rPr lang="en-US" sz="1680" b="1" dirty="0">
                <a:solidFill>
                  <a:srgbClr val="F8FAFC"/>
                </a:solidFill>
                <a:latin typeface="Aptos Display" pitchFamily="34" charset="0"/>
                <a:ea typeface="Aptos Display" pitchFamily="34" charset="-122"/>
                <a:cs typeface="Aptos Display" pitchFamily="34" charset="-120"/>
              </a:rPr>
              <a:t>Vision-language-action models</a:t>
            </a:r>
            <a:endParaRPr lang="en-US" sz="1680" dirty="0"/>
          </a:p>
        </p:txBody>
      </p:sp>
      <p:sp>
        <p:nvSpPr>
          <p:cNvPr id="12" name="Text 10"/>
          <p:cNvSpPr/>
          <p:nvPr/>
        </p:nvSpPr>
        <p:spPr>
          <a:xfrm>
            <a:off x="1051560" y="3630168"/>
            <a:ext cx="4709160" cy="228600"/>
          </a:xfrm>
          <a:prstGeom prst="rect">
            <a:avLst/>
          </a:prstGeom>
          <a:noFill/>
          <a:ln/>
        </p:spPr>
        <p:txBody>
          <a:bodyPr wrap="square" lIns="0" tIns="0" rIns="0" bIns="0" rtlCol="0" anchor="ctr">
            <a:normAutofit/>
          </a:bodyPr>
          <a:lstStyle/>
          <a:p>
            <a:pPr marL="0" indent="0">
              <a:buNone/>
            </a:pPr>
            <a:r>
              <a:rPr lang="en-US" sz="1120" dirty="0">
                <a:solidFill>
                  <a:srgbClr val="B6C2D5"/>
                </a:solidFill>
                <a:latin typeface="Aptos" pitchFamily="34" charset="0"/>
                <a:ea typeface="Aptos" pitchFamily="34" charset="-122"/>
                <a:cs typeface="Aptos" pitchFamily="34" charset="-120"/>
              </a:rPr>
              <a:t>map observations and commands toward robot actions</a:t>
            </a:r>
            <a:endParaRPr lang="en-US" sz="1120" dirty="0"/>
          </a:p>
        </p:txBody>
      </p:sp>
      <p:sp>
        <p:nvSpPr>
          <p:cNvPr id="13" name="Shape 11"/>
          <p:cNvSpPr/>
          <p:nvPr/>
        </p:nvSpPr>
        <p:spPr>
          <a:xfrm>
            <a:off x="841248" y="4151376"/>
            <a:ext cx="5212080" cy="868680"/>
          </a:xfrm>
          <a:prstGeom prst="roundRect">
            <a:avLst>
              <a:gd name="adj" fmla="val 12632"/>
            </a:avLst>
          </a:prstGeom>
          <a:solidFill>
            <a:srgbClr val="12213B"/>
          </a:solidFill>
          <a:ln w="12065">
            <a:solidFill>
              <a:srgbClr val="F59E0B">
                <a:alpha val="65000"/>
              </a:srgbClr>
            </a:solidFill>
            <a:prstDash val="solid"/>
          </a:ln>
        </p:spPr>
        <p:txBody>
          <a:bodyPr/>
          <a:lstStyle/>
          <a:p>
            <a:endParaRPr lang="en-US"/>
          </a:p>
        </p:txBody>
      </p:sp>
      <p:sp>
        <p:nvSpPr>
          <p:cNvPr id="14" name="Text 12"/>
          <p:cNvSpPr/>
          <p:nvPr/>
        </p:nvSpPr>
        <p:spPr>
          <a:xfrm>
            <a:off x="1051560" y="4315968"/>
            <a:ext cx="4754880" cy="256032"/>
          </a:xfrm>
          <a:prstGeom prst="rect">
            <a:avLst/>
          </a:prstGeom>
          <a:noFill/>
          <a:ln/>
        </p:spPr>
        <p:txBody>
          <a:bodyPr wrap="square" lIns="0" tIns="0" rIns="0" bIns="0" rtlCol="0" anchor="ctr"/>
          <a:lstStyle/>
          <a:p>
            <a:pPr marL="0" indent="0">
              <a:buNone/>
            </a:pPr>
            <a:r>
              <a:rPr lang="en-US" sz="1680" b="1" dirty="0">
                <a:solidFill>
                  <a:srgbClr val="F8FAFC"/>
                </a:solidFill>
                <a:latin typeface="Aptos Display" pitchFamily="34" charset="0"/>
                <a:ea typeface="Aptos Display" pitchFamily="34" charset="-122"/>
                <a:cs typeface="Aptos Display" pitchFamily="34" charset="-120"/>
              </a:rPr>
              <a:t>Generalist robot policies</a:t>
            </a:r>
            <a:endParaRPr lang="en-US" sz="1680" dirty="0"/>
          </a:p>
        </p:txBody>
      </p:sp>
      <p:sp>
        <p:nvSpPr>
          <p:cNvPr id="15" name="Text 13"/>
          <p:cNvSpPr/>
          <p:nvPr/>
        </p:nvSpPr>
        <p:spPr>
          <a:xfrm>
            <a:off x="1051560" y="4654296"/>
            <a:ext cx="4709160" cy="228600"/>
          </a:xfrm>
          <a:prstGeom prst="rect">
            <a:avLst/>
          </a:prstGeom>
          <a:noFill/>
          <a:ln/>
        </p:spPr>
        <p:txBody>
          <a:bodyPr wrap="square" lIns="0" tIns="0" rIns="0" bIns="0" rtlCol="0" anchor="ctr">
            <a:normAutofit/>
          </a:bodyPr>
          <a:lstStyle/>
          <a:p>
            <a:pPr marL="0" indent="0">
              <a:buNone/>
            </a:pPr>
            <a:r>
              <a:rPr lang="en-US" sz="1120" dirty="0">
                <a:solidFill>
                  <a:srgbClr val="B6C2D5"/>
                </a:solidFill>
                <a:latin typeface="Aptos" pitchFamily="34" charset="0"/>
                <a:ea typeface="Aptos" pitchFamily="34" charset="-122"/>
                <a:cs typeface="Aptos" pitchFamily="34" charset="-120"/>
              </a:rPr>
              <a:t>pretrained across many tasks and embodiments, then fine-tuned</a:t>
            </a:r>
            <a:endParaRPr lang="en-US" sz="1120" dirty="0"/>
          </a:p>
        </p:txBody>
      </p:sp>
      <p:sp>
        <p:nvSpPr>
          <p:cNvPr id="16" name="Shape 14"/>
          <p:cNvSpPr/>
          <p:nvPr/>
        </p:nvSpPr>
        <p:spPr>
          <a:xfrm>
            <a:off x="6492240" y="2057400"/>
            <a:ext cx="4800600" cy="3246120"/>
          </a:xfrm>
          <a:prstGeom prst="roundRect">
            <a:avLst>
              <a:gd name="adj" fmla="val 4507"/>
            </a:avLst>
          </a:prstGeom>
          <a:solidFill>
            <a:srgbClr val="0F1C33"/>
          </a:solidFill>
          <a:ln w="10160">
            <a:solidFill>
              <a:srgbClr val="25436C">
                <a:alpha val="70000"/>
              </a:srgbClr>
            </a:solidFill>
            <a:prstDash val="solid"/>
          </a:ln>
        </p:spPr>
        <p:txBody>
          <a:bodyPr/>
          <a:lstStyle/>
          <a:p>
            <a:endParaRPr lang="en-US"/>
          </a:p>
        </p:txBody>
      </p:sp>
      <p:sp>
        <p:nvSpPr>
          <p:cNvPr id="17" name="Text 15"/>
          <p:cNvSpPr/>
          <p:nvPr/>
        </p:nvSpPr>
        <p:spPr>
          <a:xfrm>
            <a:off x="6784848" y="2267712"/>
            <a:ext cx="4206240" cy="301752"/>
          </a:xfrm>
          <a:prstGeom prst="rect">
            <a:avLst/>
          </a:prstGeom>
          <a:noFill/>
          <a:ln/>
        </p:spPr>
        <p:txBody>
          <a:bodyPr wrap="square" lIns="0" tIns="0" rIns="0" bIns="0" rtlCol="0" anchor="ctr"/>
          <a:lstStyle/>
          <a:p>
            <a:pPr marL="0" indent="0">
              <a:buNone/>
            </a:pPr>
            <a:r>
              <a:rPr lang="en-US" sz="1850" b="1" dirty="0">
                <a:solidFill>
                  <a:srgbClr val="F8FAFC"/>
                </a:solidFill>
                <a:latin typeface="Aptos Display" pitchFamily="34" charset="0"/>
                <a:ea typeface="Aptos Display" pitchFamily="34" charset="-122"/>
                <a:cs typeface="Aptos Display" pitchFamily="34" charset="-120"/>
              </a:rPr>
              <a:t>Research examples</a:t>
            </a:r>
            <a:endParaRPr lang="en-US" sz="1850" dirty="0"/>
          </a:p>
        </p:txBody>
      </p:sp>
      <p:sp>
        <p:nvSpPr>
          <p:cNvPr id="18" name="Shape 16"/>
          <p:cNvSpPr/>
          <p:nvPr/>
        </p:nvSpPr>
        <p:spPr>
          <a:xfrm>
            <a:off x="6793992" y="2907792"/>
            <a:ext cx="182880" cy="182880"/>
          </a:xfrm>
          <a:prstGeom prst="ellipse">
            <a:avLst/>
          </a:prstGeom>
          <a:solidFill>
            <a:srgbClr val="31D8FF"/>
          </a:solidFill>
          <a:ln w="12700">
            <a:solidFill>
              <a:srgbClr val="31D8FF">
                <a:alpha val="0"/>
              </a:srgbClr>
            </a:solidFill>
            <a:prstDash val="solid"/>
          </a:ln>
        </p:spPr>
        <p:txBody>
          <a:bodyPr/>
          <a:lstStyle/>
          <a:p>
            <a:endParaRPr lang="en-US"/>
          </a:p>
        </p:txBody>
      </p:sp>
      <p:sp>
        <p:nvSpPr>
          <p:cNvPr id="19" name="Text 17"/>
          <p:cNvSpPr/>
          <p:nvPr/>
        </p:nvSpPr>
        <p:spPr>
          <a:xfrm>
            <a:off x="7114032" y="2871216"/>
            <a:ext cx="1143000" cy="228600"/>
          </a:xfrm>
          <a:prstGeom prst="rect">
            <a:avLst/>
          </a:prstGeom>
          <a:noFill/>
          <a:ln/>
        </p:spPr>
        <p:txBody>
          <a:bodyPr wrap="square" lIns="0" tIns="0" rIns="0" bIns="0" rtlCol="0" anchor="ctr"/>
          <a:lstStyle/>
          <a:p>
            <a:pPr marL="0" indent="0">
              <a:buNone/>
            </a:pPr>
            <a:r>
              <a:rPr lang="en-US" sz="1350" b="1" dirty="0">
                <a:solidFill>
                  <a:srgbClr val="F8FAFC"/>
                </a:solidFill>
                <a:latin typeface="Aptos Display" pitchFamily="34" charset="0"/>
                <a:ea typeface="Aptos Display" pitchFamily="34" charset="-122"/>
                <a:cs typeface="Aptos Display" pitchFamily="34" charset="-120"/>
              </a:rPr>
              <a:t>RT-2</a:t>
            </a:r>
            <a:endParaRPr lang="en-US" sz="1350" dirty="0"/>
          </a:p>
        </p:txBody>
      </p:sp>
      <p:sp>
        <p:nvSpPr>
          <p:cNvPr id="20" name="Text 18"/>
          <p:cNvSpPr/>
          <p:nvPr/>
        </p:nvSpPr>
        <p:spPr>
          <a:xfrm>
            <a:off x="8394192" y="2871216"/>
            <a:ext cx="2487168" cy="347472"/>
          </a:xfrm>
          <a:prstGeom prst="rect">
            <a:avLst/>
          </a:prstGeom>
          <a:noFill/>
          <a:ln/>
        </p:spPr>
        <p:txBody>
          <a:bodyPr wrap="square" lIns="0" tIns="0" rIns="0" bIns="0" rtlCol="0" anchor="ctr">
            <a:normAutofit/>
          </a:bodyPr>
          <a:lstStyle/>
          <a:p>
            <a:pPr marL="0" indent="0">
              <a:buNone/>
            </a:pPr>
            <a:r>
              <a:rPr lang="en-US" sz="1010" dirty="0">
                <a:solidFill>
                  <a:srgbClr val="B6C2D5"/>
                </a:solidFill>
                <a:latin typeface="Aptos" pitchFamily="34" charset="0"/>
                <a:ea typeface="Aptos" pitchFamily="34" charset="-122"/>
                <a:cs typeface="Aptos" pitchFamily="34" charset="-120"/>
              </a:rPr>
              <a:t>web-scale vision-language knowledge transferred into robotic control</a:t>
            </a:r>
            <a:endParaRPr lang="en-US" sz="1010" dirty="0"/>
          </a:p>
        </p:txBody>
      </p:sp>
      <p:sp>
        <p:nvSpPr>
          <p:cNvPr id="21" name="Shape 19"/>
          <p:cNvSpPr/>
          <p:nvPr/>
        </p:nvSpPr>
        <p:spPr>
          <a:xfrm>
            <a:off x="6793992" y="3694176"/>
            <a:ext cx="182880" cy="182880"/>
          </a:xfrm>
          <a:prstGeom prst="ellipse">
            <a:avLst/>
          </a:prstGeom>
          <a:solidFill>
            <a:srgbClr val="3B82F6"/>
          </a:solidFill>
          <a:ln w="12700">
            <a:solidFill>
              <a:srgbClr val="3B82F6">
                <a:alpha val="0"/>
              </a:srgbClr>
            </a:solidFill>
            <a:prstDash val="solid"/>
          </a:ln>
        </p:spPr>
        <p:txBody>
          <a:bodyPr/>
          <a:lstStyle/>
          <a:p>
            <a:endParaRPr lang="en-US"/>
          </a:p>
        </p:txBody>
      </p:sp>
      <p:sp>
        <p:nvSpPr>
          <p:cNvPr id="22" name="Text 20"/>
          <p:cNvSpPr/>
          <p:nvPr/>
        </p:nvSpPr>
        <p:spPr>
          <a:xfrm>
            <a:off x="7114032" y="3657600"/>
            <a:ext cx="1143000" cy="228600"/>
          </a:xfrm>
          <a:prstGeom prst="rect">
            <a:avLst/>
          </a:prstGeom>
          <a:noFill/>
          <a:ln/>
        </p:spPr>
        <p:txBody>
          <a:bodyPr wrap="square" lIns="0" tIns="0" rIns="0" bIns="0" rtlCol="0" anchor="ctr"/>
          <a:lstStyle/>
          <a:p>
            <a:pPr marL="0" indent="0">
              <a:buNone/>
            </a:pPr>
            <a:r>
              <a:rPr lang="en-US" sz="1350" b="1" dirty="0">
                <a:solidFill>
                  <a:srgbClr val="F8FAFC"/>
                </a:solidFill>
                <a:latin typeface="Aptos Display" pitchFamily="34" charset="0"/>
                <a:ea typeface="Aptos Display" pitchFamily="34" charset="-122"/>
                <a:cs typeface="Aptos Display" pitchFamily="34" charset="-120"/>
              </a:rPr>
              <a:t>Open X-Embodiment</a:t>
            </a:r>
            <a:endParaRPr lang="en-US" sz="1350" dirty="0"/>
          </a:p>
        </p:txBody>
      </p:sp>
      <p:sp>
        <p:nvSpPr>
          <p:cNvPr id="23" name="Text 21"/>
          <p:cNvSpPr/>
          <p:nvPr/>
        </p:nvSpPr>
        <p:spPr>
          <a:xfrm>
            <a:off x="8394192" y="3657600"/>
            <a:ext cx="2487168" cy="347472"/>
          </a:xfrm>
          <a:prstGeom prst="rect">
            <a:avLst/>
          </a:prstGeom>
          <a:noFill/>
          <a:ln/>
        </p:spPr>
        <p:txBody>
          <a:bodyPr wrap="square" lIns="0" tIns="0" rIns="0" bIns="0" rtlCol="0" anchor="ctr">
            <a:normAutofit/>
          </a:bodyPr>
          <a:lstStyle/>
          <a:p>
            <a:pPr marL="0" indent="0">
              <a:buNone/>
            </a:pPr>
            <a:r>
              <a:rPr lang="en-US" sz="1010" dirty="0">
                <a:solidFill>
                  <a:srgbClr val="B6C2D5"/>
                </a:solidFill>
                <a:latin typeface="Aptos" pitchFamily="34" charset="0"/>
                <a:ea typeface="Aptos" pitchFamily="34" charset="-122"/>
                <a:cs typeface="Aptos" pitchFamily="34" charset="-120"/>
              </a:rPr>
              <a:t>22 robots, 527 skills, shared datasets for cross-robot transfer</a:t>
            </a:r>
            <a:endParaRPr lang="en-US" sz="1010" dirty="0"/>
          </a:p>
        </p:txBody>
      </p:sp>
      <p:sp>
        <p:nvSpPr>
          <p:cNvPr id="24" name="Shape 22"/>
          <p:cNvSpPr/>
          <p:nvPr/>
        </p:nvSpPr>
        <p:spPr>
          <a:xfrm>
            <a:off x="6793992" y="4480560"/>
            <a:ext cx="182880" cy="182880"/>
          </a:xfrm>
          <a:prstGeom prst="ellipse">
            <a:avLst/>
          </a:prstGeom>
          <a:solidFill>
            <a:srgbClr val="F59E0B"/>
          </a:solidFill>
          <a:ln w="12700">
            <a:solidFill>
              <a:srgbClr val="F59E0B">
                <a:alpha val="0"/>
              </a:srgbClr>
            </a:solidFill>
            <a:prstDash val="solid"/>
          </a:ln>
        </p:spPr>
        <p:txBody>
          <a:bodyPr/>
          <a:lstStyle/>
          <a:p>
            <a:endParaRPr lang="en-US"/>
          </a:p>
        </p:txBody>
      </p:sp>
      <p:sp>
        <p:nvSpPr>
          <p:cNvPr id="25" name="Text 23"/>
          <p:cNvSpPr/>
          <p:nvPr/>
        </p:nvSpPr>
        <p:spPr>
          <a:xfrm>
            <a:off x="7114032" y="4443984"/>
            <a:ext cx="1143000" cy="228600"/>
          </a:xfrm>
          <a:prstGeom prst="rect">
            <a:avLst/>
          </a:prstGeom>
          <a:noFill/>
          <a:ln/>
        </p:spPr>
        <p:txBody>
          <a:bodyPr wrap="square" lIns="0" tIns="0" rIns="0" bIns="0" rtlCol="0" anchor="ctr"/>
          <a:lstStyle/>
          <a:p>
            <a:pPr marL="0" indent="0">
              <a:buNone/>
            </a:pPr>
            <a:r>
              <a:rPr lang="en-US" sz="1350" b="1" dirty="0">
                <a:solidFill>
                  <a:srgbClr val="F8FAFC"/>
                </a:solidFill>
                <a:latin typeface="Aptos Display" pitchFamily="34" charset="0"/>
                <a:ea typeface="Aptos Display" pitchFamily="34" charset="-122"/>
                <a:cs typeface="Aptos Display" pitchFamily="34" charset="-120"/>
              </a:rPr>
              <a:t>Octo</a:t>
            </a:r>
            <a:endParaRPr lang="en-US" sz="1350" dirty="0"/>
          </a:p>
        </p:txBody>
      </p:sp>
      <p:sp>
        <p:nvSpPr>
          <p:cNvPr id="26" name="Text 24"/>
          <p:cNvSpPr/>
          <p:nvPr/>
        </p:nvSpPr>
        <p:spPr>
          <a:xfrm>
            <a:off x="8394192" y="4443984"/>
            <a:ext cx="2487168" cy="347472"/>
          </a:xfrm>
          <a:prstGeom prst="rect">
            <a:avLst/>
          </a:prstGeom>
          <a:noFill/>
          <a:ln/>
        </p:spPr>
        <p:txBody>
          <a:bodyPr wrap="square" lIns="0" tIns="0" rIns="0" bIns="0" rtlCol="0" anchor="ctr">
            <a:normAutofit/>
          </a:bodyPr>
          <a:lstStyle/>
          <a:p>
            <a:pPr marL="0" indent="0">
              <a:buNone/>
            </a:pPr>
            <a:r>
              <a:rPr lang="en-US" sz="1010" dirty="0">
                <a:solidFill>
                  <a:srgbClr val="B6C2D5"/>
                </a:solidFill>
                <a:latin typeface="Aptos" pitchFamily="34" charset="0"/>
                <a:ea typeface="Aptos" pitchFamily="34" charset="-122"/>
                <a:cs typeface="Aptos" pitchFamily="34" charset="-120"/>
              </a:rPr>
              <a:t>open generalist manipulation policy trained on 800k robot episodes</a:t>
            </a:r>
            <a:endParaRPr lang="en-US" sz="1010" dirty="0"/>
          </a:p>
        </p:txBody>
      </p:sp>
      <p:sp>
        <p:nvSpPr>
          <p:cNvPr id="27" name="Shape 25"/>
          <p:cNvSpPr/>
          <p:nvPr/>
        </p:nvSpPr>
        <p:spPr>
          <a:xfrm>
            <a:off x="868680" y="5522976"/>
            <a:ext cx="10424160" cy="502920"/>
          </a:xfrm>
          <a:prstGeom prst="roundRect">
            <a:avLst>
              <a:gd name="adj" fmla="val 21818"/>
            </a:avLst>
          </a:prstGeom>
          <a:solidFill>
            <a:srgbClr val="12213B"/>
          </a:solidFill>
          <a:ln w="11430">
            <a:solidFill>
              <a:srgbClr val="EF4444">
                <a:alpha val="55000"/>
              </a:srgbClr>
            </a:solidFill>
            <a:prstDash val="solid"/>
          </a:ln>
        </p:spPr>
        <p:txBody>
          <a:bodyPr/>
          <a:lstStyle/>
          <a:p>
            <a:endParaRPr lang="en-US"/>
          </a:p>
        </p:txBody>
      </p:sp>
      <p:sp>
        <p:nvSpPr>
          <p:cNvPr id="28" name="Shape 26"/>
          <p:cNvSpPr/>
          <p:nvPr/>
        </p:nvSpPr>
        <p:spPr>
          <a:xfrm>
            <a:off x="868680" y="5522976"/>
            <a:ext cx="64008" cy="502920"/>
          </a:xfrm>
          <a:prstGeom prst="rect">
            <a:avLst/>
          </a:prstGeom>
          <a:solidFill>
            <a:srgbClr val="EF4444"/>
          </a:solidFill>
          <a:ln w="12700">
            <a:solidFill>
              <a:srgbClr val="EF4444">
                <a:alpha val="0"/>
              </a:srgbClr>
            </a:solidFill>
            <a:prstDash val="solid"/>
          </a:ln>
        </p:spPr>
        <p:txBody>
          <a:bodyPr/>
          <a:lstStyle/>
          <a:p>
            <a:endParaRPr lang="en-US"/>
          </a:p>
        </p:txBody>
      </p:sp>
      <p:sp>
        <p:nvSpPr>
          <p:cNvPr id="29" name="Text 27"/>
          <p:cNvSpPr/>
          <p:nvPr/>
        </p:nvSpPr>
        <p:spPr>
          <a:xfrm>
            <a:off x="1033272" y="5632704"/>
            <a:ext cx="10131552" cy="320040"/>
          </a:xfrm>
          <a:prstGeom prst="rect">
            <a:avLst/>
          </a:prstGeom>
          <a:noFill/>
          <a:ln/>
        </p:spPr>
        <p:txBody>
          <a:bodyPr wrap="square" lIns="254" tIns="254" rIns="254" bIns="254" rtlCol="0" anchor="ctr">
            <a:normAutofit/>
          </a:bodyPr>
          <a:lstStyle/>
          <a:p>
            <a:pPr marL="0" indent="0">
              <a:buNone/>
            </a:pPr>
            <a:r>
              <a:rPr lang="en-US" sz="1400" dirty="0">
                <a:solidFill>
                  <a:srgbClr val="F8FAFC"/>
                </a:solidFill>
                <a:latin typeface="Aptos" pitchFamily="34" charset="0"/>
                <a:ea typeface="Aptos" pitchFamily="34" charset="-122"/>
                <a:cs typeface="Aptos" pitchFamily="34" charset="-120"/>
              </a:rPr>
              <a:t>Caveat: bigger models do not remove the need for control, safety limits, and task-specific validation.</a:t>
            </a:r>
            <a:endParaRPr lang="en-US" sz="1400" dirty="0"/>
          </a:p>
        </p:txBody>
      </p:sp>
      <p:sp>
        <p:nvSpPr>
          <p:cNvPr id="30" name="Text 28"/>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Sources: Google DeepMind RT-2; Open X-Embodiment; Octo project pages.</a:t>
            </a:r>
            <a:endParaRPr lang="en-US" sz="760" dirty="0"/>
          </a:p>
        </p:txBody>
      </p:sp>
      <p:sp>
        <p:nvSpPr>
          <p:cNvPr id="31" name="Shape 29"/>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2" name="Text 30"/>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33" name="Text 31"/>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09</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wide_ultra_detailed_sci_fi_tech_infographic_scene_batch_2.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F">
              <a:alpha val="64000"/>
            </a:srgbClr>
          </a:solidFill>
          <a:ln w="12700">
            <a:solidFill>
              <a:srgbClr val="07101F">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7101F">
              <a:alpha val="68000"/>
            </a:srgbClr>
          </a:solidFill>
          <a:ln w="12700">
            <a:solidFill>
              <a:srgbClr val="07101F">
                <a:alpha val="0"/>
              </a:srgbClr>
            </a:solidFill>
            <a:prstDash val="solid"/>
          </a:ln>
        </p:spPr>
        <p:txBody>
          <a:bodyPr/>
          <a:lstStyle/>
          <a:p>
            <a:endParaRPr lang="en-US"/>
          </a:p>
        </p:txBody>
      </p:sp>
      <p:sp>
        <p:nvSpPr>
          <p:cNvPr id="5" name="Text 2"/>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10</a:t>
            </a:r>
            <a:endParaRPr lang="en-US" sz="950" dirty="0"/>
          </a:p>
        </p:txBody>
      </p:sp>
      <p:sp>
        <p:nvSpPr>
          <p:cNvPr id="6" name="Text 3"/>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World models and simulation</a:t>
            </a:r>
            <a:endParaRPr lang="en-US" sz="3100" dirty="0"/>
          </a:p>
        </p:txBody>
      </p:sp>
      <p:sp>
        <p:nvSpPr>
          <p:cNvPr id="7" name="Shape 4"/>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8" name="Text 5"/>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A system needs a place to practice safely before it touches production equipment.</a:t>
            </a:r>
            <a:endParaRPr lang="en-US" sz="1450" dirty="0"/>
          </a:p>
        </p:txBody>
      </p:sp>
      <p:sp>
        <p:nvSpPr>
          <p:cNvPr id="9" name="Shape 6"/>
          <p:cNvSpPr/>
          <p:nvPr/>
        </p:nvSpPr>
        <p:spPr>
          <a:xfrm>
            <a:off x="777240" y="4526280"/>
            <a:ext cx="2606040" cy="914400"/>
          </a:xfrm>
          <a:prstGeom prst="roundRect">
            <a:avLst>
              <a:gd name="adj" fmla="val 12000"/>
            </a:avLst>
          </a:prstGeom>
          <a:solidFill>
            <a:srgbClr val="07101F">
              <a:alpha val="92000"/>
            </a:srgbClr>
          </a:solidFill>
          <a:ln w="13970">
            <a:solidFill>
              <a:srgbClr val="31D8FF">
                <a:alpha val="80000"/>
              </a:srgbClr>
            </a:solidFill>
            <a:prstDash val="solid"/>
          </a:ln>
        </p:spPr>
        <p:txBody>
          <a:bodyPr/>
          <a:lstStyle/>
          <a:p>
            <a:endParaRPr lang="en-US"/>
          </a:p>
        </p:txBody>
      </p:sp>
      <p:sp>
        <p:nvSpPr>
          <p:cNvPr id="10" name="Text 7"/>
          <p:cNvSpPr/>
          <p:nvPr/>
        </p:nvSpPr>
        <p:spPr>
          <a:xfrm>
            <a:off x="960120" y="4690872"/>
            <a:ext cx="2240280" cy="256032"/>
          </a:xfrm>
          <a:prstGeom prst="rect">
            <a:avLst/>
          </a:prstGeom>
          <a:noFill/>
          <a:ln/>
        </p:spPr>
        <p:txBody>
          <a:bodyPr wrap="square" lIns="0" tIns="0" rIns="0" bIns="0" rtlCol="0" anchor="ctr"/>
          <a:lstStyle/>
          <a:p>
            <a:pPr marL="0" indent="0" algn="ctr">
              <a:buNone/>
            </a:pPr>
            <a:r>
              <a:rPr lang="en-US" sz="1580" b="1" dirty="0">
                <a:solidFill>
                  <a:srgbClr val="F8FAFC"/>
                </a:solidFill>
                <a:latin typeface="Aptos Display" pitchFamily="34" charset="0"/>
                <a:ea typeface="Aptos Display" pitchFamily="34" charset="-122"/>
                <a:cs typeface="Aptos Display" pitchFamily="34" charset="-120"/>
              </a:rPr>
              <a:t>Digital twin</a:t>
            </a:r>
            <a:endParaRPr lang="en-US" sz="1580" dirty="0"/>
          </a:p>
        </p:txBody>
      </p:sp>
      <p:sp>
        <p:nvSpPr>
          <p:cNvPr id="11" name="Text 8"/>
          <p:cNvSpPr/>
          <p:nvPr/>
        </p:nvSpPr>
        <p:spPr>
          <a:xfrm>
            <a:off x="960120" y="5020056"/>
            <a:ext cx="2240280" cy="219456"/>
          </a:xfrm>
          <a:prstGeom prst="rect">
            <a:avLst/>
          </a:prstGeom>
          <a:noFill/>
          <a:ln/>
        </p:spPr>
        <p:txBody>
          <a:bodyPr wrap="square" lIns="0" tIns="0" rIns="0" bIns="0" rtlCol="0" anchor="ctr">
            <a:normAutofit/>
          </a:bodyPr>
          <a:lstStyle/>
          <a:p>
            <a:pPr marL="0" indent="0" algn="ctr">
              <a:buNone/>
            </a:pPr>
            <a:r>
              <a:rPr lang="en-US" sz="980" dirty="0">
                <a:solidFill>
                  <a:srgbClr val="B6C2D5"/>
                </a:solidFill>
                <a:latin typeface="Aptos" pitchFamily="34" charset="0"/>
                <a:ea typeface="Aptos" pitchFamily="34" charset="-122"/>
                <a:cs typeface="Aptos" pitchFamily="34" charset="-120"/>
              </a:rPr>
              <a:t>geometry, materials, constraints</a:t>
            </a:r>
            <a:endParaRPr lang="en-US" sz="980" dirty="0"/>
          </a:p>
        </p:txBody>
      </p:sp>
      <p:sp>
        <p:nvSpPr>
          <p:cNvPr id="12" name="Shape 9"/>
          <p:cNvSpPr/>
          <p:nvPr/>
        </p:nvSpPr>
        <p:spPr>
          <a:xfrm>
            <a:off x="3410712" y="4983480"/>
            <a:ext cx="320040" cy="0"/>
          </a:xfrm>
          <a:prstGeom prst="line">
            <a:avLst/>
          </a:prstGeom>
          <a:noFill/>
          <a:ln w="15240">
            <a:solidFill>
              <a:srgbClr val="25436C">
                <a:alpha val="90000"/>
              </a:srgbClr>
            </a:solidFill>
            <a:prstDash val="solid"/>
            <a:tailEnd type="triangle"/>
          </a:ln>
        </p:spPr>
        <p:txBody>
          <a:bodyPr/>
          <a:lstStyle/>
          <a:p>
            <a:endParaRPr lang="en-US"/>
          </a:p>
        </p:txBody>
      </p:sp>
      <p:sp>
        <p:nvSpPr>
          <p:cNvPr id="13" name="Shape 10"/>
          <p:cNvSpPr/>
          <p:nvPr/>
        </p:nvSpPr>
        <p:spPr>
          <a:xfrm>
            <a:off x="3657600" y="4526280"/>
            <a:ext cx="2606040" cy="914400"/>
          </a:xfrm>
          <a:prstGeom prst="roundRect">
            <a:avLst>
              <a:gd name="adj" fmla="val 12000"/>
            </a:avLst>
          </a:prstGeom>
          <a:solidFill>
            <a:srgbClr val="07101F">
              <a:alpha val="92000"/>
            </a:srgbClr>
          </a:solidFill>
          <a:ln w="13970">
            <a:solidFill>
              <a:srgbClr val="3B82F6">
                <a:alpha val="80000"/>
              </a:srgbClr>
            </a:solidFill>
            <a:prstDash val="solid"/>
          </a:ln>
        </p:spPr>
        <p:txBody>
          <a:bodyPr/>
          <a:lstStyle/>
          <a:p>
            <a:endParaRPr lang="en-US"/>
          </a:p>
        </p:txBody>
      </p:sp>
      <p:sp>
        <p:nvSpPr>
          <p:cNvPr id="14" name="Text 11"/>
          <p:cNvSpPr/>
          <p:nvPr/>
        </p:nvSpPr>
        <p:spPr>
          <a:xfrm>
            <a:off x="3840480" y="4690872"/>
            <a:ext cx="2240280" cy="256032"/>
          </a:xfrm>
          <a:prstGeom prst="rect">
            <a:avLst/>
          </a:prstGeom>
          <a:noFill/>
          <a:ln/>
        </p:spPr>
        <p:txBody>
          <a:bodyPr wrap="square" lIns="0" tIns="0" rIns="0" bIns="0" rtlCol="0" anchor="ctr"/>
          <a:lstStyle/>
          <a:p>
            <a:pPr marL="0" indent="0" algn="ctr">
              <a:buNone/>
            </a:pPr>
            <a:r>
              <a:rPr lang="en-US" sz="1580" b="1" dirty="0">
                <a:solidFill>
                  <a:srgbClr val="F8FAFC"/>
                </a:solidFill>
                <a:latin typeface="Aptos Display" pitchFamily="34" charset="0"/>
                <a:ea typeface="Aptos Display" pitchFamily="34" charset="-122"/>
                <a:cs typeface="Aptos Display" pitchFamily="34" charset="-120"/>
              </a:rPr>
              <a:t>Physics simulation</a:t>
            </a:r>
            <a:endParaRPr lang="en-US" sz="1580" dirty="0"/>
          </a:p>
        </p:txBody>
      </p:sp>
      <p:sp>
        <p:nvSpPr>
          <p:cNvPr id="15" name="Text 12"/>
          <p:cNvSpPr/>
          <p:nvPr/>
        </p:nvSpPr>
        <p:spPr>
          <a:xfrm>
            <a:off x="3840480" y="5020056"/>
            <a:ext cx="2240280" cy="219456"/>
          </a:xfrm>
          <a:prstGeom prst="rect">
            <a:avLst/>
          </a:prstGeom>
          <a:noFill/>
          <a:ln/>
        </p:spPr>
        <p:txBody>
          <a:bodyPr wrap="square" lIns="0" tIns="0" rIns="0" bIns="0" rtlCol="0" anchor="ctr">
            <a:normAutofit/>
          </a:bodyPr>
          <a:lstStyle/>
          <a:p>
            <a:pPr marL="0" indent="0" algn="ctr">
              <a:buNone/>
            </a:pPr>
            <a:r>
              <a:rPr lang="en-US" sz="980" dirty="0">
                <a:solidFill>
                  <a:srgbClr val="B6C2D5"/>
                </a:solidFill>
                <a:latin typeface="Aptos" pitchFamily="34" charset="0"/>
                <a:ea typeface="Aptos" pitchFamily="34" charset="-122"/>
                <a:cs typeface="Aptos" pitchFamily="34" charset="-120"/>
              </a:rPr>
              <a:t>motion, contact, sensors</a:t>
            </a:r>
            <a:endParaRPr lang="en-US" sz="980" dirty="0"/>
          </a:p>
        </p:txBody>
      </p:sp>
      <p:sp>
        <p:nvSpPr>
          <p:cNvPr id="16" name="Shape 13"/>
          <p:cNvSpPr/>
          <p:nvPr/>
        </p:nvSpPr>
        <p:spPr>
          <a:xfrm>
            <a:off x="6291072" y="4983480"/>
            <a:ext cx="320040" cy="0"/>
          </a:xfrm>
          <a:prstGeom prst="line">
            <a:avLst/>
          </a:prstGeom>
          <a:noFill/>
          <a:ln w="15240">
            <a:solidFill>
              <a:srgbClr val="25436C">
                <a:alpha val="90000"/>
              </a:srgbClr>
            </a:solidFill>
            <a:prstDash val="solid"/>
            <a:tailEnd type="triangle"/>
          </a:ln>
        </p:spPr>
        <p:txBody>
          <a:bodyPr/>
          <a:lstStyle/>
          <a:p>
            <a:endParaRPr lang="en-US"/>
          </a:p>
        </p:txBody>
      </p:sp>
      <p:sp>
        <p:nvSpPr>
          <p:cNvPr id="17" name="Shape 14"/>
          <p:cNvSpPr/>
          <p:nvPr/>
        </p:nvSpPr>
        <p:spPr>
          <a:xfrm>
            <a:off x="6537960" y="4526280"/>
            <a:ext cx="2606040" cy="914400"/>
          </a:xfrm>
          <a:prstGeom prst="roundRect">
            <a:avLst>
              <a:gd name="adj" fmla="val 12000"/>
            </a:avLst>
          </a:prstGeom>
          <a:solidFill>
            <a:srgbClr val="07101F">
              <a:alpha val="92000"/>
            </a:srgbClr>
          </a:solidFill>
          <a:ln w="13970">
            <a:solidFill>
              <a:srgbClr val="A78BFA">
                <a:alpha val="80000"/>
              </a:srgbClr>
            </a:solidFill>
            <a:prstDash val="solid"/>
          </a:ln>
        </p:spPr>
        <p:txBody>
          <a:bodyPr/>
          <a:lstStyle/>
          <a:p>
            <a:endParaRPr lang="en-US"/>
          </a:p>
        </p:txBody>
      </p:sp>
      <p:sp>
        <p:nvSpPr>
          <p:cNvPr id="18" name="Text 15"/>
          <p:cNvSpPr/>
          <p:nvPr/>
        </p:nvSpPr>
        <p:spPr>
          <a:xfrm>
            <a:off x="6720840" y="4690872"/>
            <a:ext cx="2240280" cy="256032"/>
          </a:xfrm>
          <a:prstGeom prst="rect">
            <a:avLst/>
          </a:prstGeom>
          <a:noFill/>
          <a:ln/>
        </p:spPr>
        <p:txBody>
          <a:bodyPr wrap="square" lIns="0" tIns="0" rIns="0" bIns="0" rtlCol="0" anchor="ctr"/>
          <a:lstStyle/>
          <a:p>
            <a:pPr marL="0" indent="0" algn="ctr">
              <a:buNone/>
            </a:pPr>
            <a:r>
              <a:rPr lang="en-US" sz="1580" b="1" dirty="0">
                <a:solidFill>
                  <a:srgbClr val="F8FAFC"/>
                </a:solidFill>
                <a:latin typeface="Aptos Display" pitchFamily="34" charset="0"/>
                <a:ea typeface="Aptos Display" pitchFamily="34" charset="-122"/>
                <a:cs typeface="Aptos Display" pitchFamily="34" charset="-120"/>
              </a:rPr>
              <a:t>World model</a:t>
            </a:r>
            <a:endParaRPr lang="en-US" sz="1580" dirty="0"/>
          </a:p>
        </p:txBody>
      </p:sp>
      <p:sp>
        <p:nvSpPr>
          <p:cNvPr id="19" name="Text 16"/>
          <p:cNvSpPr/>
          <p:nvPr/>
        </p:nvSpPr>
        <p:spPr>
          <a:xfrm>
            <a:off x="6720840" y="5020056"/>
            <a:ext cx="2240280" cy="219456"/>
          </a:xfrm>
          <a:prstGeom prst="rect">
            <a:avLst/>
          </a:prstGeom>
          <a:noFill/>
          <a:ln/>
        </p:spPr>
        <p:txBody>
          <a:bodyPr wrap="square" lIns="0" tIns="0" rIns="0" bIns="0" rtlCol="0" anchor="ctr">
            <a:normAutofit/>
          </a:bodyPr>
          <a:lstStyle/>
          <a:p>
            <a:pPr marL="0" indent="0" algn="ctr">
              <a:buNone/>
            </a:pPr>
            <a:r>
              <a:rPr lang="en-US" sz="980" dirty="0">
                <a:solidFill>
                  <a:srgbClr val="B6C2D5"/>
                </a:solidFill>
                <a:latin typeface="Aptos" pitchFamily="34" charset="0"/>
                <a:ea typeface="Aptos" pitchFamily="34" charset="-122"/>
                <a:cs typeface="Aptos" pitchFamily="34" charset="-120"/>
              </a:rPr>
              <a:t>predict likely futures</a:t>
            </a:r>
            <a:endParaRPr lang="en-US" sz="980" dirty="0"/>
          </a:p>
        </p:txBody>
      </p:sp>
      <p:sp>
        <p:nvSpPr>
          <p:cNvPr id="20" name="Shape 17"/>
          <p:cNvSpPr/>
          <p:nvPr/>
        </p:nvSpPr>
        <p:spPr>
          <a:xfrm>
            <a:off x="9171432" y="4983480"/>
            <a:ext cx="320040" cy="0"/>
          </a:xfrm>
          <a:prstGeom prst="line">
            <a:avLst/>
          </a:prstGeom>
          <a:noFill/>
          <a:ln w="15240">
            <a:solidFill>
              <a:srgbClr val="25436C">
                <a:alpha val="90000"/>
              </a:srgbClr>
            </a:solidFill>
            <a:prstDash val="solid"/>
            <a:tailEnd type="triangle"/>
          </a:ln>
        </p:spPr>
        <p:txBody>
          <a:bodyPr/>
          <a:lstStyle/>
          <a:p>
            <a:endParaRPr lang="en-US"/>
          </a:p>
        </p:txBody>
      </p:sp>
      <p:sp>
        <p:nvSpPr>
          <p:cNvPr id="21" name="Shape 18"/>
          <p:cNvSpPr/>
          <p:nvPr/>
        </p:nvSpPr>
        <p:spPr>
          <a:xfrm>
            <a:off x="9418320" y="4526280"/>
            <a:ext cx="2606040" cy="914400"/>
          </a:xfrm>
          <a:prstGeom prst="roundRect">
            <a:avLst>
              <a:gd name="adj" fmla="val 12000"/>
            </a:avLst>
          </a:prstGeom>
          <a:solidFill>
            <a:srgbClr val="07101F">
              <a:alpha val="92000"/>
            </a:srgbClr>
          </a:solidFill>
          <a:ln w="13970">
            <a:solidFill>
              <a:srgbClr val="F59E0B">
                <a:alpha val="80000"/>
              </a:srgbClr>
            </a:solidFill>
            <a:prstDash val="solid"/>
          </a:ln>
        </p:spPr>
        <p:txBody>
          <a:bodyPr/>
          <a:lstStyle/>
          <a:p>
            <a:endParaRPr lang="en-US"/>
          </a:p>
        </p:txBody>
      </p:sp>
      <p:sp>
        <p:nvSpPr>
          <p:cNvPr id="22" name="Text 19"/>
          <p:cNvSpPr/>
          <p:nvPr/>
        </p:nvSpPr>
        <p:spPr>
          <a:xfrm>
            <a:off x="9601200" y="4690872"/>
            <a:ext cx="2240280" cy="256032"/>
          </a:xfrm>
          <a:prstGeom prst="rect">
            <a:avLst/>
          </a:prstGeom>
          <a:noFill/>
          <a:ln/>
        </p:spPr>
        <p:txBody>
          <a:bodyPr wrap="square" lIns="0" tIns="0" rIns="0" bIns="0" rtlCol="0" anchor="ctr"/>
          <a:lstStyle/>
          <a:p>
            <a:pPr marL="0" indent="0" algn="ctr">
              <a:buNone/>
            </a:pPr>
            <a:r>
              <a:rPr lang="en-US" sz="1580" b="1" dirty="0">
                <a:solidFill>
                  <a:srgbClr val="F8FAFC"/>
                </a:solidFill>
                <a:latin typeface="Aptos Display" pitchFamily="34" charset="0"/>
                <a:ea typeface="Aptos Display" pitchFamily="34" charset="-122"/>
                <a:cs typeface="Aptos Display" pitchFamily="34" charset="-120"/>
              </a:rPr>
              <a:t>Policy training</a:t>
            </a:r>
            <a:endParaRPr lang="en-US" sz="1580" dirty="0"/>
          </a:p>
        </p:txBody>
      </p:sp>
      <p:sp>
        <p:nvSpPr>
          <p:cNvPr id="23" name="Text 20"/>
          <p:cNvSpPr/>
          <p:nvPr/>
        </p:nvSpPr>
        <p:spPr>
          <a:xfrm>
            <a:off x="9601200" y="5020056"/>
            <a:ext cx="2240280" cy="219456"/>
          </a:xfrm>
          <a:prstGeom prst="rect">
            <a:avLst/>
          </a:prstGeom>
          <a:noFill/>
          <a:ln/>
        </p:spPr>
        <p:txBody>
          <a:bodyPr wrap="square" lIns="0" tIns="0" rIns="0" bIns="0" rtlCol="0" anchor="ctr">
            <a:normAutofit/>
          </a:bodyPr>
          <a:lstStyle/>
          <a:p>
            <a:pPr marL="0" indent="0" algn="ctr">
              <a:buNone/>
            </a:pPr>
            <a:r>
              <a:rPr lang="en-US" sz="980" dirty="0">
                <a:solidFill>
                  <a:srgbClr val="B6C2D5"/>
                </a:solidFill>
                <a:latin typeface="Aptos" pitchFamily="34" charset="0"/>
                <a:ea typeface="Aptos" pitchFamily="34" charset="-122"/>
                <a:cs typeface="Aptos" pitchFamily="34" charset="-120"/>
              </a:rPr>
              <a:t>learn actions safely</a:t>
            </a:r>
            <a:endParaRPr lang="en-US" sz="980" dirty="0"/>
          </a:p>
        </p:txBody>
      </p:sp>
      <p:sp>
        <p:nvSpPr>
          <p:cNvPr id="24" name="Shape 21"/>
          <p:cNvSpPr/>
          <p:nvPr/>
        </p:nvSpPr>
        <p:spPr>
          <a:xfrm>
            <a:off x="786384" y="2084832"/>
            <a:ext cx="5212080" cy="868680"/>
          </a:xfrm>
          <a:prstGeom prst="roundRect">
            <a:avLst>
              <a:gd name="adj" fmla="val 12632"/>
            </a:avLst>
          </a:prstGeom>
          <a:solidFill>
            <a:srgbClr val="07101F">
              <a:alpha val="92000"/>
            </a:srgbClr>
          </a:solidFill>
          <a:ln w="11430">
            <a:solidFill>
              <a:srgbClr val="31D8FF">
                <a:alpha val="55000"/>
              </a:srgbClr>
            </a:solidFill>
            <a:prstDash val="solid"/>
          </a:ln>
        </p:spPr>
        <p:txBody>
          <a:bodyPr/>
          <a:lstStyle/>
          <a:p>
            <a:endParaRPr lang="en-US"/>
          </a:p>
        </p:txBody>
      </p:sp>
      <p:sp>
        <p:nvSpPr>
          <p:cNvPr id="25" name="Shape 22"/>
          <p:cNvSpPr/>
          <p:nvPr/>
        </p:nvSpPr>
        <p:spPr>
          <a:xfrm>
            <a:off x="786384" y="2084832"/>
            <a:ext cx="64008" cy="868680"/>
          </a:xfrm>
          <a:prstGeom prst="rect">
            <a:avLst/>
          </a:prstGeom>
          <a:solidFill>
            <a:srgbClr val="31D8FF"/>
          </a:solidFill>
          <a:ln w="12700">
            <a:solidFill>
              <a:srgbClr val="31D8FF">
                <a:alpha val="0"/>
              </a:srgbClr>
            </a:solidFill>
            <a:prstDash val="solid"/>
          </a:ln>
        </p:spPr>
        <p:txBody>
          <a:bodyPr/>
          <a:lstStyle/>
          <a:p>
            <a:endParaRPr lang="en-US"/>
          </a:p>
        </p:txBody>
      </p:sp>
      <p:sp>
        <p:nvSpPr>
          <p:cNvPr id="26" name="Text 23"/>
          <p:cNvSpPr/>
          <p:nvPr/>
        </p:nvSpPr>
        <p:spPr>
          <a:xfrm>
            <a:off x="950976" y="2194560"/>
            <a:ext cx="4919472" cy="685800"/>
          </a:xfrm>
          <a:prstGeom prst="rect">
            <a:avLst/>
          </a:prstGeom>
          <a:noFill/>
          <a:ln/>
        </p:spPr>
        <p:txBody>
          <a:bodyPr wrap="square" lIns="254" tIns="254" rIns="254" bIns="254" rtlCol="0" anchor="ctr">
            <a:normAutofit/>
          </a:bodyPr>
          <a:lstStyle/>
          <a:p>
            <a:pPr marL="0" indent="0">
              <a:buNone/>
            </a:pPr>
            <a:r>
              <a:rPr lang="en-US" sz="1650" dirty="0">
                <a:solidFill>
                  <a:srgbClr val="F8FAFC"/>
                </a:solidFill>
                <a:latin typeface="Aptos" pitchFamily="34" charset="0"/>
                <a:ea typeface="Aptos" pitchFamily="34" charset="-122"/>
                <a:cs typeface="Aptos" pitchFamily="34" charset="-120"/>
              </a:rPr>
              <a:t>Simulation reduces cost and risk, but production validation remains required because no simulator is complete.</a:t>
            </a:r>
            <a:endParaRPr lang="en-US" sz="1650" dirty="0"/>
          </a:p>
        </p:txBody>
      </p:sp>
      <p:sp>
        <p:nvSpPr>
          <p:cNvPr id="27" name="Text 24"/>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Source: NVIDIA Cosmos describes world foundation models for generation, reasoning, and synthetic data in Physical AI workflows.</a:t>
            </a:r>
            <a:endParaRPr lang="en-US" sz="760" dirty="0"/>
          </a:p>
        </p:txBody>
      </p:sp>
      <p:sp>
        <p:nvSpPr>
          <p:cNvPr id="28" name="Shape 25"/>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9" name="Text 26"/>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30" name="Text 27"/>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10</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11</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The Physical AI data flywheel</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Progress depends on converting physical experience into reusable training and evaluation data.</a:t>
            </a:r>
            <a:endParaRPr lang="en-US" sz="1450" dirty="0"/>
          </a:p>
        </p:txBody>
      </p:sp>
      <p:sp>
        <p:nvSpPr>
          <p:cNvPr id="7" name="Shape 5"/>
          <p:cNvSpPr/>
          <p:nvPr/>
        </p:nvSpPr>
        <p:spPr>
          <a:xfrm>
            <a:off x="5093208" y="2002536"/>
            <a:ext cx="1920240" cy="841248"/>
          </a:xfrm>
          <a:prstGeom prst="roundRect">
            <a:avLst>
              <a:gd name="adj" fmla="val 17391"/>
            </a:avLst>
          </a:prstGeom>
          <a:solidFill>
            <a:srgbClr val="12213B"/>
          </a:solidFill>
          <a:ln w="13970">
            <a:solidFill>
              <a:srgbClr val="31D8FF">
                <a:alpha val="90000"/>
              </a:srgbClr>
            </a:solidFill>
            <a:prstDash val="solid"/>
          </a:ln>
        </p:spPr>
        <p:txBody>
          <a:bodyPr/>
          <a:lstStyle/>
          <a:p>
            <a:endParaRPr lang="en-US"/>
          </a:p>
        </p:txBody>
      </p:sp>
      <p:sp>
        <p:nvSpPr>
          <p:cNvPr id="8" name="Text 6"/>
          <p:cNvSpPr/>
          <p:nvPr/>
        </p:nvSpPr>
        <p:spPr>
          <a:xfrm>
            <a:off x="5202936" y="2112264"/>
            <a:ext cx="170078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1. Real-world logs</a:t>
            </a:r>
            <a:endParaRPr lang="en-US" sz="1550" dirty="0"/>
          </a:p>
        </p:txBody>
      </p:sp>
      <p:sp>
        <p:nvSpPr>
          <p:cNvPr id="9" name="Text 7"/>
          <p:cNvSpPr/>
          <p:nvPr/>
        </p:nvSpPr>
        <p:spPr>
          <a:xfrm>
            <a:off x="5230368" y="2496312"/>
            <a:ext cx="1645920" cy="246888"/>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sensor streams, outcomes</a:t>
            </a:r>
            <a:endParaRPr lang="en-US" sz="1030" dirty="0"/>
          </a:p>
        </p:txBody>
      </p:sp>
      <p:sp>
        <p:nvSpPr>
          <p:cNvPr id="10" name="Shape 8"/>
          <p:cNvSpPr/>
          <p:nvPr/>
        </p:nvSpPr>
        <p:spPr>
          <a:xfrm>
            <a:off x="7799832" y="2825496"/>
            <a:ext cx="1920240" cy="841248"/>
          </a:xfrm>
          <a:prstGeom prst="roundRect">
            <a:avLst>
              <a:gd name="adj" fmla="val 17391"/>
            </a:avLst>
          </a:prstGeom>
          <a:solidFill>
            <a:srgbClr val="12213B"/>
          </a:solidFill>
          <a:ln w="13970">
            <a:solidFill>
              <a:srgbClr val="3B82F6">
                <a:alpha val="90000"/>
              </a:srgbClr>
            </a:solidFill>
            <a:prstDash val="solid"/>
          </a:ln>
        </p:spPr>
        <p:txBody>
          <a:bodyPr/>
          <a:lstStyle/>
          <a:p>
            <a:endParaRPr lang="en-US"/>
          </a:p>
        </p:txBody>
      </p:sp>
      <p:sp>
        <p:nvSpPr>
          <p:cNvPr id="11" name="Text 9"/>
          <p:cNvSpPr/>
          <p:nvPr/>
        </p:nvSpPr>
        <p:spPr>
          <a:xfrm>
            <a:off x="7909560" y="2935224"/>
            <a:ext cx="170078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2. Curate &amp; label</a:t>
            </a:r>
            <a:endParaRPr lang="en-US" sz="1550" dirty="0"/>
          </a:p>
        </p:txBody>
      </p:sp>
      <p:sp>
        <p:nvSpPr>
          <p:cNvPr id="12" name="Text 10"/>
          <p:cNvSpPr/>
          <p:nvPr/>
        </p:nvSpPr>
        <p:spPr>
          <a:xfrm>
            <a:off x="7936992" y="3319272"/>
            <a:ext cx="1645920" cy="246888"/>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state, events, failures</a:t>
            </a:r>
            <a:endParaRPr lang="en-US" sz="1030" dirty="0"/>
          </a:p>
        </p:txBody>
      </p:sp>
      <p:sp>
        <p:nvSpPr>
          <p:cNvPr id="13" name="Shape 11"/>
          <p:cNvSpPr/>
          <p:nvPr/>
        </p:nvSpPr>
        <p:spPr>
          <a:xfrm>
            <a:off x="6949440" y="4407408"/>
            <a:ext cx="1920240" cy="841248"/>
          </a:xfrm>
          <a:prstGeom prst="roundRect">
            <a:avLst>
              <a:gd name="adj" fmla="val 17391"/>
            </a:avLst>
          </a:prstGeom>
          <a:solidFill>
            <a:srgbClr val="12213B"/>
          </a:solidFill>
          <a:ln w="13970">
            <a:solidFill>
              <a:srgbClr val="A78BFA">
                <a:alpha val="90000"/>
              </a:srgbClr>
            </a:solidFill>
            <a:prstDash val="solid"/>
          </a:ln>
        </p:spPr>
        <p:txBody>
          <a:bodyPr/>
          <a:lstStyle/>
          <a:p>
            <a:endParaRPr lang="en-US"/>
          </a:p>
        </p:txBody>
      </p:sp>
      <p:sp>
        <p:nvSpPr>
          <p:cNvPr id="14" name="Text 12"/>
          <p:cNvSpPr/>
          <p:nvPr/>
        </p:nvSpPr>
        <p:spPr>
          <a:xfrm>
            <a:off x="7059168" y="4517136"/>
            <a:ext cx="170078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3. Simulation</a:t>
            </a:r>
            <a:endParaRPr lang="en-US" sz="1550" dirty="0"/>
          </a:p>
        </p:txBody>
      </p:sp>
      <p:sp>
        <p:nvSpPr>
          <p:cNvPr id="15" name="Text 13"/>
          <p:cNvSpPr/>
          <p:nvPr/>
        </p:nvSpPr>
        <p:spPr>
          <a:xfrm>
            <a:off x="7086600" y="4901184"/>
            <a:ext cx="1645920" cy="246888"/>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edge cases, variants</a:t>
            </a:r>
            <a:endParaRPr lang="en-US" sz="1030" dirty="0"/>
          </a:p>
        </p:txBody>
      </p:sp>
      <p:sp>
        <p:nvSpPr>
          <p:cNvPr id="16" name="Shape 14"/>
          <p:cNvSpPr/>
          <p:nvPr/>
        </p:nvSpPr>
        <p:spPr>
          <a:xfrm>
            <a:off x="3227832" y="4407408"/>
            <a:ext cx="1920240" cy="841248"/>
          </a:xfrm>
          <a:prstGeom prst="roundRect">
            <a:avLst>
              <a:gd name="adj" fmla="val 17391"/>
            </a:avLst>
          </a:prstGeom>
          <a:solidFill>
            <a:srgbClr val="12213B"/>
          </a:solidFill>
          <a:ln w="13970">
            <a:solidFill>
              <a:srgbClr val="F59E0B">
                <a:alpha val="90000"/>
              </a:srgbClr>
            </a:solidFill>
            <a:prstDash val="solid"/>
          </a:ln>
        </p:spPr>
        <p:txBody>
          <a:bodyPr/>
          <a:lstStyle/>
          <a:p>
            <a:endParaRPr lang="en-US"/>
          </a:p>
        </p:txBody>
      </p:sp>
      <p:sp>
        <p:nvSpPr>
          <p:cNvPr id="17" name="Text 15"/>
          <p:cNvSpPr/>
          <p:nvPr/>
        </p:nvSpPr>
        <p:spPr>
          <a:xfrm>
            <a:off x="3337560" y="4517136"/>
            <a:ext cx="170078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4. Train &amp; evaluate</a:t>
            </a:r>
            <a:endParaRPr lang="en-US" sz="1550" dirty="0"/>
          </a:p>
        </p:txBody>
      </p:sp>
      <p:sp>
        <p:nvSpPr>
          <p:cNvPr id="18" name="Text 16"/>
          <p:cNvSpPr/>
          <p:nvPr/>
        </p:nvSpPr>
        <p:spPr>
          <a:xfrm>
            <a:off x="3364992" y="4901184"/>
            <a:ext cx="1645920" cy="246888"/>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policies, models, metrics</a:t>
            </a:r>
            <a:endParaRPr lang="en-US" sz="1030" dirty="0"/>
          </a:p>
        </p:txBody>
      </p:sp>
      <p:sp>
        <p:nvSpPr>
          <p:cNvPr id="19" name="Shape 17"/>
          <p:cNvSpPr/>
          <p:nvPr/>
        </p:nvSpPr>
        <p:spPr>
          <a:xfrm>
            <a:off x="2386584" y="2825496"/>
            <a:ext cx="1920240" cy="841248"/>
          </a:xfrm>
          <a:prstGeom prst="roundRect">
            <a:avLst>
              <a:gd name="adj" fmla="val 17391"/>
            </a:avLst>
          </a:prstGeom>
          <a:solidFill>
            <a:srgbClr val="12213B"/>
          </a:solidFill>
          <a:ln w="13970">
            <a:solidFill>
              <a:srgbClr val="22C55E">
                <a:alpha val="90000"/>
              </a:srgbClr>
            </a:solidFill>
            <a:prstDash val="solid"/>
          </a:ln>
        </p:spPr>
        <p:txBody>
          <a:bodyPr/>
          <a:lstStyle/>
          <a:p>
            <a:endParaRPr lang="en-US"/>
          </a:p>
        </p:txBody>
      </p:sp>
      <p:sp>
        <p:nvSpPr>
          <p:cNvPr id="20" name="Text 18"/>
          <p:cNvSpPr/>
          <p:nvPr/>
        </p:nvSpPr>
        <p:spPr>
          <a:xfrm>
            <a:off x="2496312" y="2935224"/>
            <a:ext cx="170078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5. Deploy safely</a:t>
            </a:r>
            <a:endParaRPr lang="en-US" sz="1550" dirty="0"/>
          </a:p>
        </p:txBody>
      </p:sp>
      <p:sp>
        <p:nvSpPr>
          <p:cNvPr id="21" name="Text 19"/>
          <p:cNvSpPr/>
          <p:nvPr/>
        </p:nvSpPr>
        <p:spPr>
          <a:xfrm>
            <a:off x="2523744" y="3319272"/>
            <a:ext cx="1645920" cy="246888"/>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limits, monitoring, feedback</a:t>
            </a:r>
            <a:endParaRPr lang="en-US" sz="1030" dirty="0"/>
          </a:p>
        </p:txBody>
      </p:sp>
      <p:sp>
        <p:nvSpPr>
          <p:cNvPr id="22" name="Shape 20"/>
          <p:cNvSpPr/>
          <p:nvPr/>
        </p:nvSpPr>
        <p:spPr>
          <a:xfrm>
            <a:off x="4919472" y="3200400"/>
            <a:ext cx="2267712" cy="1225296"/>
          </a:xfrm>
          <a:prstGeom prst="ellipse">
            <a:avLst/>
          </a:prstGeom>
          <a:solidFill>
            <a:srgbClr val="162744"/>
          </a:solidFill>
          <a:ln w="12700">
            <a:solidFill>
              <a:srgbClr val="31D8FF">
                <a:alpha val="65000"/>
              </a:srgbClr>
            </a:solidFill>
            <a:prstDash val="solid"/>
          </a:ln>
        </p:spPr>
        <p:txBody>
          <a:bodyPr/>
          <a:lstStyle/>
          <a:p>
            <a:endParaRPr lang="en-US"/>
          </a:p>
        </p:txBody>
      </p:sp>
      <p:sp>
        <p:nvSpPr>
          <p:cNvPr id="23" name="Text 21"/>
          <p:cNvSpPr/>
          <p:nvPr/>
        </p:nvSpPr>
        <p:spPr>
          <a:xfrm>
            <a:off x="5349240" y="3447288"/>
            <a:ext cx="1417320" cy="384048"/>
          </a:xfrm>
          <a:prstGeom prst="rect">
            <a:avLst/>
          </a:prstGeom>
          <a:noFill/>
          <a:ln/>
        </p:spPr>
        <p:txBody>
          <a:bodyPr wrap="square" lIns="0" tIns="0" rIns="0" bIns="0" rtlCol="0" anchor="ctr">
            <a:normAutofit/>
          </a:bodyPr>
          <a:lstStyle/>
          <a:p>
            <a:pPr marL="0" indent="0" algn="ctr">
              <a:buNone/>
            </a:pPr>
            <a:r>
              <a:rPr lang="en-US" sz="1650" b="1" dirty="0">
                <a:solidFill>
                  <a:srgbClr val="F8FAFC"/>
                </a:solidFill>
                <a:latin typeface="Aptos Display" pitchFamily="34" charset="0"/>
                <a:ea typeface="Aptos Display" pitchFamily="34" charset="-122"/>
                <a:cs typeface="Aptos Display" pitchFamily="34" charset="-120"/>
              </a:rPr>
              <a:t>Reusable</a:t>
            </a:r>
            <a:endParaRPr lang="en-US" sz="1650" dirty="0"/>
          </a:p>
          <a:p>
            <a:pPr marL="0" indent="0" algn="ctr">
              <a:buNone/>
            </a:pPr>
            <a:r>
              <a:rPr lang="en-US" sz="1650" b="1" dirty="0">
                <a:solidFill>
                  <a:srgbClr val="F8FAFC"/>
                </a:solidFill>
                <a:latin typeface="Aptos Display" pitchFamily="34" charset="0"/>
                <a:ea typeface="Aptos Display" pitchFamily="34" charset="-122"/>
                <a:cs typeface="Aptos Display" pitchFamily="34" charset="-120"/>
              </a:rPr>
              <a:t>experience</a:t>
            </a:r>
            <a:endParaRPr lang="en-US" sz="1650" dirty="0"/>
          </a:p>
        </p:txBody>
      </p:sp>
      <p:sp>
        <p:nvSpPr>
          <p:cNvPr id="24" name="Shape 22"/>
          <p:cNvSpPr/>
          <p:nvPr/>
        </p:nvSpPr>
        <p:spPr>
          <a:xfrm>
            <a:off x="868680" y="5650992"/>
            <a:ext cx="10424160" cy="566928"/>
          </a:xfrm>
          <a:prstGeom prst="roundRect">
            <a:avLst>
              <a:gd name="adj" fmla="val 19355"/>
            </a:avLst>
          </a:prstGeom>
          <a:solidFill>
            <a:srgbClr val="12213B"/>
          </a:solidFill>
          <a:ln w="11430">
            <a:solidFill>
              <a:srgbClr val="31D8FF">
                <a:alpha val="55000"/>
              </a:srgbClr>
            </a:solidFill>
            <a:prstDash val="solid"/>
          </a:ln>
        </p:spPr>
        <p:txBody>
          <a:bodyPr/>
          <a:lstStyle/>
          <a:p>
            <a:endParaRPr lang="en-US"/>
          </a:p>
        </p:txBody>
      </p:sp>
      <p:sp>
        <p:nvSpPr>
          <p:cNvPr id="25" name="Shape 23"/>
          <p:cNvSpPr/>
          <p:nvPr/>
        </p:nvSpPr>
        <p:spPr>
          <a:xfrm>
            <a:off x="868680" y="5650992"/>
            <a:ext cx="64008" cy="566928"/>
          </a:xfrm>
          <a:prstGeom prst="rect">
            <a:avLst/>
          </a:prstGeom>
          <a:solidFill>
            <a:srgbClr val="31D8FF"/>
          </a:solidFill>
          <a:ln w="12700">
            <a:solidFill>
              <a:srgbClr val="31D8FF">
                <a:alpha val="0"/>
              </a:srgbClr>
            </a:solidFill>
            <a:prstDash val="solid"/>
          </a:ln>
        </p:spPr>
        <p:txBody>
          <a:bodyPr/>
          <a:lstStyle/>
          <a:p>
            <a:endParaRPr lang="en-US"/>
          </a:p>
        </p:txBody>
      </p:sp>
      <p:sp>
        <p:nvSpPr>
          <p:cNvPr id="26" name="Text 24"/>
          <p:cNvSpPr/>
          <p:nvPr/>
        </p:nvSpPr>
        <p:spPr>
          <a:xfrm>
            <a:off x="1033272" y="5760720"/>
            <a:ext cx="10131552" cy="384048"/>
          </a:xfrm>
          <a:prstGeom prst="rect">
            <a:avLst/>
          </a:prstGeom>
          <a:noFill/>
          <a:ln/>
        </p:spPr>
        <p:txBody>
          <a:bodyPr wrap="square" lIns="254" tIns="254" rIns="254" bIns="254" rtlCol="0" anchor="ctr">
            <a:normAutofit/>
          </a:bodyPr>
          <a:lstStyle/>
          <a:p>
            <a:pPr marL="0" indent="0">
              <a:buNone/>
            </a:pPr>
            <a:r>
              <a:rPr lang="en-US" sz="1600" dirty="0">
                <a:solidFill>
                  <a:srgbClr val="F8FAFC"/>
                </a:solidFill>
                <a:latin typeface="Aptos" pitchFamily="34" charset="0"/>
                <a:ea typeface="Aptos" pitchFamily="34" charset="-122"/>
                <a:cs typeface="Aptos" pitchFamily="34" charset="-120"/>
              </a:rPr>
              <a:t>The strongest teams design the data loop before they scale the robot fleet.</a:t>
            </a:r>
            <a:endParaRPr lang="en-US" sz="1600" dirty="0"/>
          </a:p>
        </p:txBody>
      </p:sp>
      <p:sp>
        <p:nvSpPr>
          <p:cNvPr id="27" name="Shape 25"/>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8" name="Text 26"/>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29" name="Text 27"/>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11</a:t>
            </a:r>
            <a:endParaRPr lang="en-US" sz="8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12</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How Physical AI systems learn</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No single learning method is sufficient; practical systems combine several.</a:t>
            </a:r>
            <a:endParaRPr lang="en-US" sz="1450" dirty="0"/>
          </a:p>
        </p:txBody>
      </p:sp>
      <p:sp>
        <p:nvSpPr>
          <p:cNvPr id="7" name="Shape 5"/>
          <p:cNvSpPr/>
          <p:nvPr/>
        </p:nvSpPr>
        <p:spPr>
          <a:xfrm>
            <a:off x="868680" y="2084832"/>
            <a:ext cx="10378440" cy="749808"/>
          </a:xfrm>
          <a:prstGeom prst="roundRect">
            <a:avLst>
              <a:gd name="adj" fmla="val 14634"/>
            </a:avLst>
          </a:prstGeom>
          <a:solidFill>
            <a:srgbClr val="12213B"/>
          </a:solidFill>
          <a:ln w="11430">
            <a:solidFill>
              <a:srgbClr val="31D8FF">
                <a:alpha val="60000"/>
              </a:srgbClr>
            </a:solidFill>
            <a:prstDash val="solid"/>
          </a:ln>
        </p:spPr>
        <p:txBody>
          <a:bodyPr/>
          <a:lstStyle/>
          <a:p>
            <a:endParaRPr lang="en-US"/>
          </a:p>
        </p:txBody>
      </p:sp>
      <p:sp>
        <p:nvSpPr>
          <p:cNvPr id="8" name="Text 6"/>
          <p:cNvSpPr/>
          <p:nvPr/>
        </p:nvSpPr>
        <p:spPr>
          <a:xfrm>
            <a:off x="1097280" y="2221992"/>
            <a:ext cx="2057400" cy="256032"/>
          </a:xfrm>
          <a:prstGeom prst="rect">
            <a:avLst/>
          </a:prstGeom>
          <a:noFill/>
          <a:ln/>
        </p:spPr>
        <p:txBody>
          <a:bodyPr wrap="square" lIns="0" tIns="0" rIns="0" bIns="0" rtlCol="0" anchor="ctr">
            <a:normAutofit/>
          </a:bodyPr>
          <a:lstStyle/>
          <a:p>
            <a:pPr marL="0" indent="0">
              <a:buNone/>
            </a:pPr>
            <a:r>
              <a:rPr lang="en-US" sz="1580" b="1" dirty="0">
                <a:solidFill>
                  <a:srgbClr val="F8FAFC"/>
                </a:solidFill>
                <a:latin typeface="Aptos Display" pitchFamily="34" charset="0"/>
                <a:ea typeface="Aptos Display" pitchFamily="34" charset="-122"/>
                <a:cs typeface="Aptos Display" pitchFamily="34" charset="-120"/>
              </a:rPr>
              <a:t>Imitation learning</a:t>
            </a:r>
            <a:endParaRPr lang="en-US" sz="1580" dirty="0"/>
          </a:p>
        </p:txBody>
      </p:sp>
      <p:sp>
        <p:nvSpPr>
          <p:cNvPr id="9" name="Text 7"/>
          <p:cNvSpPr/>
          <p:nvPr/>
        </p:nvSpPr>
        <p:spPr>
          <a:xfrm>
            <a:off x="3337560" y="2231136"/>
            <a:ext cx="3749040" cy="228600"/>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learn from human demonstrations or teleoperation</a:t>
            </a:r>
            <a:endParaRPr lang="en-US" sz="1150" dirty="0"/>
          </a:p>
        </p:txBody>
      </p:sp>
      <p:sp>
        <p:nvSpPr>
          <p:cNvPr id="10" name="Text 8"/>
          <p:cNvSpPr/>
          <p:nvPr/>
        </p:nvSpPr>
        <p:spPr>
          <a:xfrm>
            <a:off x="7315200" y="2231136"/>
            <a:ext cx="3520440" cy="228600"/>
          </a:xfrm>
          <a:prstGeom prst="rect">
            <a:avLst/>
          </a:prstGeom>
          <a:noFill/>
          <a:ln/>
        </p:spPr>
        <p:txBody>
          <a:bodyPr wrap="square" lIns="0" tIns="0" rIns="0" bIns="0" rtlCol="0" anchor="ctr">
            <a:normAutofit/>
          </a:bodyPr>
          <a:lstStyle/>
          <a:p>
            <a:pPr marL="0" indent="0">
              <a:buNone/>
            </a:pPr>
            <a:r>
              <a:rPr lang="en-US" sz="1150" dirty="0">
                <a:solidFill>
                  <a:srgbClr val="8391A8"/>
                </a:solidFill>
                <a:latin typeface="Aptos" pitchFamily="34" charset="0"/>
                <a:ea typeface="Aptos" pitchFamily="34" charset="-122"/>
                <a:cs typeface="Aptos" pitchFamily="34" charset="-120"/>
              </a:rPr>
              <a:t>fast start; limited by demonstration coverage</a:t>
            </a:r>
            <a:endParaRPr lang="en-US" sz="1150" dirty="0"/>
          </a:p>
        </p:txBody>
      </p:sp>
      <p:sp>
        <p:nvSpPr>
          <p:cNvPr id="11" name="Shape 9"/>
          <p:cNvSpPr/>
          <p:nvPr/>
        </p:nvSpPr>
        <p:spPr>
          <a:xfrm>
            <a:off x="868680" y="2980944"/>
            <a:ext cx="10378440" cy="749808"/>
          </a:xfrm>
          <a:prstGeom prst="roundRect">
            <a:avLst>
              <a:gd name="adj" fmla="val 14634"/>
            </a:avLst>
          </a:prstGeom>
          <a:solidFill>
            <a:srgbClr val="12213B">
              <a:alpha val="96000"/>
            </a:srgbClr>
          </a:solidFill>
          <a:ln w="11430">
            <a:solidFill>
              <a:srgbClr val="F59E0B">
                <a:alpha val="60000"/>
              </a:srgbClr>
            </a:solidFill>
            <a:prstDash val="solid"/>
          </a:ln>
        </p:spPr>
        <p:txBody>
          <a:bodyPr/>
          <a:lstStyle/>
          <a:p>
            <a:endParaRPr lang="en-US"/>
          </a:p>
        </p:txBody>
      </p:sp>
      <p:sp>
        <p:nvSpPr>
          <p:cNvPr id="12" name="Text 10"/>
          <p:cNvSpPr/>
          <p:nvPr/>
        </p:nvSpPr>
        <p:spPr>
          <a:xfrm>
            <a:off x="1097280" y="3118104"/>
            <a:ext cx="2057400" cy="256032"/>
          </a:xfrm>
          <a:prstGeom prst="rect">
            <a:avLst/>
          </a:prstGeom>
          <a:noFill/>
          <a:ln/>
        </p:spPr>
        <p:txBody>
          <a:bodyPr wrap="square" lIns="0" tIns="0" rIns="0" bIns="0" rtlCol="0" anchor="ctr">
            <a:normAutofit/>
          </a:bodyPr>
          <a:lstStyle/>
          <a:p>
            <a:pPr marL="0" indent="0">
              <a:buNone/>
            </a:pPr>
            <a:r>
              <a:rPr lang="en-US" sz="1580" b="1" dirty="0">
                <a:solidFill>
                  <a:srgbClr val="F8FAFC"/>
                </a:solidFill>
                <a:latin typeface="Aptos Display" pitchFamily="34" charset="0"/>
                <a:ea typeface="Aptos Display" pitchFamily="34" charset="-122"/>
                <a:cs typeface="Aptos Display" pitchFamily="34" charset="-120"/>
              </a:rPr>
              <a:t>Reinforcement learning</a:t>
            </a:r>
            <a:endParaRPr lang="en-US" sz="1580" dirty="0"/>
          </a:p>
        </p:txBody>
      </p:sp>
      <p:sp>
        <p:nvSpPr>
          <p:cNvPr id="13" name="Text 11"/>
          <p:cNvSpPr/>
          <p:nvPr/>
        </p:nvSpPr>
        <p:spPr>
          <a:xfrm>
            <a:off x="3337560" y="3127248"/>
            <a:ext cx="3749040" cy="228600"/>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learn by optimizing reward in simulation or constrained real trials</a:t>
            </a:r>
            <a:endParaRPr lang="en-US" sz="1150" dirty="0"/>
          </a:p>
        </p:txBody>
      </p:sp>
      <p:sp>
        <p:nvSpPr>
          <p:cNvPr id="14" name="Text 12"/>
          <p:cNvSpPr/>
          <p:nvPr/>
        </p:nvSpPr>
        <p:spPr>
          <a:xfrm>
            <a:off x="7315200" y="3127248"/>
            <a:ext cx="3520440" cy="228600"/>
          </a:xfrm>
          <a:prstGeom prst="rect">
            <a:avLst/>
          </a:prstGeom>
          <a:noFill/>
          <a:ln/>
        </p:spPr>
        <p:txBody>
          <a:bodyPr wrap="square" lIns="0" tIns="0" rIns="0" bIns="0" rtlCol="0" anchor="ctr">
            <a:normAutofit/>
          </a:bodyPr>
          <a:lstStyle/>
          <a:p>
            <a:pPr marL="0" indent="0">
              <a:buNone/>
            </a:pPr>
            <a:r>
              <a:rPr lang="en-US" sz="1150" dirty="0">
                <a:solidFill>
                  <a:srgbClr val="8391A8"/>
                </a:solidFill>
                <a:latin typeface="Aptos" pitchFamily="34" charset="0"/>
                <a:ea typeface="Aptos" pitchFamily="34" charset="-122"/>
                <a:cs typeface="Aptos" pitchFamily="34" charset="-120"/>
              </a:rPr>
              <a:t>can discover skills; reward design is hard</a:t>
            </a:r>
            <a:endParaRPr lang="en-US" sz="1150" dirty="0"/>
          </a:p>
        </p:txBody>
      </p:sp>
      <p:sp>
        <p:nvSpPr>
          <p:cNvPr id="15" name="Shape 13"/>
          <p:cNvSpPr/>
          <p:nvPr/>
        </p:nvSpPr>
        <p:spPr>
          <a:xfrm>
            <a:off x="868680" y="3877056"/>
            <a:ext cx="10378440" cy="749808"/>
          </a:xfrm>
          <a:prstGeom prst="roundRect">
            <a:avLst>
              <a:gd name="adj" fmla="val 14634"/>
            </a:avLst>
          </a:prstGeom>
          <a:solidFill>
            <a:srgbClr val="12213B"/>
          </a:solidFill>
          <a:ln w="11430">
            <a:solidFill>
              <a:srgbClr val="3B82F6">
                <a:alpha val="60000"/>
              </a:srgbClr>
            </a:solidFill>
            <a:prstDash val="solid"/>
          </a:ln>
        </p:spPr>
        <p:txBody>
          <a:bodyPr/>
          <a:lstStyle/>
          <a:p>
            <a:endParaRPr lang="en-US"/>
          </a:p>
        </p:txBody>
      </p:sp>
      <p:sp>
        <p:nvSpPr>
          <p:cNvPr id="16" name="Text 14"/>
          <p:cNvSpPr/>
          <p:nvPr/>
        </p:nvSpPr>
        <p:spPr>
          <a:xfrm>
            <a:off x="1097280" y="4014216"/>
            <a:ext cx="2057400" cy="256032"/>
          </a:xfrm>
          <a:prstGeom prst="rect">
            <a:avLst/>
          </a:prstGeom>
          <a:noFill/>
          <a:ln/>
        </p:spPr>
        <p:txBody>
          <a:bodyPr wrap="square" lIns="0" tIns="0" rIns="0" bIns="0" rtlCol="0" anchor="ctr">
            <a:normAutofit/>
          </a:bodyPr>
          <a:lstStyle/>
          <a:p>
            <a:pPr marL="0" indent="0">
              <a:buNone/>
            </a:pPr>
            <a:r>
              <a:rPr lang="en-US" sz="1580" b="1" dirty="0">
                <a:solidFill>
                  <a:srgbClr val="F8FAFC"/>
                </a:solidFill>
                <a:latin typeface="Aptos Display" pitchFamily="34" charset="0"/>
                <a:ea typeface="Aptos Display" pitchFamily="34" charset="-122"/>
                <a:cs typeface="Aptos Display" pitchFamily="34" charset="-120"/>
              </a:rPr>
              <a:t>Self-supervised learning</a:t>
            </a:r>
            <a:endParaRPr lang="en-US" sz="1580" dirty="0"/>
          </a:p>
        </p:txBody>
      </p:sp>
      <p:sp>
        <p:nvSpPr>
          <p:cNvPr id="17" name="Text 15"/>
          <p:cNvSpPr/>
          <p:nvPr/>
        </p:nvSpPr>
        <p:spPr>
          <a:xfrm>
            <a:off x="3337560" y="4023360"/>
            <a:ext cx="3749040" cy="228600"/>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predict future frames, state changes, contacts, or affordances</a:t>
            </a:r>
            <a:endParaRPr lang="en-US" sz="1150" dirty="0"/>
          </a:p>
        </p:txBody>
      </p:sp>
      <p:sp>
        <p:nvSpPr>
          <p:cNvPr id="18" name="Text 16"/>
          <p:cNvSpPr/>
          <p:nvPr/>
        </p:nvSpPr>
        <p:spPr>
          <a:xfrm>
            <a:off x="7315200" y="4023360"/>
            <a:ext cx="3520440" cy="228600"/>
          </a:xfrm>
          <a:prstGeom prst="rect">
            <a:avLst/>
          </a:prstGeom>
          <a:noFill/>
          <a:ln/>
        </p:spPr>
        <p:txBody>
          <a:bodyPr wrap="square" lIns="0" tIns="0" rIns="0" bIns="0" rtlCol="0" anchor="ctr">
            <a:normAutofit/>
          </a:bodyPr>
          <a:lstStyle/>
          <a:p>
            <a:pPr marL="0" indent="0">
              <a:buNone/>
            </a:pPr>
            <a:r>
              <a:rPr lang="en-US" sz="1150" dirty="0">
                <a:solidFill>
                  <a:srgbClr val="8391A8"/>
                </a:solidFill>
                <a:latin typeface="Aptos" pitchFamily="34" charset="0"/>
                <a:ea typeface="Aptos" pitchFamily="34" charset="-122"/>
                <a:cs typeface="Aptos" pitchFamily="34" charset="-120"/>
              </a:rPr>
              <a:t>uses raw data; needs robust evaluation</a:t>
            </a:r>
            <a:endParaRPr lang="en-US" sz="1150" dirty="0"/>
          </a:p>
        </p:txBody>
      </p:sp>
      <p:sp>
        <p:nvSpPr>
          <p:cNvPr id="19" name="Shape 17"/>
          <p:cNvSpPr/>
          <p:nvPr/>
        </p:nvSpPr>
        <p:spPr>
          <a:xfrm>
            <a:off x="868680" y="4773168"/>
            <a:ext cx="10378440" cy="749808"/>
          </a:xfrm>
          <a:prstGeom prst="roundRect">
            <a:avLst>
              <a:gd name="adj" fmla="val 14634"/>
            </a:avLst>
          </a:prstGeom>
          <a:solidFill>
            <a:srgbClr val="12213B">
              <a:alpha val="96000"/>
            </a:srgbClr>
          </a:solidFill>
          <a:ln w="11430">
            <a:solidFill>
              <a:srgbClr val="22C55E">
                <a:alpha val="60000"/>
              </a:srgbClr>
            </a:solidFill>
            <a:prstDash val="solid"/>
          </a:ln>
        </p:spPr>
        <p:txBody>
          <a:bodyPr/>
          <a:lstStyle/>
          <a:p>
            <a:endParaRPr lang="en-US"/>
          </a:p>
        </p:txBody>
      </p:sp>
      <p:sp>
        <p:nvSpPr>
          <p:cNvPr id="20" name="Text 18"/>
          <p:cNvSpPr/>
          <p:nvPr/>
        </p:nvSpPr>
        <p:spPr>
          <a:xfrm>
            <a:off x="1097280" y="4910328"/>
            <a:ext cx="2057400" cy="256032"/>
          </a:xfrm>
          <a:prstGeom prst="rect">
            <a:avLst/>
          </a:prstGeom>
          <a:noFill/>
          <a:ln/>
        </p:spPr>
        <p:txBody>
          <a:bodyPr wrap="square" lIns="0" tIns="0" rIns="0" bIns="0" rtlCol="0" anchor="ctr">
            <a:normAutofit/>
          </a:bodyPr>
          <a:lstStyle/>
          <a:p>
            <a:pPr marL="0" indent="0">
              <a:buNone/>
            </a:pPr>
            <a:r>
              <a:rPr lang="en-US" sz="1580" b="1" dirty="0">
                <a:solidFill>
                  <a:srgbClr val="F8FAFC"/>
                </a:solidFill>
                <a:latin typeface="Aptos Display" pitchFamily="34" charset="0"/>
                <a:ea typeface="Aptos Display" pitchFamily="34" charset="-122"/>
                <a:cs typeface="Aptos Display" pitchFamily="34" charset="-120"/>
              </a:rPr>
              <a:t>Fine-tuning / adaptation</a:t>
            </a:r>
            <a:endParaRPr lang="en-US" sz="1580" dirty="0"/>
          </a:p>
        </p:txBody>
      </p:sp>
      <p:sp>
        <p:nvSpPr>
          <p:cNvPr id="21" name="Text 19"/>
          <p:cNvSpPr/>
          <p:nvPr/>
        </p:nvSpPr>
        <p:spPr>
          <a:xfrm>
            <a:off x="3337560" y="4919472"/>
            <a:ext cx="3749040" cy="228600"/>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adjust a pretrained policy to a site, robot, or task</a:t>
            </a:r>
            <a:endParaRPr lang="en-US" sz="1150" dirty="0"/>
          </a:p>
        </p:txBody>
      </p:sp>
      <p:sp>
        <p:nvSpPr>
          <p:cNvPr id="22" name="Text 20"/>
          <p:cNvSpPr/>
          <p:nvPr/>
        </p:nvSpPr>
        <p:spPr>
          <a:xfrm>
            <a:off x="7315200" y="4919472"/>
            <a:ext cx="3520440" cy="228600"/>
          </a:xfrm>
          <a:prstGeom prst="rect">
            <a:avLst/>
          </a:prstGeom>
          <a:noFill/>
          <a:ln/>
        </p:spPr>
        <p:txBody>
          <a:bodyPr wrap="square" lIns="0" tIns="0" rIns="0" bIns="0" rtlCol="0" anchor="ctr">
            <a:normAutofit/>
          </a:bodyPr>
          <a:lstStyle/>
          <a:p>
            <a:pPr marL="0" indent="0">
              <a:buNone/>
            </a:pPr>
            <a:r>
              <a:rPr lang="en-US" sz="1150" dirty="0">
                <a:solidFill>
                  <a:srgbClr val="8391A8"/>
                </a:solidFill>
                <a:latin typeface="Aptos" pitchFamily="34" charset="0"/>
                <a:ea typeface="Aptos" pitchFamily="34" charset="-122"/>
                <a:cs typeface="Aptos" pitchFamily="34" charset="-120"/>
              </a:rPr>
              <a:t>practical but can overfit or forget</a:t>
            </a:r>
            <a:endParaRPr lang="en-US" sz="1150" dirty="0"/>
          </a:p>
        </p:txBody>
      </p:sp>
      <p:sp>
        <p:nvSpPr>
          <p:cNvPr id="23" name="Text 21"/>
          <p:cNvSpPr/>
          <p:nvPr/>
        </p:nvSpPr>
        <p:spPr>
          <a:xfrm>
            <a:off x="914400" y="5632704"/>
            <a:ext cx="1645920" cy="237744"/>
          </a:xfrm>
          <a:prstGeom prst="rect">
            <a:avLst/>
          </a:prstGeom>
          <a:noFill/>
          <a:ln/>
        </p:spPr>
        <p:txBody>
          <a:bodyPr wrap="square" lIns="0" tIns="0" rIns="0" bIns="0" rtlCol="0" anchor="ctr"/>
          <a:lstStyle/>
          <a:p>
            <a:pPr marL="0" indent="0">
              <a:buNone/>
            </a:pPr>
            <a:r>
              <a:rPr lang="en-US" sz="1020" b="1" dirty="0">
                <a:solidFill>
                  <a:srgbClr val="31D8FF"/>
                </a:solidFill>
                <a:latin typeface="Aptos" pitchFamily="34" charset="0"/>
                <a:ea typeface="Aptos" pitchFamily="34" charset="-122"/>
                <a:cs typeface="Aptos" pitchFamily="34" charset="-120"/>
              </a:rPr>
              <a:t>Practical recipe</a:t>
            </a:r>
            <a:endParaRPr lang="en-US" sz="1020" dirty="0"/>
          </a:p>
        </p:txBody>
      </p:sp>
      <p:sp>
        <p:nvSpPr>
          <p:cNvPr id="24" name="Text 22"/>
          <p:cNvSpPr/>
          <p:nvPr/>
        </p:nvSpPr>
        <p:spPr>
          <a:xfrm>
            <a:off x="2743200" y="5623560"/>
            <a:ext cx="7726680" cy="256032"/>
          </a:xfrm>
          <a:prstGeom prst="rect">
            <a:avLst/>
          </a:prstGeom>
          <a:noFill/>
          <a:ln/>
        </p:spPr>
        <p:txBody>
          <a:bodyPr wrap="square" lIns="0" tIns="0" rIns="0" bIns="0" rtlCol="0" anchor="ctr">
            <a:normAutofit/>
          </a:bodyPr>
          <a:lstStyle/>
          <a:p>
            <a:pPr marL="0" indent="0">
              <a:buNone/>
            </a:pPr>
            <a:r>
              <a:rPr lang="en-US" sz="1440" b="1" dirty="0">
                <a:solidFill>
                  <a:srgbClr val="F8FAFC"/>
                </a:solidFill>
                <a:latin typeface="Aptos Display" pitchFamily="34" charset="0"/>
                <a:ea typeface="Aptos Display" pitchFamily="34" charset="-122"/>
                <a:cs typeface="Aptos Display" pitchFamily="34" charset="-120"/>
              </a:rPr>
              <a:t>pretrain broadly → demonstrate task → train in simulation → validate on hardware → monitor drift</a:t>
            </a:r>
            <a:endParaRPr lang="en-US" sz="1440" dirty="0"/>
          </a:p>
        </p:txBody>
      </p:sp>
      <p:sp>
        <p:nvSpPr>
          <p:cNvPr id="25" name="Shape 23"/>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6" name="Text 24"/>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27" name="Text 25"/>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12</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13</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Crossing the sim-to-real gap</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The policy trained in simulation must survive the imperfections of the real machine and environment.</a:t>
            </a:r>
            <a:endParaRPr lang="en-US" sz="1450" dirty="0"/>
          </a:p>
        </p:txBody>
      </p:sp>
      <p:sp>
        <p:nvSpPr>
          <p:cNvPr id="7" name="Shape 5"/>
          <p:cNvSpPr/>
          <p:nvPr/>
        </p:nvSpPr>
        <p:spPr>
          <a:xfrm>
            <a:off x="868680" y="2103120"/>
            <a:ext cx="3794760" cy="2423160"/>
          </a:xfrm>
          <a:prstGeom prst="roundRect">
            <a:avLst>
              <a:gd name="adj" fmla="val 5283"/>
            </a:avLst>
          </a:prstGeom>
          <a:solidFill>
            <a:srgbClr val="12213B"/>
          </a:solidFill>
          <a:ln w="13970">
            <a:solidFill>
              <a:srgbClr val="3B82F6">
                <a:alpha val="80000"/>
              </a:srgbClr>
            </a:solidFill>
            <a:prstDash val="solid"/>
          </a:ln>
        </p:spPr>
        <p:txBody>
          <a:bodyPr/>
          <a:lstStyle/>
          <a:p>
            <a:endParaRPr lang="en-US"/>
          </a:p>
        </p:txBody>
      </p:sp>
      <p:sp>
        <p:nvSpPr>
          <p:cNvPr id="8" name="Text 6"/>
          <p:cNvSpPr/>
          <p:nvPr/>
        </p:nvSpPr>
        <p:spPr>
          <a:xfrm>
            <a:off x="1143000" y="2359152"/>
            <a:ext cx="3200400" cy="310896"/>
          </a:xfrm>
          <a:prstGeom prst="rect">
            <a:avLst/>
          </a:prstGeom>
          <a:noFill/>
          <a:ln/>
        </p:spPr>
        <p:txBody>
          <a:bodyPr wrap="square" lIns="0" tIns="0" rIns="0" bIns="0" rtlCol="0" anchor="ctr"/>
          <a:lstStyle/>
          <a:p>
            <a:pPr marL="0" indent="0" algn="ctr">
              <a:buNone/>
            </a:pPr>
            <a:r>
              <a:rPr lang="en-US" sz="2200" b="1" dirty="0">
                <a:solidFill>
                  <a:srgbClr val="F8FAFC"/>
                </a:solidFill>
                <a:latin typeface="Aptos Display" pitchFamily="34" charset="0"/>
                <a:ea typeface="Aptos Display" pitchFamily="34" charset="-122"/>
                <a:cs typeface="Aptos Display" pitchFamily="34" charset="-120"/>
              </a:rPr>
              <a:t>Simulation</a:t>
            </a:r>
            <a:endParaRPr lang="en-US" sz="2200" dirty="0"/>
          </a:p>
        </p:txBody>
      </p:sp>
      <p:sp>
        <p:nvSpPr>
          <p:cNvPr id="9" name="Text 7"/>
          <p:cNvSpPr/>
          <p:nvPr/>
        </p:nvSpPr>
        <p:spPr>
          <a:xfrm>
            <a:off x="1280160" y="2907792"/>
            <a:ext cx="2971800" cy="1005840"/>
          </a:xfrm>
          <a:prstGeom prst="rect">
            <a:avLst/>
          </a:prstGeom>
          <a:noFill/>
          <a:ln/>
        </p:spPr>
        <p:txBody>
          <a:bodyPr wrap="square" lIns="0" tIns="0" rIns="0" bIns="0" rtlCol="0" anchor="ctr">
            <a:normAutofit/>
          </a:bodyPr>
          <a:lstStyle/>
          <a:p>
            <a:pPr marL="0" indent="0" algn="ctr">
              <a:buNone/>
            </a:pPr>
            <a:r>
              <a:rPr lang="en-US" sz="1480" dirty="0">
                <a:solidFill>
                  <a:srgbClr val="B6C2D5"/>
                </a:solidFill>
                <a:latin typeface="Aptos" pitchFamily="34" charset="0"/>
                <a:ea typeface="Aptos" pitchFamily="34" charset="-122"/>
                <a:cs typeface="Aptos" pitchFamily="34" charset="-120"/>
              </a:rPr>
              <a:t>controlled physics</a:t>
            </a:r>
            <a:endParaRPr lang="en-US" sz="1480" dirty="0"/>
          </a:p>
          <a:p>
            <a:pPr marL="0" indent="0" algn="ctr">
              <a:buNone/>
            </a:pPr>
            <a:r>
              <a:rPr lang="en-US" sz="1480" dirty="0">
                <a:solidFill>
                  <a:srgbClr val="B6C2D5"/>
                </a:solidFill>
                <a:latin typeface="Aptos" pitchFamily="34" charset="0"/>
                <a:ea typeface="Aptos" pitchFamily="34" charset="-122"/>
                <a:cs typeface="Aptos" pitchFamily="34" charset="-120"/>
              </a:rPr>
              <a:t>perfect labels</a:t>
            </a:r>
            <a:endParaRPr lang="en-US" sz="1480" dirty="0"/>
          </a:p>
          <a:p>
            <a:pPr marL="0" indent="0" algn="ctr">
              <a:buNone/>
            </a:pPr>
            <a:r>
              <a:rPr lang="en-US" sz="1480" dirty="0">
                <a:solidFill>
                  <a:srgbClr val="B6C2D5"/>
                </a:solidFill>
                <a:latin typeface="Aptos" pitchFamily="34" charset="0"/>
                <a:ea typeface="Aptos" pitchFamily="34" charset="-122"/>
                <a:cs typeface="Aptos" pitchFamily="34" charset="-120"/>
              </a:rPr>
              <a:t>cheap retries</a:t>
            </a:r>
            <a:endParaRPr lang="en-US" sz="1480" dirty="0"/>
          </a:p>
          <a:p>
            <a:pPr marL="0" indent="0" algn="ctr">
              <a:buNone/>
            </a:pPr>
            <a:r>
              <a:rPr lang="en-US" sz="1480" dirty="0">
                <a:solidFill>
                  <a:srgbClr val="B6C2D5"/>
                </a:solidFill>
                <a:latin typeface="Aptos" pitchFamily="34" charset="0"/>
                <a:ea typeface="Aptos" pitchFamily="34" charset="-122"/>
                <a:cs typeface="Aptos" pitchFamily="34" charset="-120"/>
              </a:rPr>
              <a:t>rare-event generation</a:t>
            </a:r>
            <a:endParaRPr lang="en-US" sz="1480" dirty="0"/>
          </a:p>
        </p:txBody>
      </p:sp>
      <p:sp>
        <p:nvSpPr>
          <p:cNvPr id="10" name="Shape 8"/>
          <p:cNvSpPr/>
          <p:nvPr/>
        </p:nvSpPr>
        <p:spPr>
          <a:xfrm>
            <a:off x="7543800" y="2103120"/>
            <a:ext cx="3794760" cy="2423160"/>
          </a:xfrm>
          <a:prstGeom prst="roundRect">
            <a:avLst>
              <a:gd name="adj" fmla="val 5283"/>
            </a:avLst>
          </a:prstGeom>
          <a:solidFill>
            <a:srgbClr val="12213B"/>
          </a:solidFill>
          <a:ln w="13970">
            <a:solidFill>
              <a:srgbClr val="22C55E">
                <a:alpha val="80000"/>
              </a:srgbClr>
            </a:solidFill>
            <a:prstDash val="solid"/>
          </a:ln>
        </p:spPr>
        <p:txBody>
          <a:bodyPr/>
          <a:lstStyle/>
          <a:p>
            <a:endParaRPr lang="en-US"/>
          </a:p>
        </p:txBody>
      </p:sp>
      <p:sp>
        <p:nvSpPr>
          <p:cNvPr id="11" name="Text 9"/>
          <p:cNvSpPr/>
          <p:nvPr/>
        </p:nvSpPr>
        <p:spPr>
          <a:xfrm>
            <a:off x="7818120" y="2359152"/>
            <a:ext cx="3200400" cy="310896"/>
          </a:xfrm>
          <a:prstGeom prst="rect">
            <a:avLst/>
          </a:prstGeom>
          <a:noFill/>
          <a:ln/>
        </p:spPr>
        <p:txBody>
          <a:bodyPr wrap="square" lIns="0" tIns="0" rIns="0" bIns="0" rtlCol="0" anchor="ctr"/>
          <a:lstStyle/>
          <a:p>
            <a:pPr marL="0" indent="0" algn="ctr">
              <a:buNone/>
            </a:pPr>
            <a:r>
              <a:rPr lang="en-US" sz="2200" b="1" dirty="0">
                <a:solidFill>
                  <a:srgbClr val="F8FAFC"/>
                </a:solidFill>
                <a:latin typeface="Aptos Display" pitchFamily="34" charset="0"/>
                <a:ea typeface="Aptos Display" pitchFamily="34" charset="-122"/>
                <a:cs typeface="Aptos Display" pitchFamily="34" charset="-120"/>
              </a:rPr>
              <a:t>Real world</a:t>
            </a:r>
            <a:endParaRPr lang="en-US" sz="2200" dirty="0"/>
          </a:p>
        </p:txBody>
      </p:sp>
      <p:sp>
        <p:nvSpPr>
          <p:cNvPr id="12" name="Text 10"/>
          <p:cNvSpPr/>
          <p:nvPr/>
        </p:nvSpPr>
        <p:spPr>
          <a:xfrm>
            <a:off x="7955280" y="2907792"/>
            <a:ext cx="2971800" cy="1005840"/>
          </a:xfrm>
          <a:prstGeom prst="rect">
            <a:avLst/>
          </a:prstGeom>
          <a:noFill/>
          <a:ln/>
        </p:spPr>
        <p:txBody>
          <a:bodyPr wrap="square" lIns="0" tIns="0" rIns="0" bIns="0" rtlCol="0" anchor="ctr">
            <a:normAutofit/>
          </a:bodyPr>
          <a:lstStyle/>
          <a:p>
            <a:pPr marL="0" indent="0" algn="ctr">
              <a:buNone/>
            </a:pPr>
            <a:r>
              <a:rPr lang="en-US" sz="1480" dirty="0">
                <a:solidFill>
                  <a:srgbClr val="B6C2D5"/>
                </a:solidFill>
                <a:latin typeface="Aptos" pitchFamily="34" charset="0"/>
                <a:ea typeface="Aptos" pitchFamily="34" charset="-122"/>
                <a:cs typeface="Aptos" pitchFamily="34" charset="-120"/>
              </a:rPr>
              <a:t>wear and tear</a:t>
            </a:r>
            <a:endParaRPr lang="en-US" sz="1480" dirty="0"/>
          </a:p>
          <a:p>
            <a:pPr marL="0" indent="0" algn="ctr">
              <a:buNone/>
            </a:pPr>
            <a:r>
              <a:rPr lang="en-US" sz="1480" dirty="0">
                <a:solidFill>
                  <a:srgbClr val="B6C2D5"/>
                </a:solidFill>
                <a:latin typeface="Aptos" pitchFamily="34" charset="0"/>
                <a:ea typeface="Aptos" pitchFamily="34" charset="-122"/>
                <a:cs typeface="Aptos" pitchFamily="34" charset="-120"/>
              </a:rPr>
              <a:t>lighting changes</a:t>
            </a:r>
            <a:endParaRPr lang="en-US" sz="1480" dirty="0"/>
          </a:p>
          <a:p>
            <a:pPr marL="0" indent="0" algn="ctr">
              <a:buNone/>
            </a:pPr>
            <a:r>
              <a:rPr lang="en-US" sz="1480" dirty="0">
                <a:solidFill>
                  <a:srgbClr val="B6C2D5"/>
                </a:solidFill>
                <a:latin typeface="Aptos" pitchFamily="34" charset="0"/>
                <a:ea typeface="Aptos" pitchFamily="34" charset="-122"/>
                <a:cs typeface="Aptos" pitchFamily="34" charset="-120"/>
              </a:rPr>
              <a:t>sensor noise</a:t>
            </a:r>
            <a:endParaRPr lang="en-US" sz="1480" dirty="0"/>
          </a:p>
          <a:p>
            <a:pPr marL="0" indent="0" algn="ctr">
              <a:buNone/>
            </a:pPr>
            <a:r>
              <a:rPr lang="en-US" sz="1480" dirty="0">
                <a:solidFill>
                  <a:srgbClr val="B6C2D5"/>
                </a:solidFill>
                <a:latin typeface="Aptos" pitchFamily="34" charset="0"/>
                <a:ea typeface="Aptos" pitchFamily="34" charset="-122"/>
                <a:cs typeface="Aptos" pitchFamily="34" charset="-120"/>
              </a:rPr>
              <a:t>human behavior</a:t>
            </a:r>
            <a:endParaRPr lang="en-US" sz="1480" dirty="0"/>
          </a:p>
        </p:txBody>
      </p:sp>
      <p:sp>
        <p:nvSpPr>
          <p:cNvPr id="13" name="Shape 11"/>
          <p:cNvSpPr/>
          <p:nvPr/>
        </p:nvSpPr>
        <p:spPr>
          <a:xfrm>
            <a:off x="4892040" y="3310128"/>
            <a:ext cx="2404872" cy="0"/>
          </a:xfrm>
          <a:prstGeom prst="line">
            <a:avLst/>
          </a:prstGeom>
          <a:noFill/>
          <a:ln w="25400">
            <a:solidFill>
              <a:srgbClr val="31D8FF">
                <a:alpha val="90000"/>
              </a:srgbClr>
            </a:solidFill>
            <a:prstDash val="solid"/>
            <a:tailEnd type="triangle"/>
          </a:ln>
        </p:spPr>
        <p:txBody>
          <a:bodyPr/>
          <a:lstStyle/>
          <a:p>
            <a:endParaRPr lang="en-US"/>
          </a:p>
        </p:txBody>
      </p:sp>
      <p:sp>
        <p:nvSpPr>
          <p:cNvPr id="14" name="Shape 12"/>
          <p:cNvSpPr/>
          <p:nvPr/>
        </p:nvSpPr>
        <p:spPr>
          <a:xfrm>
            <a:off x="4919472" y="3749040"/>
            <a:ext cx="2331720" cy="786384"/>
          </a:xfrm>
          <a:prstGeom prst="roundRect">
            <a:avLst>
              <a:gd name="adj" fmla="val 11628"/>
            </a:avLst>
          </a:prstGeom>
          <a:solidFill>
            <a:srgbClr val="0F1C33"/>
          </a:solidFill>
          <a:ln w="11430">
            <a:solidFill>
              <a:srgbClr val="31D8FF">
                <a:alpha val="85000"/>
              </a:srgbClr>
            </a:solidFill>
            <a:prstDash val="solid"/>
          </a:ln>
        </p:spPr>
        <p:txBody>
          <a:bodyPr/>
          <a:lstStyle/>
          <a:p>
            <a:endParaRPr lang="en-US"/>
          </a:p>
        </p:txBody>
      </p:sp>
      <p:sp>
        <p:nvSpPr>
          <p:cNvPr id="15" name="Text 13"/>
          <p:cNvSpPr/>
          <p:nvPr/>
        </p:nvSpPr>
        <p:spPr>
          <a:xfrm>
            <a:off x="5102352" y="3895344"/>
            <a:ext cx="1965960" cy="228600"/>
          </a:xfrm>
          <a:prstGeom prst="rect">
            <a:avLst/>
          </a:prstGeom>
          <a:noFill/>
          <a:ln/>
        </p:spPr>
        <p:txBody>
          <a:bodyPr wrap="square" lIns="0" tIns="0" rIns="0" bIns="0" rtlCol="0" anchor="ctr"/>
          <a:lstStyle/>
          <a:p>
            <a:pPr marL="0" indent="0" algn="ctr">
              <a:buNone/>
            </a:pPr>
            <a:r>
              <a:rPr lang="en-US" sz="1450" b="1" dirty="0">
                <a:solidFill>
                  <a:srgbClr val="F8FAFC"/>
                </a:solidFill>
                <a:latin typeface="Aptos Display" pitchFamily="34" charset="0"/>
                <a:ea typeface="Aptos Display" pitchFamily="34" charset="-122"/>
                <a:cs typeface="Aptos Display" pitchFamily="34" charset="-120"/>
              </a:rPr>
              <a:t>Transfer toolkit</a:t>
            </a:r>
            <a:endParaRPr lang="en-US" sz="1450" dirty="0"/>
          </a:p>
        </p:txBody>
      </p:sp>
      <p:sp>
        <p:nvSpPr>
          <p:cNvPr id="16" name="Text 14"/>
          <p:cNvSpPr/>
          <p:nvPr/>
        </p:nvSpPr>
        <p:spPr>
          <a:xfrm>
            <a:off x="5056632" y="4160520"/>
            <a:ext cx="2057400" cy="192024"/>
          </a:xfrm>
          <a:prstGeom prst="rect">
            <a:avLst/>
          </a:prstGeom>
          <a:noFill/>
          <a:ln/>
        </p:spPr>
        <p:txBody>
          <a:bodyPr wrap="square" lIns="0" tIns="0" rIns="0" bIns="0" rtlCol="0" anchor="ctr"/>
          <a:lstStyle/>
          <a:p>
            <a:pPr marL="0" indent="0" algn="ctr">
              <a:buNone/>
            </a:pPr>
            <a:r>
              <a:rPr lang="en-US" sz="890" dirty="0">
                <a:solidFill>
                  <a:srgbClr val="B6C2D5"/>
                </a:solidFill>
                <a:latin typeface="Aptos" pitchFamily="34" charset="0"/>
                <a:ea typeface="Aptos" pitchFamily="34" charset="-122"/>
                <a:cs typeface="Aptos" pitchFamily="34" charset="-120"/>
              </a:rPr>
              <a:t>randomize, calibrate, constrain, test</a:t>
            </a:r>
            <a:endParaRPr lang="en-US" sz="890" dirty="0"/>
          </a:p>
        </p:txBody>
      </p:sp>
      <p:sp>
        <p:nvSpPr>
          <p:cNvPr id="17" name="Shape 15"/>
          <p:cNvSpPr/>
          <p:nvPr/>
        </p:nvSpPr>
        <p:spPr>
          <a:xfrm>
            <a:off x="1188720" y="5440680"/>
            <a:ext cx="2240280" cy="475488"/>
          </a:xfrm>
          <a:prstGeom prst="roundRect">
            <a:avLst>
              <a:gd name="adj" fmla="val 15385"/>
            </a:avLst>
          </a:prstGeom>
          <a:solidFill>
            <a:srgbClr val="12213B"/>
          </a:solidFill>
          <a:ln w="10160">
            <a:solidFill>
              <a:srgbClr val="31D8FF">
                <a:alpha val="65000"/>
              </a:srgbClr>
            </a:solidFill>
            <a:prstDash val="solid"/>
          </a:ln>
        </p:spPr>
        <p:txBody>
          <a:bodyPr/>
          <a:lstStyle/>
          <a:p>
            <a:endParaRPr lang="en-US"/>
          </a:p>
        </p:txBody>
      </p:sp>
      <p:sp>
        <p:nvSpPr>
          <p:cNvPr id="18" name="Text 16"/>
          <p:cNvSpPr/>
          <p:nvPr/>
        </p:nvSpPr>
        <p:spPr>
          <a:xfrm>
            <a:off x="1280160" y="5577840"/>
            <a:ext cx="2057400" cy="164592"/>
          </a:xfrm>
          <a:prstGeom prst="rect">
            <a:avLst/>
          </a:prstGeom>
          <a:noFill/>
          <a:ln/>
        </p:spPr>
        <p:txBody>
          <a:bodyPr wrap="square" lIns="0" tIns="0" rIns="0" bIns="0" rtlCol="0" anchor="ctr">
            <a:normAutofit/>
          </a:bodyPr>
          <a:lstStyle/>
          <a:p>
            <a:pPr marL="0" indent="0" algn="ctr">
              <a:buNone/>
            </a:pPr>
            <a:r>
              <a:rPr lang="en-US" sz="950" b="1" dirty="0">
                <a:solidFill>
                  <a:srgbClr val="F8FAFC"/>
                </a:solidFill>
                <a:latin typeface="Aptos" pitchFamily="34" charset="0"/>
                <a:ea typeface="Aptos" pitchFamily="34" charset="-122"/>
                <a:cs typeface="Aptos" pitchFamily="34" charset="-120"/>
              </a:rPr>
              <a:t>Domain randomization</a:t>
            </a:r>
            <a:endParaRPr lang="en-US" sz="950" dirty="0"/>
          </a:p>
        </p:txBody>
      </p:sp>
      <p:sp>
        <p:nvSpPr>
          <p:cNvPr id="19" name="Shape 17"/>
          <p:cNvSpPr/>
          <p:nvPr/>
        </p:nvSpPr>
        <p:spPr>
          <a:xfrm>
            <a:off x="3611880" y="5440680"/>
            <a:ext cx="2240280" cy="475488"/>
          </a:xfrm>
          <a:prstGeom prst="roundRect">
            <a:avLst>
              <a:gd name="adj" fmla="val 15385"/>
            </a:avLst>
          </a:prstGeom>
          <a:solidFill>
            <a:srgbClr val="12213B"/>
          </a:solidFill>
          <a:ln w="10160">
            <a:solidFill>
              <a:srgbClr val="3B82F6">
                <a:alpha val="65000"/>
              </a:srgbClr>
            </a:solidFill>
            <a:prstDash val="solid"/>
          </a:ln>
        </p:spPr>
        <p:txBody>
          <a:bodyPr/>
          <a:lstStyle/>
          <a:p>
            <a:endParaRPr lang="en-US"/>
          </a:p>
        </p:txBody>
      </p:sp>
      <p:sp>
        <p:nvSpPr>
          <p:cNvPr id="20" name="Text 18"/>
          <p:cNvSpPr/>
          <p:nvPr/>
        </p:nvSpPr>
        <p:spPr>
          <a:xfrm>
            <a:off x="3703320" y="5577840"/>
            <a:ext cx="2057400" cy="164592"/>
          </a:xfrm>
          <a:prstGeom prst="rect">
            <a:avLst/>
          </a:prstGeom>
          <a:noFill/>
          <a:ln/>
        </p:spPr>
        <p:txBody>
          <a:bodyPr wrap="square" lIns="0" tIns="0" rIns="0" bIns="0" rtlCol="0" anchor="ctr">
            <a:normAutofit/>
          </a:bodyPr>
          <a:lstStyle/>
          <a:p>
            <a:pPr marL="0" indent="0" algn="ctr">
              <a:buNone/>
            </a:pPr>
            <a:r>
              <a:rPr lang="en-US" sz="950" b="1" dirty="0">
                <a:solidFill>
                  <a:srgbClr val="F8FAFC"/>
                </a:solidFill>
                <a:latin typeface="Aptos" pitchFamily="34" charset="0"/>
                <a:ea typeface="Aptos" pitchFamily="34" charset="-122"/>
                <a:cs typeface="Aptos" pitchFamily="34" charset="-120"/>
              </a:rPr>
              <a:t>System identification</a:t>
            </a:r>
            <a:endParaRPr lang="en-US" sz="950" dirty="0"/>
          </a:p>
        </p:txBody>
      </p:sp>
      <p:sp>
        <p:nvSpPr>
          <p:cNvPr id="21" name="Shape 19"/>
          <p:cNvSpPr/>
          <p:nvPr/>
        </p:nvSpPr>
        <p:spPr>
          <a:xfrm>
            <a:off x="6035040" y="5440680"/>
            <a:ext cx="2240280" cy="475488"/>
          </a:xfrm>
          <a:prstGeom prst="roundRect">
            <a:avLst>
              <a:gd name="adj" fmla="val 15385"/>
            </a:avLst>
          </a:prstGeom>
          <a:solidFill>
            <a:srgbClr val="12213B"/>
          </a:solidFill>
          <a:ln w="10160">
            <a:solidFill>
              <a:srgbClr val="F59E0B">
                <a:alpha val="65000"/>
              </a:srgbClr>
            </a:solidFill>
            <a:prstDash val="solid"/>
          </a:ln>
        </p:spPr>
        <p:txBody>
          <a:bodyPr/>
          <a:lstStyle/>
          <a:p>
            <a:endParaRPr lang="en-US"/>
          </a:p>
        </p:txBody>
      </p:sp>
      <p:sp>
        <p:nvSpPr>
          <p:cNvPr id="22" name="Text 20"/>
          <p:cNvSpPr/>
          <p:nvPr/>
        </p:nvSpPr>
        <p:spPr>
          <a:xfrm>
            <a:off x="6126480" y="5577840"/>
            <a:ext cx="2057400" cy="164592"/>
          </a:xfrm>
          <a:prstGeom prst="rect">
            <a:avLst/>
          </a:prstGeom>
          <a:noFill/>
          <a:ln/>
        </p:spPr>
        <p:txBody>
          <a:bodyPr wrap="square" lIns="0" tIns="0" rIns="0" bIns="0" rtlCol="0" anchor="ctr">
            <a:normAutofit/>
          </a:bodyPr>
          <a:lstStyle/>
          <a:p>
            <a:pPr marL="0" indent="0" algn="ctr">
              <a:buNone/>
            </a:pPr>
            <a:r>
              <a:rPr lang="en-US" sz="950" b="1" dirty="0">
                <a:solidFill>
                  <a:srgbClr val="F8FAFC"/>
                </a:solidFill>
                <a:latin typeface="Aptos" pitchFamily="34" charset="0"/>
                <a:ea typeface="Aptos" pitchFamily="34" charset="-122"/>
                <a:cs typeface="Aptos" pitchFamily="34" charset="-120"/>
              </a:rPr>
              <a:t>Safety envelopes</a:t>
            </a:r>
            <a:endParaRPr lang="en-US" sz="950" dirty="0"/>
          </a:p>
        </p:txBody>
      </p:sp>
      <p:sp>
        <p:nvSpPr>
          <p:cNvPr id="23" name="Shape 21"/>
          <p:cNvSpPr/>
          <p:nvPr/>
        </p:nvSpPr>
        <p:spPr>
          <a:xfrm>
            <a:off x="8458200" y="5440680"/>
            <a:ext cx="2240280" cy="475488"/>
          </a:xfrm>
          <a:prstGeom prst="roundRect">
            <a:avLst>
              <a:gd name="adj" fmla="val 15385"/>
            </a:avLst>
          </a:prstGeom>
          <a:solidFill>
            <a:srgbClr val="12213B"/>
          </a:solidFill>
          <a:ln w="10160">
            <a:solidFill>
              <a:srgbClr val="22C55E">
                <a:alpha val="65000"/>
              </a:srgbClr>
            </a:solidFill>
            <a:prstDash val="solid"/>
          </a:ln>
        </p:spPr>
        <p:txBody>
          <a:bodyPr/>
          <a:lstStyle/>
          <a:p>
            <a:endParaRPr lang="en-US"/>
          </a:p>
        </p:txBody>
      </p:sp>
      <p:sp>
        <p:nvSpPr>
          <p:cNvPr id="24" name="Text 22"/>
          <p:cNvSpPr/>
          <p:nvPr/>
        </p:nvSpPr>
        <p:spPr>
          <a:xfrm>
            <a:off x="8549640" y="5577840"/>
            <a:ext cx="2057400" cy="164592"/>
          </a:xfrm>
          <a:prstGeom prst="rect">
            <a:avLst/>
          </a:prstGeom>
          <a:noFill/>
          <a:ln/>
        </p:spPr>
        <p:txBody>
          <a:bodyPr wrap="square" lIns="0" tIns="0" rIns="0" bIns="0" rtlCol="0" anchor="ctr">
            <a:normAutofit/>
          </a:bodyPr>
          <a:lstStyle/>
          <a:p>
            <a:pPr marL="0" indent="0" algn="ctr">
              <a:buNone/>
            </a:pPr>
            <a:r>
              <a:rPr lang="en-US" sz="950" b="1" dirty="0">
                <a:solidFill>
                  <a:srgbClr val="F8FAFC"/>
                </a:solidFill>
                <a:latin typeface="Aptos" pitchFamily="34" charset="0"/>
                <a:ea typeface="Aptos" pitchFamily="34" charset="-122"/>
                <a:cs typeface="Aptos" pitchFamily="34" charset="-120"/>
              </a:rPr>
              <a:t>Hardware-in-loop tests</a:t>
            </a:r>
            <a:endParaRPr lang="en-US" sz="950" dirty="0"/>
          </a:p>
        </p:txBody>
      </p:sp>
      <p:sp>
        <p:nvSpPr>
          <p:cNvPr id="25" name="Shape 23"/>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6" name="Text 24"/>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27" name="Text 25"/>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13</a:t>
            </a:r>
            <a:endParaRPr lang="en-US" sz="8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14</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Architecture choices</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Physical AI can be built as modular pipelines, end-to-end policies, or hybrid systems.</a:t>
            </a:r>
            <a:endParaRPr lang="en-US" sz="1450" dirty="0"/>
          </a:p>
        </p:txBody>
      </p:sp>
      <p:sp>
        <p:nvSpPr>
          <p:cNvPr id="7" name="Shape 5"/>
          <p:cNvSpPr/>
          <p:nvPr/>
        </p:nvSpPr>
        <p:spPr>
          <a:xfrm>
            <a:off x="868680" y="1965960"/>
            <a:ext cx="3429000" cy="3154680"/>
          </a:xfrm>
          <a:prstGeom prst="roundRect">
            <a:avLst>
              <a:gd name="adj" fmla="val 4638"/>
            </a:avLst>
          </a:prstGeom>
          <a:solidFill>
            <a:srgbClr val="12213B"/>
          </a:solidFill>
          <a:ln w="13970">
            <a:solidFill>
              <a:srgbClr val="31D8FF">
                <a:alpha val="75000"/>
              </a:srgbClr>
            </a:solidFill>
            <a:prstDash val="solid"/>
          </a:ln>
        </p:spPr>
        <p:txBody>
          <a:bodyPr/>
          <a:lstStyle/>
          <a:p>
            <a:endParaRPr lang="en-US"/>
          </a:p>
        </p:txBody>
      </p:sp>
      <p:sp>
        <p:nvSpPr>
          <p:cNvPr id="8" name="Text 6"/>
          <p:cNvSpPr/>
          <p:nvPr/>
        </p:nvSpPr>
        <p:spPr>
          <a:xfrm>
            <a:off x="1097280" y="2221992"/>
            <a:ext cx="2971800" cy="347472"/>
          </a:xfrm>
          <a:prstGeom prst="rect">
            <a:avLst/>
          </a:prstGeom>
          <a:noFill/>
          <a:ln/>
        </p:spPr>
        <p:txBody>
          <a:bodyPr wrap="square" lIns="0" tIns="0" rIns="0" bIns="0" rtlCol="0" anchor="ctr"/>
          <a:lstStyle/>
          <a:p>
            <a:pPr marL="0" indent="0" algn="ctr">
              <a:buNone/>
            </a:pPr>
            <a:r>
              <a:rPr lang="en-US" sz="2300" b="1" dirty="0">
                <a:solidFill>
                  <a:srgbClr val="F8FAFC"/>
                </a:solidFill>
                <a:latin typeface="Aptos Display" pitchFamily="34" charset="0"/>
                <a:ea typeface="Aptos Display" pitchFamily="34" charset="-122"/>
                <a:cs typeface="Aptos Display" pitchFamily="34" charset="-120"/>
              </a:rPr>
              <a:t>Modular</a:t>
            </a:r>
            <a:endParaRPr lang="en-US" sz="2300" dirty="0"/>
          </a:p>
        </p:txBody>
      </p:sp>
      <p:sp>
        <p:nvSpPr>
          <p:cNvPr id="9" name="Text 7"/>
          <p:cNvSpPr/>
          <p:nvPr/>
        </p:nvSpPr>
        <p:spPr>
          <a:xfrm>
            <a:off x="1161288" y="2770632"/>
            <a:ext cx="2834640" cy="301752"/>
          </a:xfrm>
          <a:prstGeom prst="rect">
            <a:avLst/>
          </a:prstGeom>
          <a:noFill/>
          <a:ln/>
        </p:spPr>
        <p:txBody>
          <a:bodyPr wrap="square" lIns="0" tIns="0" rIns="0" bIns="0" rtlCol="0" anchor="ctr">
            <a:normAutofit/>
          </a:bodyPr>
          <a:lstStyle/>
          <a:p>
            <a:pPr marL="0" indent="0" algn="ctr">
              <a:buNone/>
            </a:pPr>
            <a:r>
              <a:rPr lang="en-US" sz="1250" b="1" dirty="0">
                <a:solidFill>
                  <a:srgbClr val="31D8FF"/>
                </a:solidFill>
                <a:latin typeface="Aptos" pitchFamily="34" charset="0"/>
                <a:ea typeface="Aptos" pitchFamily="34" charset="-122"/>
                <a:cs typeface="Aptos" pitchFamily="34" charset="-120"/>
              </a:rPr>
              <a:t>perception → planning → control</a:t>
            </a:r>
            <a:endParaRPr lang="en-US" sz="1250" dirty="0"/>
          </a:p>
        </p:txBody>
      </p:sp>
      <p:sp>
        <p:nvSpPr>
          <p:cNvPr id="10" name="Shape 8"/>
          <p:cNvSpPr/>
          <p:nvPr/>
        </p:nvSpPr>
        <p:spPr>
          <a:xfrm>
            <a:off x="1399032" y="3364992"/>
            <a:ext cx="2377440" cy="0"/>
          </a:xfrm>
          <a:prstGeom prst="line">
            <a:avLst/>
          </a:prstGeom>
          <a:noFill/>
          <a:ln w="12700">
            <a:solidFill>
              <a:srgbClr val="31D8FF">
                <a:alpha val="50000"/>
              </a:srgbClr>
            </a:solidFill>
            <a:prstDash val="solid"/>
          </a:ln>
        </p:spPr>
        <p:txBody>
          <a:bodyPr/>
          <a:lstStyle/>
          <a:p>
            <a:endParaRPr lang="en-US"/>
          </a:p>
        </p:txBody>
      </p:sp>
      <p:sp>
        <p:nvSpPr>
          <p:cNvPr id="11" name="Text 9"/>
          <p:cNvSpPr/>
          <p:nvPr/>
        </p:nvSpPr>
        <p:spPr>
          <a:xfrm>
            <a:off x="1216152" y="3675888"/>
            <a:ext cx="2743200" cy="896112"/>
          </a:xfrm>
          <a:prstGeom prst="rect">
            <a:avLst/>
          </a:prstGeom>
          <a:noFill/>
          <a:ln/>
        </p:spPr>
        <p:txBody>
          <a:bodyPr wrap="square" lIns="0" tIns="0" rIns="0" bIns="0" rtlCol="0" anchor="ctr">
            <a:normAutofit/>
          </a:bodyPr>
          <a:lstStyle/>
          <a:p>
            <a:pPr marL="0" indent="0" algn="ctr">
              <a:buNone/>
            </a:pPr>
            <a:r>
              <a:rPr lang="en-US" sz="1280" dirty="0">
                <a:solidFill>
                  <a:srgbClr val="B6C2D5"/>
                </a:solidFill>
                <a:latin typeface="Aptos" pitchFamily="34" charset="0"/>
                <a:ea typeface="Aptos" pitchFamily="34" charset="-122"/>
                <a:cs typeface="Aptos" pitchFamily="34" charset="-120"/>
              </a:rPr>
              <a:t>interpretable; easier safety review</a:t>
            </a:r>
            <a:endParaRPr lang="en-US" sz="1280" dirty="0"/>
          </a:p>
          <a:p>
            <a:pPr marL="0" indent="0" algn="ctr">
              <a:buNone/>
            </a:pPr>
            <a:r>
              <a:rPr lang="en-US" sz="1280" dirty="0">
                <a:solidFill>
                  <a:srgbClr val="B6C2D5"/>
                </a:solidFill>
                <a:latin typeface="Aptos" pitchFamily="34" charset="0"/>
                <a:ea typeface="Aptos" pitchFamily="34" charset="-122"/>
                <a:cs typeface="Aptos" pitchFamily="34" charset="-120"/>
              </a:rPr>
              <a:t>brittle interfaces between modules</a:t>
            </a:r>
            <a:endParaRPr lang="en-US" sz="1280" dirty="0"/>
          </a:p>
        </p:txBody>
      </p:sp>
      <p:sp>
        <p:nvSpPr>
          <p:cNvPr id="12" name="Shape 10"/>
          <p:cNvSpPr/>
          <p:nvPr/>
        </p:nvSpPr>
        <p:spPr>
          <a:xfrm>
            <a:off x="4526280" y="1965960"/>
            <a:ext cx="3429000" cy="3154680"/>
          </a:xfrm>
          <a:prstGeom prst="roundRect">
            <a:avLst>
              <a:gd name="adj" fmla="val 4638"/>
            </a:avLst>
          </a:prstGeom>
          <a:solidFill>
            <a:srgbClr val="12213B">
              <a:alpha val="96000"/>
            </a:srgbClr>
          </a:solidFill>
          <a:ln w="13970">
            <a:solidFill>
              <a:srgbClr val="A78BFA">
                <a:alpha val="75000"/>
              </a:srgbClr>
            </a:solidFill>
            <a:prstDash val="solid"/>
          </a:ln>
        </p:spPr>
        <p:txBody>
          <a:bodyPr/>
          <a:lstStyle/>
          <a:p>
            <a:endParaRPr lang="en-US"/>
          </a:p>
        </p:txBody>
      </p:sp>
      <p:sp>
        <p:nvSpPr>
          <p:cNvPr id="13" name="Text 11"/>
          <p:cNvSpPr/>
          <p:nvPr/>
        </p:nvSpPr>
        <p:spPr>
          <a:xfrm>
            <a:off x="4754880" y="2221992"/>
            <a:ext cx="2971800" cy="347472"/>
          </a:xfrm>
          <a:prstGeom prst="rect">
            <a:avLst/>
          </a:prstGeom>
          <a:noFill/>
          <a:ln/>
        </p:spPr>
        <p:txBody>
          <a:bodyPr wrap="square" lIns="0" tIns="0" rIns="0" bIns="0" rtlCol="0" anchor="ctr"/>
          <a:lstStyle/>
          <a:p>
            <a:pPr marL="0" indent="0" algn="ctr">
              <a:buNone/>
            </a:pPr>
            <a:r>
              <a:rPr lang="en-US" sz="2300" b="1" dirty="0">
                <a:solidFill>
                  <a:srgbClr val="F8FAFC"/>
                </a:solidFill>
                <a:latin typeface="Aptos Display" pitchFamily="34" charset="0"/>
                <a:ea typeface="Aptos Display" pitchFamily="34" charset="-122"/>
                <a:cs typeface="Aptos Display" pitchFamily="34" charset="-120"/>
              </a:rPr>
              <a:t>End-to-end</a:t>
            </a:r>
            <a:endParaRPr lang="en-US" sz="2300" dirty="0"/>
          </a:p>
        </p:txBody>
      </p:sp>
      <p:sp>
        <p:nvSpPr>
          <p:cNvPr id="14" name="Text 12"/>
          <p:cNvSpPr/>
          <p:nvPr/>
        </p:nvSpPr>
        <p:spPr>
          <a:xfrm>
            <a:off x="4818888" y="2770632"/>
            <a:ext cx="2834640" cy="301752"/>
          </a:xfrm>
          <a:prstGeom prst="rect">
            <a:avLst/>
          </a:prstGeom>
          <a:noFill/>
          <a:ln/>
        </p:spPr>
        <p:txBody>
          <a:bodyPr wrap="square" lIns="0" tIns="0" rIns="0" bIns="0" rtlCol="0" anchor="ctr">
            <a:normAutofit/>
          </a:bodyPr>
          <a:lstStyle/>
          <a:p>
            <a:pPr marL="0" indent="0" algn="ctr">
              <a:buNone/>
            </a:pPr>
            <a:r>
              <a:rPr lang="en-US" sz="1250" b="1" dirty="0">
                <a:solidFill>
                  <a:srgbClr val="A78BFA"/>
                </a:solidFill>
                <a:latin typeface="Aptos" pitchFamily="34" charset="0"/>
                <a:ea typeface="Aptos" pitchFamily="34" charset="-122"/>
                <a:cs typeface="Aptos" pitchFamily="34" charset="-120"/>
              </a:rPr>
              <a:t>observation → action</a:t>
            </a:r>
            <a:endParaRPr lang="en-US" sz="1250" dirty="0"/>
          </a:p>
        </p:txBody>
      </p:sp>
      <p:sp>
        <p:nvSpPr>
          <p:cNvPr id="15" name="Shape 13"/>
          <p:cNvSpPr/>
          <p:nvPr/>
        </p:nvSpPr>
        <p:spPr>
          <a:xfrm>
            <a:off x="5056632" y="3364992"/>
            <a:ext cx="2377440" cy="0"/>
          </a:xfrm>
          <a:prstGeom prst="line">
            <a:avLst/>
          </a:prstGeom>
          <a:noFill/>
          <a:ln w="12700">
            <a:solidFill>
              <a:srgbClr val="A78BFA">
                <a:alpha val="50000"/>
              </a:srgbClr>
            </a:solidFill>
            <a:prstDash val="solid"/>
          </a:ln>
        </p:spPr>
        <p:txBody>
          <a:bodyPr/>
          <a:lstStyle/>
          <a:p>
            <a:endParaRPr lang="en-US"/>
          </a:p>
        </p:txBody>
      </p:sp>
      <p:sp>
        <p:nvSpPr>
          <p:cNvPr id="16" name="Text 14"/>
          <p:cNvSpPr/>
          <p:nvPr/>
        </p:nvSpPr>
        <p:spPr>
          <a:xfrm>
            <a:off x="4873752" y="3675888"/>
            <a:ext cx="2743200" cy="896112"/>
          </a:xfrm>
          <a:prstGeom prst="rect">
            <a:avLst/>
          </a:prstGeom>
          <a:noFill/>
          <a:ln/>
        </p:spPr>
        <p:txBody>
          <a:bodyPr wrap="square" lIns="0" tIns="0" rIns="0" bIns="0" rtlCol="0" anchor="ctr">
            <a:normAutofit/>
          </a:bodyPr>
          <a:lstStyle/>
          <a:p>
            <a:pPr marL="0" indent="0" algn="ctr">
              <a:buNone/>
            </a:pPr>
            <a:r>
              <a:rPr lang="en-US" sz="1280" dirty="0">
                <a:solidFill>
                  <a:srgbClr val="B6C2D5"/>
                </a:solidFill>
                <a:latin typeface="Aptos" pitchFamily="34" charset="0"/>
                <a:ea typeface="Aptos" pitchFamily="34" charset="-122"/>
                <a:cs typeface="Aptos" pitchFamily="34" charset="-120"/>
              </a:rPr>
              <a:t>less hand engineering</a:t>
            </a:r>
            <a:endParaRPr lang="en-US" sz="1280" dirty="0"/>
          </a:p>
          <a:p>
            <a:pPr marL="0" indent="0" algn="ctr">
              <a:buNone/>
            </a:pPr>
            <a:r>
              <a:rPr lang="en-US" sz="1280" dirty="0">
                <a:solidFill>
                  <a:srgbClr val="B6C2D5"/>
                </a:solidFill>
                <a:latin typeface="Aptos" pitchFamily="34" charset="0"/>
                <a:ea typeface="Aptos" pitchFamily="34" charset="-122"/>
                <a:cs typeface="Aptos" pitchFamily="34" charset="-120"/>
              </a:rPr>
              <a:t>harder to verify and debug</a:t>
            </a:r>
            <a:endParaRPr lang="en-US" sz="1280" dirty="0"/>
          </a:p>
        </p:txBody>
      </p:sp>
      <p:sp>
        <p:nvSpPr>
          <p:cNvPr id="17" name="Shape 15"/>
          <p:cNvSpPr/>
          <p:nvPr/>
        </p:nvSpPr>
        <p:spPr>
          <a:xfrm>
            <a:off x="8183880" y="1965960"/>
            <a:ext cx="3429000" cy="3154680"/>
          </a:xfrm>
          <a:prstGeom prst="roundRect">
            <a:avLst>
              <a:gd name="adj" fmla="val 4638"/>
            </a:avLst>
          </a:prstGeom>
          <a:solidFill>
            <a:srgbClr val="12213B"/>
          </a:solidFill>
          <a:ln w="13970">
            <a:solidFill>
              <a:srgbClr val="22C55E">
                <a:alpha val="75000"/>
              </a:srgbClr>
            </a:solidFill>
            <a:prstDash val="solid"/>
          </a:ln>
        </p:spPr>
        <p:txBody>
          <a:bodyPr/>
          <a:lstStyle/>
          <a:p>
            <a:endParaRPr lang="en-US"/>
          </a:p>
        </p:txBody>
      </p:sp>
      <p:sp>
        <p:nvSpPr>
          <p:cNvPr id="18" name="Text 16"/>
          <p:cNvSpPr/>
          <p:nvPr/>
        </p:nvSpPr>
        <p:spPr>
          <a:xfrm>
            <a:off x="8412480" y="2221992"/>
            <a:ext cx="2971800" cy="347472"/>
          </a:xfrm>
          <a:prstGeom prst="rect">
            <a:avLst/>
          </a:prstGeom>
          <a:noFill/>
          <a:ln/>
        </p:spPr>
        <p:txBody>
          <a:bodyPr wrap="square" lIns="0" tIns="0" rIns="0" bIns="0" rtlCol="0" anchor="ctr"/>
          <a:lstStyle/>
          <a:p>
            <a:pPr marL="0" indent="0" algn="ctr">
              <a:buNone/>
            </a:pPr>
            <a:r>
              <a:rPr lang="en-US" sz="2300" b="1" dirty="0">
                <a:solidFill>
                  <a:srgbClr val="F8FAFC"/>
                </a:solidFill>
                <a:latin typeface="Aptos Display" pitchFamily="34" charset="0"/>
                <a:ea typeface="Aptos Display" pitchFamily="34" charset="-122"/>
                <a:cs typeface="Aptos Display" pitchFamily="34" charset="-120"/>
              </a:rPr>
              <a:t>Hybrid</a:t>
            </a:r>
            <a:endParaRPr lang="en-US" sz="2300" dirty="0"/>
          </a:p>
        </p:txBody>
      </p:sp>
      <p:sp>
        <p:nvSpPr>
          <p:cNvPr id="19" name="Text 17"/>
          <p:cNvSpPr/>
          <p:nvPr/>
        </p:nvSpPr>
        <p:spPr>
          <a:xfrm>
            <a:off x="8476488" y="2770632"/>
            <a:ext cx="2834640" cy="301752"/>
          </a:xfrm>
          <a:prstGeom prst="rect">
            <a:avLst/>
          </a:prstGeom>
          <a:noFill/>
          <a:ln/>
        </p:spPr>
        <p:txBody>
          <a:bodyPr wrap="square" lIns="0" tIns="0" rIns="0" bIns="0" rtlCol="0" anchor="ctr">
            <a:normAutofit/>
          </a:bodyPr>
          <a:lstStyle/>
          <a:p>
            <a:pPr marL="0" indent="0" algn="ctr">
              <a:buNone/>
            </a:pPr>
            <a:r>
              <a:rPr lang="en-US" sz="1250" b="1" dirty="0">
                <a:solidFill>
                  <a:srgbClr val="22C55E"/>
                </a:solidFill>
                <a:latin typeface="Aptos" pitchFamily="34" charset="0"/>
                <a:ea typeface="Aptos" pitchFamily="34" charset="-122"/>
                <a:cs typeface="Aptos" pitchFamily="34" charset="-120"/>
              </a:rPr>
              <a:t>foundation model + controllers + safety layer</a:t>
            </a:r>
            <a:endParaRPr lang="en-US" sz="1250" dirty="0"/>
          </a:p>
        </p:txBody>
      </p:sp>
      <p:sp>
        <p:nvSpPr>
          <p:cNvPr id="20" name="Shape 18"/>
          <p:cNvSpPr/>
          <p:nvPr/>
        </p:nvSpPr>
        <p:spPr>
          <a:xfrm>
            <a:off x="8714232" y="3364992"/>
            <a:ext cx="2377440" cy="0"/>
          </a:xfrm>
          <a:prstGeom prst="line">
            <a:avLst/>
          </a:prstGeom>
          <a:noFill/>
          <a:ln w="12700">
            <a:solidFill>
              <a:srgbClr val="22C55E">
                <a:alpha val="50000"/>
              </a:srgbClr>
            </a:solidFill>
            <a:prstDash val="solid"/>
          </a:ln>
        </p:spPr>
        <p:txBody>
          <a:bodyPr/>
          <a:lstStyle/>
          <a:p>
            <a:endParaRPr lang="en-US"/>
          </a:p>
        </p:txBody>
      </p:sp>
      <p:sp>
        <p:nvSpPr>
          <p:cNvPr id="21" name="Text 19"/>
          <p:cNvSpPr/>
          <p:nvPr/>
        </p:nvSpPr>
        <p:spPr>
          <a:xfrm>
            <a:off x="8531352" y="3675888"/>
            <a:ext cx="2743200" cy="896112"/>
          </a:xfrm>
          <a:prstGeom prst="rect">
            <a:avLst/>
          </a:prstGeom>
          <a:noFill/>
          <a:ln/>
        </p:spPr>
        <p:txBody>
          <a:bodyPr wrap="square" lIns="0" tIns="0" rIns="0" bIns="0" rtlCol="0" anchor="ctr">
            <a:normAutofit/>
          </a:bodyPr>
          <a:lstStyle/>
          <a:p>
            <a:pPr marL="0" indent="0" algn="ctr">
              <a:buNone/>
            </a:pPr>
            <a:r>
              <a:rPr lang="en-US" sz="1280" dirty="0">
                <a:solidFill>
                  <a:srgbClr val="B6C2D5"/>
                </a:solidFill>
                <a:latin typeface="Aptos" pitchFamily="34" charset="0"/>
                <a:ea typeface="Aptos" pitchFamily="34" charset="-122"/>
                <a:cs typeface="Aptos" pitchFamily="34" charset="-120"/>
              </a:rPr>
              <a:t>practical balance</a:t>
            </a:r>
            <a:endParaRPr lang="en-US" sz="1280" dirty="0"/>
          </a:p>
          <a:p>
            <a:pPr marL="0" indent="0" algn="ctr">
              <a:buNone/>
            </a:pPr>
            <a:r>
              <a:rPr lang="en-US" sz="1280" dirty="0">
                <a:solidFill>
                  <a:srgbClr val="B6C2D5"/>
                </a:solidFill>
                <a:latin typeface="Aptos" pitchFamily="34" charset="0"/>
                <a:ea typeface="Aptos" pitchFamily="34" charset="-122"/>
                <a:cs typeface="Aptos" pitchFamily="34" charset="-120"/>
              </a:rPr>
              <a:t>still needs integration discipline</a:t>
            </a:r>
            <a:endParaRPr lang="en-US" sz="1280" dirty="0"/>
          </a:p>
        </p:txBody>
      </p:sp>
      <p:sp>
        <p:nvSpPr>
          <p:cNvPr id="22" name="Shape 20"/>
          <p:cNvSpPr/>
          <p:nvPr/>
        </p:nvSpPr>
        <p:spPr>
          <a:xfrm>
            <a:off x="868680" y="5577840"/>
            <a:ext cx="10744200" cy="548640"/>
          </a:xfrm>
          <a:prstGeom prst="roundRect">
            <a:avLst>
              <a:gd name="adj" fmla="val 20000"/>
            </a:avLst>
          </a:prstGeom>
          <a:solidFill>
            <a:srgbClr val="0F1C33"/>
          </a:solidFill>
          <a:ln w="11430">
            <a:solidFill>
              <a:srgbClr val="31D8FF">
                <a:alpha val="55000"/>
              </a:srgbClr>
            </a:solidFill>
            <a:prstDash val="solid"/>
          </a:ln>
        </p:spPr>
        <p:txBody>
          <a:bodyPr/>
          <a:lstStyle/>
          <a:p>
            <a:endParaRPr lang="en-US"/>
          </a:p>
        </p:txBody>
      </p:sp>
      <p:sp>
        <p:nvSpPr>
          <p:cNvPr id="23" name="Shape 21"/>
          <p:cNvSpPr/>
          <p:nvPr/>
        </p:nvSpPr>
        <p:spPr>
          <a:xfrm>
            <a:off x="868680" y="5577840"/>
            <a:ext cx="64008" cy="548640"/>
          </a:xfrm>
          <a:prstGeom prst="rect">
            <a:avLst/>
          </a:prstGeom>
          <a:solidFill>
            <a:srgbClr val="31D8FF"/>
          </a:solidFill>
          <a:ln w="12700">
            <a:solidFill>
              <a:srgbClr val="31D8FF">
                <a:alpha val="0"/>
              </a:srgbClr>
            </a:solidFill>
            <a:prstDash val="solid"/>
          </a:ln>
        </p:spPr>
        <p:txBody>
          <a:bodyPr/>
          <a:lstStyle/>
          <a:p>
            <a:endParaRPr lang="en-US"/>
          </a:p>
        </p:txBody>
      </p:sp>
      <p:sp>
        <p:nvSpPr>
          <p:cNvPr id="24" name="Text 22"/>
          <p:cNvSpPr/>
          <p:nvPr/>
        </p:nvSpPr>
        <p:spPr>
          <a:xfrm>
            <a:off x="1033272" y="5687568"/>
            <a:ext cx="10451592" cy="365760"/>
          </a:xfrm>
          <a:prstGeom prst="rect">
            <a:avLst/>
          </a:prstGeom>
          <a:noFill/>
          <a:ln/>
        </p:spPr>
        <p:txBody>
          <a:bodyPr wrap="square" lIns="254" tIns="254" rIns="254" bIns="254" rtlCol="0" anchor="ctr">
            <a:normAutofit/>
          </a:bodyPr>
          <a:lstStyle/>
          <a:p>
            <a:pPr marL="0" indent="0">
              <a:buNone/>
            </a:pPr>
            <a:r>
              <a:rPr lang="en-US" sz="1500" dirty="0">
                <a:solidFill>
                  <a:srgbClr val="F8FAFC"/>
                </a:solidFill>
                <a:latin typeface="Aptos" pitchFamily="34" charset="0"/>
                <a:ea typeface="Aptos" pitchFamily="34" charset="-122"/>
                <a:cs typeface="Aptos" pitchFamily="34" charset="-120"/>
              </a:rPr>
              <a:t>Most industrial deployments today favor hybrid architectures: learned perception and planning with explicit safety and control layers.</a:t>
            </a:r>
            <a:endParaRPr lang="en-US" sz="1500" dirty="0"/>
          </a:p>
        </p:txBody>
      </p:sp>
      <p:sp>
        <p:nvSpPr>
          <p:cNvPr id="25" name="Shape 23"/>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6" name="Text 24"/>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27" name="Text 25"/>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14</a:t>
            </a:r>
            <a:endParaRPr lang="en-US" sz="8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15</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Evaluation is multidimensional</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A useful robot is not just accurate. It must be safe, robust, fast enough, and maintainable.</a:t>
            </a:r>
            <a:endParaRPr lang="en-US" sz="1450" dirty="0"/>
          </a:p>
        </p:txBody>
      </p:sp>
      <p:sp>
        <p:nvSpPr>
          <p:cNvPr id="7" name="Shape 5"/>
          <p:cNvSpPr/>
          <p:nvPr/>
        </p:nvSpPr>
        <p:spPr>
          <a:xfrm>
            <a:off x="841248" y="2057400"/>
            <a:ext cx="3429000" cy="969264"/>
          </a:xfrm>
          <a:prstGeom prst="roundRect">
            <a:avLst>
              <a:gd name="adj" fmla="val 11321"/>
            </a:avLst>
          </a:prstGeom>
          <a:solidFill>
            <a:srgbClr val="12213B"/>
          </a:solidFill>
          <a:ln w="11430">
            <a:solidFill>
              <a:srgbClr val="22C55E">
                <a:alpha val="60000"/>
              </a:srgbClr>
            </a:solidFill>
            <a:prstDash val="solid"/>
          </a:ln>
        </p:spPr>
        <p:txBody>
          <a:bodyPr/>
          <a:lstStyle/>
          <a:p>
            <a:endParaRPr lang="en-US"/>
          </a:p>
        </p:txBody>
      </p:sp>
      <p:sp>
        <p:nvSpPr>
          <p:cNvPr id="8" name="Text 6"/>
          <p:cNvSpPr/>
          <p:nvPr/>
        </p:nvSpPr>
        <p:spPr>
          <a:xfrm>
            <a:off x="1005840" y="2221992"/>
            <a:ext cx="3063240" cy="237744"/>
          </a:xfrm>
          <a:prstGeom prst="rect">
            <a:avLst/>
          </a:prstGeom>
          <a:noFill/>
          <a:ln/>
        </p:spPr>
        <p:txBody>
          <a:bodyPr wrap="square" lIns="0" tIns="0" rIns="0" bIns="0" rtlCol="0" anchor="ctr"/>
          <a:lstStyle/>
          <a:p>
            <a:pPr marL="0" indent="0">
              <a:buNone/>
            </a:pPr>
            <a:r>
              <a:rPr lang="en-US" sz="1560" b="1" dirty="0">
                <a:solidFill>
                  <a:srgbClr val="F8FAFC"/>
                </a:solidFill>
                <a:latin typeface="Aptos Display" pitchFamily="34" charset="0"/>
                <a:ea typeface="Aptos Display" pitchFamily="34" charset="-122"/>
                <a:cs typeface="Aptos Display" pitchFamily="34" charset="-120"/>
              </a:rPr>
              <a:t>Task success</a:t>
            </a:r>
            <a:endParaRPr lang="en-US" sz="1560" dirty="0"/>
          </a:p>
        </p:txBody>
      </p:sp>
      <p:sp>
        <p:nvSpPr>
          <p:cNvPr id="9" name="Text 7"/>
          <p:cNvSpPr/>
          <p:nvPr/>
        </p:nvSpPr>
        <p:spPr>
          <a:xfrm>
            <a:off x="1005840" y="2560320"/>
            <a:ext cx="3063240" cy="219456"/>
          </a:xfrm>
          <a:prstGeom prst="rect">
            <a:avLst/>
          </a:prstGeom>
          <a:noFill/>
          <a:ln/>
        </p:spPr>
        <p:txBody>
          <a:bodyPr wrap="square" lIns="0" tIns="0" rIns="0" bIns="0" rtlCol="0" anchor="ctr">
            <a:normAutofit/>
          </a:bodyPr>
          <a:lstStyle/>
          <a:p>
            <a:pPr marL="0" indent="0">
              <a:buNone/>
            </a:pPr>
            <a:r>
              <a:rPr lang="en-US" sz="1030" dirty="0">
                <a:solidFill>
                  <a:srgbClr val="B6C2D5"/>
                </a:solidFill>
                <a:latin typeface="Aptos" pitchFamily="34" charset="0"/>
                <a:ea typeface="Aptos" pitchFamily="34" charset="-122"/>
                <a:cs typeface="Aptos" pitchFamily="34" charset="-120"/>
              </a:rPr>
              <a:t>completion rate, time, quality</a:t>
            </a:r>
            <a:endParaRPr lang="en-US" sz="1030" dirty="0"/>
          </a:p>
        </p:txBody>
      </p:sp>
      <p:sp>
        <p:nvSpPr>
          <p:cNvPr id="10" name="Shape 8"/>
          <p:cNvSpPr/>
          <p:nvPr/>
        </p:nvSpPr>
        <p:spPr>
          <a:xfrm>
            <a:off x="4544568" y="2057400"/>
            <a:ext cx="3429000" cy="969264"/>
          </a:xfrm>
          <a:prstGeom prst="roundRect">
            <a:avLst>
              <a:gd name="adj" fmla="val 11321"/>
            </a:avLst>
          </a:prstGeom>
          <a:solidFill>
            <a:srgbClr val="12213B">
              <a:alpha val="97000"/>
            </a:srgbClr>
          </a:solidFill>
          <a:ln w="11430">
            <a:solidFill>
              <a:srgbClr val="31D8FF">
                <a:alpha val="60000"/>
              </a:srgbClr>
            </a:solidFill>
            <a:prstDash val="solid"/>
          </a:ln>
        </p:spPr>
        <p:txBody>
          <a:bodyPr/>
          <a:lstStyle/>
          <a:p>
            <a:endParaRPr lang="en-US"/>
          </a:p>
        </p:txBody>
      </p:sp>
      <p:sp>
        <p:nvSpPr>
          <p:cNvPr id="11" name="Text 9"/>
          <p:cNvSpPr/>
          <p:nvPr/>
        </p:nvSpPr>
        <p:spPr>
          <a:xfrm>
            <a:off x="4709160" y="2221992"/>
            <a:ext cx="3063240" cy="237744"/>
          </a:xfrm>
          <a:prstGeom prst="rect">
            <a:avLst/>
          </a:prstGeom>
          <a:noFill/>
          <a:ln/>
        </p:spPr>
        <p:txBody>
          <a:bodyPr wrap="square" lIns="0" tIns="0" rIns="0" bIns="0" rtlCol="0" anchor="ctr"/>
          <a:lstStyle/>
          <a:p>
            <a:pPr marL="0" indent="0">
              <a:buNone/>
            </a:pPr>
            <a:r>
              <a:rPr lang="en-US" sz="1560" b="1" dirty="0">
                <a:solidFill>
                  <a:srgbClr val="F8FAFC"/>
                </a:solidFill>
                <a:latin typeface="Aptos Display" pitchFamily="34" charset="0"/>
                <a:ea typeface="Aptos Display" pitchFamily="34" charset="-122"/>
                <a:cs typeface="Aptos Display" pitchFamily="34" charset="-120"/>
              </a:rPr>
              <a:t>Generalization</a:t>
            </a:r>
            <a:endParaRPr lang="en-US" sz="1560" dirty="0"/>
          </a:p>
        </p:txBody>
      </p:sp>
      <p:sp>
        <p:nvSpPr>
          <p:cNvPr id="12" name="Text 10"/>
          <p:cNvSpPr/>
          <p:nvPr/>
        </p:nvSpPr>
        <p:spPr>
          <a:xfrm>
            <a:off x="4709160" y="2560320"/>
            <a:ext cx="3063240" cy="219456"/>
          </a:xfrm>
          <a:prstGeom prst="rect">
            <a:avLst/>
          </a:prstGeom>
          <a:noFill/>
          <a:ln/>
        </p:spPr>
        <p:txBody>
          <a:bodyPr wrap="square" lIns="0" tIns="0" rIns="0" bIns="0" rtlCol="0" anchor="ctr">
            <a:normAutofit/>
          </a:bodyPr>
          <a:lstStyle/>
          <a:p>
            <a:pPr marL="0" indent="0">
              <a:buNone/>
            </a:pPr>
            <a:r>
              <a:rPr lang="en-US" sz="1030" dirty="0">
                <a:solidFill>
                  <a:srgbClr val="B6C2D5"/>
                </a:solidFill>
                <a:latin typeface="Aptos" pitchFamily="34" charset="0"/>
                <a:ea typeface="Aptos" pitchFamily="34" charset="-122"/>
                <a:cs typeface="Aptos" pitchFamily="34" charset="-120"/>
              </a:rPr>
              <a:t>new objects, layouts, lighting, users</a:t>
            </a:r>
            <a:endParaRPr lang="en-US" sz="1030" dirty="0"/>
          </a:p>
        </p:txBody>
      </p:sp>
      <p:sp>
        <p:nvSpPr>
          <p:cNvPr id="13" name="Shape 11"/>
          <p:cNvSpPr/>
          <p:nvPr/>
        </p:nvSpPr>
        <p:spPr>
          <a:xfrm>
            <a:off x="8247888" y="2057400"/>
            <a:ext cx="3429000" cy="969264"/>
          </a:xfrm>
          <a:prstGeom prst="roundRect">
            <a:avLst>
              <a:gd name="adj" fmla="val 11321"/>
            </a:avLst>
          </a:prstGeom>
          <a:solidFill>
            <a:srgbClr val="12213B"/>
          </a:solidFill>
          <a:ln w="11430">
            <a:solidFill>
              <a:srgbClr val="3B82F6">
                <a:alpha val="60000"/>
              </a:srgbClr>
            </a:solidFill>
            <a:prstDash val="solid"/>
          </a:ln>
        </p:spPr>
        <p:txBody>
          <a:bodyPr/>
          <a:lstStyle/>
          <a:p>
            <a:endParaRPr lang="en-US"/>
          </a:p>
        </p:txBody>
      </p:sp>
      <p:sp>
        <p:nvSpPr>
          <p:cNvPr id="14" name="Text 12"/>
          <p:cNvSpPr/>
          <p:nvPr/>
        </p:nvSpPr>
        <p:spPr>
          <a:xfrm>
            <a:off x="8412480" y="2221992"/>
            <a:ext cx="3063240" cy="237744"/>
          </a:xfrm>
          <a:prstGeom prst="rect">
            <a:avLst/>
          </a:prstGeom>
          <a:noFill/>
          <a:ln/>
        </p:spPr>
        <p:txBody>
          <a:bodyPr wrap="square" lIns="0" tIns="0" rIns="0" bIns="0" rtlCol="0" anchor="ctr"/>
          <a:lstStyle/>
          <a:p>
            <a:pPr marL="0" indent="0">
              <a:buNone/>
            </a:pPr>
            <a:r>
              <a:rPr lang="en-US" sz="1560" b="1" dirty="0">
                <a:solidFill>
                  <a:srgbClr val="F8FAFC"/>
                </a:solidFill>
                <a:latin typeface="Aptos Display" pitchFamily="34" charset="0"/>
                <a:ea typeface="Aptos Display" pitchFamily="34" charset="-122"/>
                <a:cs typeface="Aptos Display" pitchFamily="34" charset="-120"/>
              </a:rPr>
              <a:t>Robustness</a:t>
            </a:r>
            <a:endParaRPr lang="en-US" sz="1560" dirty="0"/>
          </a:p>
        </p:txBody>
      </p:sp>
      <p:sp>
        <p:nvSpPr>
          <p:cNvPr id="15" name="Text 13"/>
          <p:cNvSpPr/>
          <p:nvPr/>
        </p:nvSpPr>
        <p:spPr>
          <a:xfrm>
            <a:off x="8412480" y="2560320"/>
            <a:ext cx="3063240" cy="219456"/>
          </a:xfrm>
          <a:prstGeom prst="rect">
            <a:avLst/>
          </a:prstGeom>
          <a:noFill/>
          <a:ln/>
        </p:spPr>
        <p:txBody>
          <a:bodyPr wrap="square" lIns="0" tIns="0" rIns="0" bIns="0" rtlCol="0" anchor="ctr">
            <a:normAutofit/>
          </a:bodyPr>
          <a:lstStyle/>
          <a:p>
            <a:pPr marL="0" indent="0">
              <a:buNone/>
            </a:pPr>
            <a:r>
              <a:rPr lang="en-US" sz="1030" dirty="0">
                <a:solidFill>
                  <a:srgbClr val="B6C2D5"/>
                </a:solidFill>
                <a:latin typeface="Aptos" pitchFamily="34" charset="0"/>
                <a:ea typeface="Aptos" pitchFamily="34" charset="-122"/>
                <a:cs typeface="Aptos" pitchFamily="34" charset="-120"/>
              </a:rPr>
              <a:t>sensor failures, disturbances, rare events</a:t>
            </a:r>
            <a:endParaRPr lang="en-US" sz="1030" dirty="0"/>
          </a:p>
        </p:txBody>
      </p:sp>
      <p:sp>
        <p:nvSpPr>
          <p:cNvPr id="16" name="Shape 14"/>
          <p:cNvSpPr/>
          <p:nvPr/>
        </p:nvSpPr>
        <p:spPr>
          <a:xfrm>
            <a:off x="841248" y="3291840"/>
            <a:ext cx="3429000" cy="969264"/>
          </a:xfrm>
          <a:prstGeom prst="roundRect">
            <a:avLst>
              <a:gd name="adj" fmla="val 11321"/>
            </a:avLst>
          </a:prstGeom>
          <a:solidFill>
            <a:srgbClr val="12213B">
              <a:alpha val="97000"/>
            </a:srgbClr>
          </a:solidFill>
          <a:ln w="11430">
            <a:solidFill>
              <a:srgbClr val="F59E0B">
                <a:alpha val="60000"/>
              </a:srgbClr>
            </a:solidFill>
            <a:prstDash val="solid"/>
          </a:ln>
        </p:spPr>
        <p:txBody>
          <a:bodyPr/>
          <a:lstStyle/>
          <a:p>
            <a:endParaRPr lang="en-US"/>
          </a:p>
        </p:txBody>
      </p:sp>
      <p:sp>
        <p:nvSpPr>
          <p:cNvPr id="17" name="Text 15"/>
          <p:cNvSpPr/>
          <p:nvPr/>
        </p:nvSpPr>
        <p:spPr>
          <a:xfrm>
            <a:off x="1005840" y="3456432"/>
            <a:ext cx="3063240" cy="237744"/>
          </a:xfrm>
          <a:prstGeom prst="rect">
            <a:avLst/>
          </a:prstGeom>
          <a:noFill/>
          <a:ln/>
        </p:spPr>
        <p:txBody>
          <a:bodyPr wrap="square" lIns="0" tIns="0" rIns="0" bIns="0" rtlCol="0" anchor="ctr"/>
          <a:lstStyle/>
          <a:p>
            <a:pPr marL="0" indent="0">
              <a:buNone/>
            </a:pPr>
            <a:r>
              <a:rPr lang="en-US" sz="1560" b="1" dirty="0">
                <a:solidFill>
                  <a:srgbClr val="F8FAFC"/>
                </a:solidFill>
                <a:latin typeface="Aptos Display" pitchFamily="34" charset="0"/>
                <a:ea typeface="Aptos Display" pitchFamily="34" charset="-122"/>
                <a:cs typeface="Aptos Display" pitchFamily="34" charset="-120"/>
              </a:rPr>
              <a:t>Latency</a:t>
            </a:r>
            <a:endParaRPr lang="en-US" sz="1560" dirty="0"/>
          </a:p>
        </p:txBody>
      </p:sp>
      <p:sp>
        <p:nvSpPr>
          <p:cNvPr id="18" name="Text 16"/>
          <p:cNvSpPr/>
          <p:nvPr/>
        </p:nvSpPr>
        <p:spPr>
          <a:xfrm>
            <a:off x="1005840" y="3794760"/>
            <a:ext cx="3063240" cy="219456"/>
          </a:xfrm>
          <a:prstGeom prst="rect">
            <a:avLst/>
          </a:prstGeom>
          <a:noFill/>
          <a:ln/>
        </p:spPr>
        <p:txBody>
          <a:bodyPr wrap="square" lIns="0" tIns="0" rIns="0" bIns="0" rtlCol="0" anchor="ctr">
            <a:normAutofit/>
          </a:bodyPr>
          <a:lstStyle/>
          <a:p>
            <a:pPr marL="0" indent="0">
              <a:buNone/>
            </a:pPr>
            <a:r>
              <a:rPr lang="en-US" sz="1030" dirty="0">
                <a:solidFill>
                  <a:srgbClr val="B6C2D5"/>
                </a:solidFill>
                <a:latin typeface="Aptos" pitchFamily="34" charset="0"/>
                <a:ea typeface="Aptos" pitchFamily="34" charset="-122"/>
                <a:cs typeface="Aptos" pitchFamily="34" charset="-120"/>
              </a:rPr>
              <a:t>perception-to-action delay</a:t>
            </a:r>
            <a:endParaRPr lang="en-US" sz="1030" dirty="0"/>
          </a:p>
        </p:txBody>
      </p:sp>
      <p:sp>
        <p:nvSpPr>
          <p:cNvPr id="19" name="Shape 17"/>
          <p:cNvSpPr/>
          <p:nvPr/>
        </p:nvSpPr>
        <p:spPr>
          <a:xfrm>
            <a:off x="4544568" y="3291840"/>
            <a:ext cx="3429000" cy="969264"/>
          </a:xfrm>
          <a:prstGeom prst="roundRect">
            <a:avLst>
              <a:gd name="adj" fmla="val 11321"/>
            </a:avLst>
          </a:prstGeom>
          <a:solidFill>
            <a:srgbClr val="12213B"/>
          </a:solidFill>
          <a:ln w="11430">
            <a:solidFill>
              <a:srgbClr val="EF4444">
                <a:alpha val="60000"/>
              </a:srgbClr>
            </a:solidFill>
            <a:prstDash val="solid"/>
          </a:ln>
        </p:spPr>
        <p:txBody>
          <a:bodyPr/>
          <a:lstStyle/>
          <a:p>
            <a:endParaRPr lang="en-US"/>
          </a:p>
        </p:txBody>
      </p:sp>
      <p:sp>
        <p:nvSpPr>
          <p:cNvPr id="20" name="Text 18"/>
          <p:cNvSpPr/>
          <p:nvPr/>
        </p:nvSpPr>
        <p:spPr>
          <a:xfrm>
            <a:off x="4709160" y="3456432"/>
            <a:ext cx="3063240" cy="237744"/>
          </a:xfrm>
          <a:prstGeom prst="rect">
            <a:avLst/>
          </a:prstGeom>
          <a:noFill/>
          <a:ln/>
        </p:spPr>
        <p:txBody>
          <a:bodyPr wrap="square" lIns="0" tIns="0" rIns="0" bIns="0" rtlCol="0" anchor="ctr"/>
          <a:lstStyle/>
          <a:p>
            <a:pPr marL="0" indent="0">
              <a:buNone/>
            </a:pPr>
            <a:r>
              <a:rPr lang="en-US" sz="1560" b="1" dirty="0">
                <a:solidFill>
                  <a:srgbClr val="F8FAFC"/>
                </a:solidFill>
                <a:latin typeface="Aptos Display" pitchFamily="34" charset="0"/>
                <a:ea typeface="Aptos Display" pitchFamily="34" charset="-122"/>
                <a:cs typeface="Aptos Display" pitchFamily="34" charset="-120"/>
              </a:rPr>
              <a:t>Safety</a:t>
            </a:r>
            <a:endParaRPr lang="en-US" sz="1560" dirty="0"/>
          </a:p>
        </p:txBody>
      </p:sp>
      <p:sp>
        <p:nvSpPr>
          <p:cNvPr id="21" name="Text 19"/>
          <p:cNvSpPr/>
          <p:nvPr/>
        </p:nvSpPr>
        <p:spPr>
          <a:xfrm>
            <a:off x="4709160" y="3794760"/>
            <a:ext cx="3063240" cy="219456"/>
          </a:xfrm>
          <a:prstGeom prst="rect">
            <a:avLst/>
          </a:prstGeom>
          <a:noFill/>
          <a:ln/>
        </p:spPr>
        <p:txBody>
          <a:bodyPr wrap="square" lIns="0" tIns="0" rIns="0" bIns="0" rtlCol="0" anchor="ctr">
            <a:normAutofit/>
          </a:bodyPr>
          <a:lstStyle/>
          <a:p>
            <a:pPr marL="0" indent="0">
              <a:buNone/>
            </a:pPr>
            <a:r>
              <a:rPr lang="en-US" sz="1030" dirty="0">
                <a:solidFill>
                  <a:srgbClr val="B6C2D5"/>
                </a:solidFill>
                <a:latin typeface="Aptos" pitchFamily="34" charset="0"/>
                <a:ea typeface="Aptos" pitchFamily="34" charset="-122"/>
                <a:cs typeface="Aptos" pitchFamily="34" charset="-120"/>
              </a:rPr>
              <a:t>near-misses, force limits, stop behavior</a:t>
            </a:r>
            <a:endParaRPr lang="en-US" sz="1030" dirty="0"/>
          </a:p>
        </p:txBody>
      </p:sp>
      <p:sp>
        <p:nvSpPr>
          <p:cNvPr id="22" name="Shape 20"/>
          <p:cNvSpPr/>
          <p:nvPr/>
        </p:nvSpPr>
        <p:spPr>
          <a:xfrm>
            <a:off x="8247888" y="3291840"/>
            <a:ext cx="3429000" cy="969264"/>
          </a:xfrm>
          <a:prstGeom prst="roundRect">
            <a:avLst>
              <a:gd name="adj" fmla="val 11321"/>
            </a:avLst>
          </a:prstGeom>
          <a:solidFill>
            <a:srgbClr val="12213B">
              <a:alpha val="97000"/>
            </a:srgbClr>
          </a:solidFill>
          <a:ln w="11430">
            <a:solidFill>
              <a:srgbClr val="A78BFA">
                <a:alpha val="60000"/>
              </a:srgbClr>
            </a:solidFill>
            <a:prstDash val="solid"/>
          </a:ln>
        </p:spPr>
        <p:txBody>
          <a:bodyPr/>
          <a:lstStyle/>
          <a:p>
            <a:endParaRPr lang="en-US"/>
          </a:p>
        </p:txBody>
      </p:sp>
      <p:sp>
        <p:nvSpPr>
          <p:cNvPr id="23" name="Text 21"/>
          <p:cNvSpPr/>
          <p:nvPr/>
        </p:nvSpPr>
        <p:spPr>
          <a:xfrm>
            <a:off x="8412480" y="3456432"/>
            <a:ext cx="3063240" cy="237744"/>
          </a:xfrm>
          <a:prstGeom prst="rect">
            <a:avLst/>
          </a:prstGeom>
          <a:noFill/>
          <a:ln/>
        </p:spPr>
        <p:txBody>
          <a:bodyPr wrap="square" lIns="0" tIns="0" rIns="0" bIns="0" rtlCol="0" anchor="ctr"/>
          <a:lstStyle/>
          <a:p>
            <a:pPr marL="0" indent="0">
              <a:buNone/>
            </a:pPr>
            <a:r>
              <a:rPr lang="en-US" sz="1560" b="1" dirty="0">
                <a:solidFill>
                  <a:srgbClr val="F8FAFC"/>
                </a:solidFill>
                <a:latin typeface="Aptos Display" pitchFamily="34" charset="0"/>
                <a:ea typeface="Aptos Display" pitchFamily="34" charset="-122"/>
                <a:cs typeface="Aptos Display" pitchFamily="34" charset="-120"/>
              </a:rPr>
              <a:t>Human factors</a:t>
            </a:r>
            <a:endParaRPr lang="en-US" sz="1560" dirty="0"/>
          </a:p>
        </p:txBody>
      </p:sp>
      <p:sp>
        <p:nvSpPr>
          <p:cNvPr id="24" name="Text 22"/>
          <p:cNvSpPr/>
          <p:nvPr/>
        </p:nvSpPr>
        <p:spPr>
          <a:xfrm>
            <a:off x="8412480" y="3794760"/>
            <a:ext cx="3063240" cy="219456"/>
          </a:xfrm>
          <a:prstGeom prst="rect">
            <a:avLst/>
          </a:prstGeom>
          <a:noFill/>
          <a:ln/>
        </p:spPr>
        <p:txBody>
          <a:bodyPr wrap="square" lIns="0" tIns="0" rIns="0" bIns="0" rtlCol="0" anchor="ctr">
            <a:normAutofit/>
          </a:bodyPr>
          <a:lstStyle/>
          <a:p>
            <a:pPr marL="0" indent="0">
              <a:buNone/>
            </a:pPr>
            <a:r>
              <a:rPr lang="en-US" sz="1030" dirty="0">
                <a:solidFill>
                  <a:srgbClr val="B6C2D5"/>
                </a:solidFill>
                <a:latin typeface="Aptos" pitchFamily="34" charset="0"/>
                <a:ea typeface="Aptos" pitchFamily="34" charset="-122"/>
                <a:cs typeface="Aptos" pitchFamily="34" charset="-120"/>
              </a:rPr>
              <a:t>handover, trust, supervision workload</a:t>
            </a:r>
            <a:endParaRPr lang="en-US" sz="1030" dirty="0"/>
          </a:p>
        </p:txBody>
      </p:sp>
      <p:sp>
        <p:nvSpPr>
          <p:cNvPr id="25" name="Shape 23"/>
          <p:cNvSpPr/>
          <p:nvPr/>
        </p:nvSpPr>
        <p:spPr>
          <a:xfrm>
            <a:off x="868680" y="5212080"/>
            <a:ext cx="10469880" cy="713232"/>
          </a:xfrm>
          <a:prstGeom prst="roundRect">
            <a:avLst>
              <a:gd name="adj" fmla="val 15385"/>
            </a:avLst>
          </a:prstGeom>
          <a:solidFill>
            <a:srgbClr val="0F1C33"/>
          </a:solidFill>
          <a:ln w="11430">
            <a:solidFill>
              <a:srgbClr val="31D8FF">
                <a:alpha val="55000"/>
              </a:srgbClr>
            </a:solidFill>
            <a:prstDash val="solid"/>
          </a:ln>
        </p:spPr>
        <p:txBody>
          <a:bodyPr/>
          <a:lstStyle/>
          <a:p>
            <a:endParaRPr lang="en-US"/>
          </a:p>
        </p:txBody>
      </p:sp>
      <p:sp>
        <p:nvSpPr>
          <p:cNvPr id="26" name="Shape 24"/>
          <p:cNvSpPr/>
          <p:nvPr/>
        </p:nvSpPr>
        <p:spPr>
          <a:xfrm>
            <a:off x="868680" y="5212080"/>
            <a:ext cx="64008" cy="713232"/>
          </a:xfrm>
          <a:prstGeom prst="rect">
            <a:avLst/>
          </a:prstGeom>
          <a:solidFill>
            <a:srgbClr val="31D8FF"/>
          </a:solidFill>
          <a:ln w="12700">
            <a:solidFill>
              <a:srgbClr val="31D8FF">
                <a:alpha val="0"/>
              </a:srgbClr>
            </a:solidFill>
            <a:prstDash val="solid"/>
          </a:ln>
        </p:spPr>
        <p:txBody>
          <a:bodyPr/>
          <a:lstStyle/>
          <a:p>
            <a:endParaRPr lang="en-US"/>
          </a:p>
        </p:txBody>
      </p:sp>
      <p:sp>
        <p:nvSpPr>
          <p:cNvPr id="27" name="Text 25"/>
          <p:cNvSpPr/>
          <p:nvPr/>
        </p:nvSpPr>
        <p:spPr>
          <a:xfrm>
            <a:off x="1033272" y="5321808"/>
            <a:ext cx="10177272" cy="530352"/>
          </a:xfrm>
          <a:prstGeom prst="rect">
            <a:avLst/>
          </a:prstGeom>
          <a:noFill/>
          <a:ln/>
        </p:spPr>
        <p:txBody>
          <a:bodyPr wrap="square" lIns="254" tIns="254" rIns="254" bIns="254" rtlCol="0" anchor="ctr">
            <a:normAutofit/>
          </a:bodyPr>
          <a:lstStyle/>
          <a:p>
            <a:pPr marL="0" indent="0">
              <a:buNone/>
            </a:pPr>
            <a:r>
              <a:rPr lang="en-US" sz="1600" dirty="0">
                <a:solidFill>
                  <a:srgbClr val="F8FAFC"/>
                </a:solidFill>
                <a:latin typeface="Aptos" pitchFamily="34" charset="0"/>
                <a:ea typeface="Aptos" pitchFamily="34" charset="-122"/>
                <a:cs typeface="Aptos" pitchFamily="34" charset="-120"/>
              </a:rPr>
              <a:t>Use “release gates”: a policy advances only when it passes offline, simulated, hardware-in-loop, supervised, and production metrics.</a:t>
            </a:r>
            <a:endParaRPr lang="en-US" sz="1600" dirty="0"/>
          </a:p>
        </p:txBody>
      </p:sp>
      <p:sp>
        <p:nvSpPr>
          <p:cNvPr id="28" name="Shape 26"/>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9" name="Text 27"/>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30" name="Text 28"/>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15</a:t>
            </a:r>
            <a:endParaRPr lang="en-US" sz="8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16</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Why now: robotics is scaling while AI capability rises</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Industrial adoption creates a practical base for data, deployment, and automation economics.</a:t>
            </a:r>
            <a:endParaRPr lang="en-US" sz="1450" dirty="0"/>
          </a:p>
        </p:txBody>
      </p:sp>
      <p:sp>
        <p:nvSpPr>
          <p:cNvPr id="7" name="Shape 5"/>
          <p:cNvSpPr/>
          <p:nvPr/>
        </p:nvSpPr>
        <p:spPr>
          <a:xfrm>
            <a:off x="868680" y="2121408"/>
            <a:ext cx="2606040" cy="1417320"/>
          </a:xfrm>
          <a:prstGeom prst="roundRect">
            <a:avLst>
              <a:gd name="adj" fmla="val 6452"/>
            </a:avLst>
          </a:prstGeom>
          <a:solidFill>
            <a:srgbClr val="12213B">
              <a:alpha val="97000"/>
            </a:srgbClr>
          </a:solidFill>
          <a:ln w="10160">
            <a:solidFill>
              <a:srgbClr val="31D8FF">
                <a:alpha val="55000"/>
              </a:srgbClr>
            </a:solidFill>
            <a:prstDash val="solid"/>
          </a:ln>
        </p:spPr>
        <p:txBody>
          <a:bodyPr/>
          <a:lstStyle/>
          <a:p>
            <a:endParaRPr lang="en-US"/>
          </a:p>
        </p:txBody>
      </p:sp>
      <p:sp>
        <p:nvSpPr>
          <p:cNvPr id="8" name="Text 6"/>
          <p:cNvSpPr/>
          <p:nvPr/>
        </p:nvSpPr>
        <p:spPr>
          <a:xfrm>
            <a:off x="996696" y="2286000"/>
            <a:ext cx="2350008" cy="493776"/>
          </a:xfrm>
          <a:prstGeom prst="rect">
            <a:avLst/>
          </a:prstGeom>
          <a:noFill/>
          <a:ln/>
        </p:spPr>
        <p:txBody>
          <a:bodyPr wrap="square" lIns="0" tIns="0" rIns="0" bIns="0" rtlCol="0" anchor="ctr">
            <a:normAutofit/>
          </a:bodyPr>
          <a:lstStyle/>
          <a:p>
            <a:pPr marL="0" indent="0">
              <a:buNone/>
            </a:pPr>
            <a:r>
              <a:rPr lang="en-US" sz="3000" b="1" dirty="0">
                <a:solidFill>
                  <a:srgbClr val="31D8FF"/>
                </a:solidFill>
                <a:latin typeface="Aptos Display" pitchFamily="34" charset="0"/>
                <a:ea typeface="Aptos Display" pitchFamily="34" charset="-122"/>
                <a:cs typeface="Aptos Display" pitchFamily="34" charset="-120"/>
              </a:rPr>
              <a:t>542k</a:t>
            </a:r>
            <a:endParaRPr lang="en-US" sz="3000" dirty="0"/>
          </a:p>
        </p:txBody>
      </p:sp>
      <p:sp>
        <p:nvSpPr>
          <p:cNvPr id="9" name="Text 7"/>
          <p:cNvSpPr/>
          <p:nvPr/>
        </p:nvSpPr>
        <p:spPr>
          <a:xfrm>
            <a:off x="1014984" y="2926080"/>
            <a:ext cx="2313432" cy="310896"/>
          </a:xfrm>
          <a:prstGeom prst="rect">
            <a:avLst/>
          </a:prstGeom>
          <a:noFill/>
          <a:ln/>
        </p:spPr>
        <p:txBody>
          <a:bodyPr wrap="square" lIns="0" tIns="0" rIns="0" bIns="0" rtlCol="0" anchor="ctr">
            <a:normAutofit/>
          </a:bodyPr>
          <a:lstStyle/>
          <a:p>
            <a:pPr marL="0" indent="0">
              <a:buNone/>
            </a:pPr>
            <a:r>
              <a:rPr lang="en-US" sz="1200" dirty="0">
                <a:solidFill>
                  <a:srgbClr val="F8FAFC"/>
                </a:solidFill>
                <a:latin typeface="Aptos" pitchFamily="34" charset="0"/>
                <a:ea typeface="Aptos" pitchFamily="34" charset="-122"/>
                <a:cs typeface="Aptos" pitchFamily="34" charset="-120"/>
              </a:rPr>
              <a:t>industrial robots installed in 2024</a:t>
            </a:r>
            <a:endParaRPr lang="en-US" sz="1200" dirty="0"/>
          </a:p>
        </p:txBody>
      </p:sp>
      <p:sp>
        <p:nvSpPr>
          <p:cNvPr id="10" name="Text 8"/>
          <p:cNvSpPr/>
          <p:nvPr/>
        </p:nvSpPr>
        <p:spPr>
          <a:xfrm>
            <a:off x="1014984" y="3310128"/>
            <a:ext cx="2313432" cy="164592"/>
          </a:xfrm>
          <a:prstGeom prst="rect">
            <a:avLst/>
          </a:prstGeom>
          <a:noFill/>
          <a:ln/>
        </p:spPr>
        <p:txBody>
          <a:bodyPr wrap="square" lIns="0" tIns="0" rIns="0" bIns="0" rtlCol="0" anchor="ctr">
            <a:normAutofit/>
          </a:bodyPr>
          <a:lstStyle/>
          <a:p>
            <a:pPr marL="0" indent="0">
              <a:buNone/>
            </a:pPr>
            <a:r>
              <a:rPr lang="en-US" sz="780" dirty="0">
                <a:solidFill>
                  <a:srgbClr val="8391A8"/>
                </a:solidFill>
                <a:latin typeface="Aptos" pitchFamily="34" charset="0"/>
                <a:ea typeface="Aptos" pitchFamily="34" charset="-122"/>
                <a:cs typeface="Aptos" pitchFamily="34" charset="-120"/>
              </a:rPr>
              <a:t>IFR, 2025</a:t>
            </a:r>
            <a:endParaRPr lang="en-US" sz="780" dirty="0"/>
          </a:p>
        </p:txBody>
      </p:sp>
      <p:sp>
        <p:nvSpPr>
          <p:cNvPr id="11" name="Shape 9"/>
          <p:cNvSpPr/>
          <p:nvPr/>
        </p:nvSpPr>
        <p:spPr>
          <a:xfrm>
            <a:off x="3675888" y="2121408"/>
            <a:ext cx="2606040" cy="1417320"/>
          </a:xfrm>
          <a:prstGeom prst="roundRect">
            <a:avLst>
              <a:gd name="adj" fmla="val 6452"/>
            </a:avLst>
          </a:prstGeom>
          <a:solidFill>
            <a:srgbClr val="12213B">
              <a:alpha val="97000"/>
            </a:srgbClr>
          </a:solidFill>
          <a:ln w="10160">
            <a:solidFill>
              <a:srgbClr val="22C55E">
                <a:alpha val="55000"/>
              </a:srgbClr>
            </a:solidFill>
            <a:prstDash val="solid"/>
          </a:ln>
        </p:spPr>
        <p:txBody>
          <a:bodyPr/>
          <a:lstStyle/>
          <a:p>
            <a:endParaRPr lang="en-US"/>
          </a:p>
        </p:txBody>
      </p:sp>
      <p:sp>
        <p:nvSpPr>
          <p:cNvPr id="12" name="Text 10"/>
          <p:cNvSpPr/>
          <p:nvPr/>
        </p:nvSpPr>
        <p:spPr>
          <a:xfrm>
            <a:off x="3803904" y="2286000"/>
            <a:ext cx="2350008" cy="493776"/>
          </a:xfrm>
          <a:prstGeom prst="rect">
            <a:avLst/>
          </a:prstGeom>
          <a:noFill/>
          <a:ln/>
        </p:spPr>
        <p:txBody>
          <a:bodyPr wrap="square" lIns="0" tIns="0" rIns="0" bIns="0" rtlCol="0" anchor="ctr">
            <a:normAutofit/>
          </a:bodyPr>
          <a:lstStyle/>
          <a:p>
            <a:pPr marL="0" indent="0">
              <a:buNone/>
            </a:pPr>
            <a:r>
              <a:rPr lang="en-US" sz="3000" b="1" dirty="0">
                <a:solidFill>
                  <a:srgbClr val="22C55E"/>
                </a:solidFill>
                <a:latin typeface="Aptos Display" pitchFamily="34" charset="0"/>
                <a:ea typeface="Aptos Display" pitchFamily="34" charset="-122"/>
                <a:cs typeface="Aptos Display" pitchFamily="34" charset="-120"/>
              </a:rPr>
              <a:t>4.664M</a:t>
            </a:r>
            <a:endParaRPr lang="en-US" sz="3000" dirty="0"/>
          </a:p>
        </p:txBody>
      </p:sp>
      <p:sp>
        <p:nvSpPr>
          <p:cNvPr id="13" name="Text 11"/>
          <p:cNvSpPr/>
          <p:nvPr/>
        </p:nvSpPr>
        <p:spPr>
          <a:xfrm>
            <a:off x="3822192" y="2926080"/>
            <a:ext cx="2313432" cy="310896"/>
          </a:xfrm>
          <a:prstGeom prst="rect">
            <a:avLst/>
          </a:prstGeom>
          <a:noFill/>
          <a:ln/>
        </p:spPr>
        <p:txBody>
          <a:bodyPr wrap="square" lIns="0" tIns="0" rIns="0" bIns="0" rtlCol="0" anchor="ctr">
            <a:normAutofit/>
          </a:bodyPr>
          <a:lstStyle/>
          <a:p>
            <a:pPr marL="0" indent="0">
              <a:buNone/>
            </a:pPr>
            <a:r>
              <a:rPr lang="en-US" sz="1200" dirty="0">
                <a:solidFill>
                  <a:srgbClr val="F8FAFC"/>
                </a:solidFill>
                <a:latin typeface="Aptos" pitchFamily="34" charset="0"/>
                <a:ea typeface="Aptos" pitchFamily="34" charset="-122"/>
                <a:cs typeface="Aptos" pitchFamily="34" charset="-120"/>
              </a:rPr>
              <a:t>industrial robots operating worldwide</a:t>
            </a:r>
            <a:endParaRPr lang="en-US" sz="1200" dirty="0"/>
          </a:p>
        </p:txBody>
      </p:sp>
      <p:sp>
        <p:nvSpPr>
          <p:cNvPr id="14" name="Text 12"/>
          <p:cNvSpPr/>
          <p:nvPr/>
        </p:nvSpPr>
        <p:spPr>
          <a:xfrm>
            <a:off x="3822192" y="3310128"/>
            <a:ext cx="2313432" cy="164592"/>
          </a:xfrm>
          <a:prstGeom prst="rect">
            <a:avLst/>
          </a:prstGeom>
          <a:noFill/>
          <a:ln/>
        </p:spPr>
        <p:txBody>
          <a:bodyPr wrap="square" lIns="0" tIns="0" rIns="0" bIns="0" rtlCol="0" anchor="ctr">
            <a:normAutofit/>
          </a:bodyPr>
          <a:lstStyle/>
          <a:p>
            <a:pPr marL="0" indent="0">
              <a:buNone/>
            </a:pPr>
            <a:r>
              <a:rPr lang="en-US" sz="780" dirty="0">
                <a:solidFill>
                  <a:srgbClr val="8391A8"/>
                </a:solidFill>
                <a:latin typeface="Aptos" pitchFamily="34" charset="0"/>
                <a:ea typeface="Aptos" pitchFamily="34" charset="-122"/>
                <a:cs typeface="Aptos" pitchFamily="34" charset="-120"/>
              </a:rPr>
              <a:t>IFR, 2025</a:t>
            </a:r>
            <a:endParaRPr lang="en-US" sz="780" dirty="0"/>
          </a:p>
        </p:txBody>
      </p:sp>
      <p:sp>
        <p:nvSpPr>
          <p:cNvPr id="15" name="Shape 13"/>
          <p:cNvSpPr/>
          <p:nvPr/>
        </p:nvSpPr>
        <p:spPr>
          <a:xfrm>
            <a:off x="6492240" y="2121408"/>
            <a:ext cx="2606040" cy="1417320"/>
          </a:xfrm>
          <a:prstGeom prst="roundRect">
            <a:avLst>
              <a:gd name="adj" fmla="val 6452"/>
            </a:avLst>
          </a:prstGeom>
          <a:solidFill>
            <a:srgbClr val="12213B">
              <a:alpha val="97000"/>
            </a:srgbClr>
          </a:solidFill>
          <a:ln w="10160">
            <a:solidFill>
              <a:srgbClr val="F59E0B">
                <a:alpha val="55000"/>
              </a:srgbClr>
            </a:solidFill>
            <a:prstDash val="solid"/>
          </a:ln>
        </p:spPr>
        <p:txBody>
          <a:bodyPr/>
          <a:lstStyle/>
          <a:p>
            <a:endParaRPr lang="en-US"/>
          </a:p>
        </p:txBody>
      </p:sp>
      <p:sp>
        <p:nvSpPr>
          <p:cNvPr id="16" name="Text 14"/>
          <p:cNvSpPr/>
          <p:nvPr/>
        </p:nvSpPr>
        <p:spPr>
          <a:xfrm>
            <a:off x="6620256" y="2286000"/>
            <a:ext cx="2350008" cy="493776"/>
          </a:xfrm>
          <a:prstGeom prst="rect">
            <a:avLst/>
          </a:prstGeom>
          <a:noFill/>
          <a:ln/>
        </p:spPr>
        <p:txBody>
          <a:bodyPr wrap="square" lIns="0" tIns="0" rIns="0" bIns="0" rtlCol="0" anchor="ctr">
            <a:normAutofit/>
          </a:bodyPr>
          <a:lstStyle/>
          <a:p>
            <a:pPr marL="0" indent="0">
              <a:buNone/>
            </a:pPr>
            <a:r>
              <a:rPr lang="en-US" sz="3000" b="1" dirty="0">
                <a:solidFill>
                  <a:srgbClr val="F59E0B"/>
                </a:solidFill>
                <a:latin typeface="Aptos Display" pitchFamily="34" charset="0"/>
                <a:ea typeface="Aptos Display" pitchFamily="34" charset="-122"/>
                <a:cs typeface="Aptos Display" pitchFamily="34" charset="-120"/>
              </a:rPr>
              <a:t>54%</a:t>
            </a:r>
            <a:endParaRPr lang="en-US" sz="3000" dirty="0"/>
          </a:p>
        </p:txBody>
      </p:sp>
      <p:sp>
        <p:nvSpPr>
          <p:cNvPr id="17" name="Text 15"/>
          <p:cNvSpPr/>
          <p:nvPr/>
        </p:nvSpPr>
        <p:spPr>
          <a:xfrm>
            <a:off x="6638544" y="2926080"/>
            <a:ext cx="2313432" cy="310896"/>
          </a:xfrm>
          <a:prstGeom prst="rect">
            <a:avLst/>
          </a:prstGeom>
          <a:noFill/>
          <a:ln/>
        </p:spPr>
        <p:txBody>
          <a:bodyPr wrap="square" lIns="0" tIns="0" rIns="0" bIns="0" rtlCol="0" anchor="ctr">
            <a:normAutofit/>
          </a:bodyPr>
          <a:lstStyle/>
          <a:p>
            <a:pPr marL="0" indent="0">
              <a:buNone/>
            </a:pPr>
            <a:r>
              <a:rPr lang="en-US" sz="1200" dirty="0">
                <a:solidFill>
                  <a:srgbClr val="F8FAFC"/>
                </a:solidFill>
                <a:latin typeface="Aptos" pitchFamily="34" charset="0"/>
                <a:ea typeface="Aptos" pitchFamily="34" charset="-122"/>
                <a:cs typeface="Aptos" pitchFamily="34" charset="-120"/>
              </a:rPr>
              <a:t>of 2024 global deployments in China</a:t>
            </a:r>
            <a:endParaRPr lang="en-US" sz="1200" dirty="0"/>
          </a:p>
        </p:txBody>
      </p:sp>
      <p:sp>
        <p:nvSpPr>
          <p:cNvPr id="18" name="Text 16"/>
          <p:cNvSpPr/>
          <p:nvPr/>
        </p:nvSpPr>
        <p:spPr>
          <a:xfrm>
            <a:off x="6638544" y="3310128"/>
            <a:ext cx="2313432" cy="164592"/>
          </a:xfrm>
          <a:prstGeom prst="rect">
            <a:avLst/>
          </a:prstGeom>
          <a:noFill/>
          <a:ln/>
        </p:spPr>
        <p:txBody>
          <a:bodyPr wrap="square" lIns="0" tIns="0" rIns="0" bIns="0" rtlCol="0" anchor="ctr">
            <a:normAutofit/>
          </a:bodyPr>
          <a:lstStyle/>
          <a:p>
            <a:pPr marL="0" indent="0">
              <a:buNone/>
            </a:pPr>
            <a:r>
              <a:rPr lang="en-US" sz="780" dirty="0">
                <a:solidFill>
                  <a:srgbClr val="8391A8"/>
                </a:solidFill>
                <a:latin typeface="Aptos" pitchFamily="34" charset="0"/>
                <a:ea typeface="Aptos" pitchFamily="34" charset="-122"/>
                <a:cs typeface="Aptos" pitchFamily="34" charset="-120"/>
              </a:rPr>
              <a:t>IFR, 2025</a:t>
            </a:r>
            <a:endParaRPr lang="en-US" sz="780" dirty="0"/>
          </a:p>
        </p:txBody>
      </p:sp>
      <p:sp>
        <p:nvSpPr>
          <p:cNvPr id="19" name="Shape 17"/>
          <p:cNvSpPr/>
          <p:nvPr/>
        </p:nvSpPr>
        <p:spPr>
          <a:xfrm>
            <a:off x="9308592" y="2121408"/>
            <a:ext cx="2148840" cy="1417320"/>
          </a:xfrm>
          <a:prstGeom prst="roundRect">
            <a:avLst>
              <a:gd name="adj" fmla="val 6452"/>
            </a:avLst>
          </a:prstGeom>
          <a:solidFill>
            <a:srgbClr val="12213B">
              <a:alpha val="97000"/>
            </a:srgbClr>
          </a:solidFill>
          <a:ln w="10160">
            <a:solidFill>
              <a:srgbClr val="A78BFA">
                <a:alpha val="55000"/>
              </a:srgbClr>
            </a:solidFill>
            <a:prstDash val="solid"/>
          </a:ln>
        </p:spPr>
        <p:txBody>
          <a:bodyPr/>
          <a:lstStyle/>
          <a:p>
            <a:endParaRPr lang="en-US"/>
          </a:p>
        </p:txBody>
      </p:sp>
      <p:sp>
        <p:nvSpPr>
          <p:cNvPr id="20" name="Text 18"/>
          <p:cNvSpPr/>
          <p:nvPr/>
        </p:nvSpPr>
        <p:spPr>
          <a:xfrm>
            <a:off x="9436608" y="2286000"/>
            <a:ext cx="1892808" cy="493776"/>
          </a:xfrm>
          <a:prstGeom prst="rect">
            <a:avLst/>
          </a:prstGeom>
          <a:noFill/>
          <a:ln/>
        </p:spPr>
        <p:txBody>
          <a:bodyPr wrap="square" lIns="0" tIns="0" rIns="0" bIns="0" rtlCol="0" anchor="ctr">
            <a:normAutofit/>
          </a:bodyPr>
          <a:lstStyle/>
          <a:p>
            <a:pPr marL="0" indent="0">
              <a:buNone/>
            </a:pPr>
            <a:r>
              <a:rPr lang="en-US" sz="3000" b="1" dirty="0">
                <a:solidFill>
                  <a:srgbClr val="A78BFA"/>
                </a:solidFill>
                <a:latin typeface="Aptos Display" pitchFamily="34" charset="0"/>
                <a:ea typeface="Aptos Display" pitchFamily="34" charset="-122"/>
                <a:cs typeface="Aptos Display" pitchFamily="34" charset="-120"/>
              </a:rPr>
              <a:t>74%</a:t>
            </a:r>
            <a:endParaRPr lang="en-US" sz="3000" dirty="0"/>
          </a:p>
        </p:txBody>
      </p:sp>
      <p:sp>
        <p:nvSpPr>
          <p:cNvPr id="21" name="Text 19"/>
          <p:cNvSpPr/>
          <p:nvPr/>
        </p:nvSpPr>
        <p:spPr>
          <a:xfrm>
            <a:off x="9454896" y="2926080"/>
            <a:ext cx="1856232" cy="310896"/>
          </a:xfrm>
          <a:prstGeom prst="rect">
            <a:avLst/>
          </a:prstGeom>
          <a:noFill/>
          <a:ln/>
        </p:spPr>
        <p:txBody>
          <a:bodyPr wrap="square" lIns="0" tIns="0" rIns="0" bIns="0" rtlCol="0" anchor="ctr">
            <a:normAutofit/>
          </a:bodyPr>
          <a:lstStyle/>
          <a:p>
            <a:pPr marL="0" indent="0">
              <a:buNone/>
            </a:pPr>
            <a:r>
              <a:rPr lang="en-US" sz="1200" dirty="0">
                <a:solidFill>
                  <a:srgbClr val="F8FAFC"/>
                </a:solidFill>
                <a:latin typeface="Aptos" pitchFamily="34" charset="0"/>
                <a:ea typeface="Aptos" pitchFamily="34" charset="-122"/>
                <a:cs typeface="Aptos" pitchFamily="34" charset="-120"/>
              </a:rPr>
              <a:t>of new deployments in Asia</a:t>
            </a:r>
            <a:endParaRPr lang="en-US" sz="1200" dirty="0"/>
          </a:p>
        </p:txBody>
      </p:sp>
      <p:sp>
        <p:nvSpPr>
          <p:cNvPr id="22" name="Text 20"/>
          <p:cNvSpPr/>
          <p:nvPr/>
        </p:nvSpPr>
        <p:spPr>
          <a:xfrm>
            <a:off x="9454896" y="3310128"/>
            <a:ext cx="1856232" cy="164592"/>
          </a:xfrm>
          <a:prstGeom prst="rect">
            <a:avLst/>
          </a:prstGeom>
          <a:noFill/>
          <a:ln/>
        </p:spPr>
        <p:txBody>
          <a:bodyPr wrap="square" lIns="0" tIns="0" rIns="0" bIns="0" rtlCol="0" anchor="ctr">
            <a:normAutofit/>
          </a:bodyPr>
          <a:lstStyle/>
          <a:p>
            <a:pPr marL="0" indent="0">
              <a:buNone/>
            </a:pPr>
            <a:r>
              <a:rPr lang="en-US" sz="780" dirty="0">
                <a:solidFill>
                  <a:srgbClr val="8391A8"/>
                </a:solidFill>
                <a:latin typeface="Aptos" pitchFamily="34" charset="0"/>
                <a:ea typeface="Aptos" pitchFamily="34" charset="-122"/>
                <a:cs typeface="Aptos" pitchFamily="34" charset="-120"/>
              </a:rPr>
              <a:t>IFR, 2025</a:t>
            </a:r>
            <a:endParaRPr lang="en-US" sz="780" dirty="0"/>
          </a:p>
        </p:txBody>
      </p:sp>
      <p:sp>
        <p:nvSpPr>
          <p:cNvPr id="23" name="Text 21"/>
          <p:cNvSpPr/>
          <p:nvPr/>
        </p:nvSpPr>
        <p:spPr>
          <a:xfrm>
            <a:off x="914400" y="4114800"/>
            <a:ext cx="2926080" cy="256032"/>
          </a:xfrm>
          <a:prstGeom prst="rect">
            <a:avLst/>
          </a:prstGeom>
          <a:noFill/>
          <a:ln/>
        </p:spPr>
        <p:txBody>
          <a:bodyPr wrap="square" lIns="0" tIns="0" rIns="0" bIns="0" rtlCol="0" anchor="ctr"/>
          <a:lstStyle/>
          <a:p>
            <a:pPr marL="0" indent="0">
              <a:buNone/>
            </a:pPr>
            <a:r>
              <a:rPr lang="en-US" sz="1100" b="1" dirty="0">
                <a:solidFill>
                  <a:srgbClr val="8391A8"/>
                </a:solidFill>
                <a:latin typeface="Aptos" pitchFamily="34" charset="0"/>
                <a:ea typeface="Aptos" pitchFamily="34" charset="-122"/>
                <a:cs typeface="Aptos" pitchFamily="34" charset="-120"/>
              </a:rPr>
              <a:t>2024 regional deployment split</a:t>
            </a:r>
            <a:endParaRPr lang="en-US" sz="1100" dirty="0"/>
          </a:p>
        </p:txBody>
      </p:sp>
      <p:sp>
        <p:nvSpPr>
          <p:cNvPr id="24" name="Shape 22"/>
          <p:cNvSpPr/>
          <p:nvPr/>
        </p:nvSpPr>
        <p:spPr>
          <a:xfrm>
            <a:off x="914400" y="4626864"/>
            <a:ext cx="7578547" cy="310896"/>
          </a:xfrm>
          <a:prstGeom prst="rect">
            <a:avLst/>
          </a:prstGeom>
          <a:solidFill>
            <a:srgbClr val="31D8FF"/>
          </a:solidFill>
          <a:ln w="12700">
            <a:solidFill>
              <a:srgbClr val="31D8FF">
                <a:alpha val="0"/>
              </a:srgbClr>
            </a:solidFill>
            <a:prstDash val="solid"/>
          </a:ln>
        </p:spPr>
        <p:txBody>
          <a:bodyPr/>
          <a:lstStyle/>
          <a:p>
            <a:endParaRPr lang="en-US"/>
          </a:p>
        </p:txBody>
      </p:sp>
      <p:sp>
        <p:nvSpPr>
          <p:cNvPr id="25" name="Text 23"/>
          <p:cNvSpPr/>
          <p:nvPr/>
        </p:nvSpPr>
        <p:spPr>
          <a:xfrm>
            <a:off x="950976" y="4700016"/>
            <a:ext cx="7505395" cy="109728"/>
          </a:xfrm>
          <a:prstGeom prst="rect">
            <a:avLst/>
          </a:prstGeom>
          <a:noFill/>
          <a:ln/>
        </p:spPr>
        <p:txBody>
          <a:bodyPr wrap="square" lIns="0" tIns="0" rIns="0" bIns="0" rtlCol="0" anchor="ctr">
            <a:normAutofit/>
          </a:bodyPr>
          <a:lstStyle/>
          <a:p>
            <a:pPr marL="0" indent="0" algn="ctr">
              <a:buNone/>
            </a:pPr>
            <a:r>
              <a:rPr lang="en-US" sz="820" b="1" dirty="0">
                <a:solidFill>
                  <a:srgbClr val="07101F"/>
                </a:solidFill>
                <a:latin typeface="Aptos" pitchFamily="34" charset="0"/>
                <a:ea typeface="Aptos" pitchFamily="34" charset="-122"/>
                <a:cs typeface="Aptos" pitchFamily="34" charset="-120"/>
              </a:rPr>
              <a:t>Asia</a:t>
            </a:r>
            <a:endParaRPr lang="en-US" sz="820" dirty="0"/>
          </a:p>
        </p:txBody>
      </p:sp>
      <p:sp>
        <p:nvSpPr>
          <p:cNvPr id="26" name="Shape 24"/>
          <p:cNvSpPr/>
          <p:nvPr/>
        </p:nvSpPr>
        <p:spPr>
          <a:xfrm>
            <a:off x="8492947" y="4626864"/>
            <a:ext cx="1638605" cy="310896"/>
          </a:xfrm>
          <a:prstGeom prst="rect">
            <a:avLst/>
          </a:prstGeom>
          <a:solidFill>
            <a:srgbClr val="3B82F6"/>
          </a:solidFill>
          <a:ln w="12700">
            <a:solidFill>
              <a:srgbClr val="3B82F6">
                <a:alpha val="0"/>
              </a:srgbClr>
            </a:solidFill>
            <a:prstDash val="solid"/>
          </a:ln>
        </p:spPr>
        <p:txBody>
          <a:bodyPr/>
          <a:lstStyle/>
          <a:p>
            <a:endParaRPr lang="en-US"/>
          </a:p>
        </p:txBody>
      </p:sp>
      <p:sp>
        <p:nvSpPr>
          <p:cNvPr id="27" name="Text 25"/>
          <p:cNvSpPr/>
          <p:nvPr/>
        </p:nvSpPr>
        <p:spPr>
          <a:xfrm>
            <a:off x="8529523" y="4700016"/>
            <a:ext cx="1565453" cy="109728"/>
          </a:xfrm>
          <a:prstGeom prst="rect">
            <a:avLst/>
          </a:prstGeom>
          <a:noFill/>
          <a:ln/>
        </p:spPr>
        <p:txBody>
          <a:bodyPr wrap="square" lIns="0" tIns="0" rIns="0" bIns="0" rtlCol="0" anchor="ctr">
            <a:normAutofit/>
          </a:bodyPr>
          <a:lstStyle/>
          <a:p>
            <a:pPr marL="0" indent="0" algn="ctr">
              <a:buNone/>
            </a:pPr>
            <a:r>
              <a:rPr lang="en-US" sz="820" b="1" dirty="0">
                <a:solidFill>
                  <a:srgbClr val="07101F"/>
                </a:solidFill>
                <a:latin typeface="Aptos" pitchFamily="34" charset="0"/>
                <a:ea typeface="Aptos" pitchFamily="34" charset="-122"/>
                <a:cs typeface="Aptos" pitchFamily="34" charset="-120"/>
              </a:rPr>
              <a:t>Europe</a:t>
            </a:r>
            <a:endParaRPr lang="en-US" sz="820" dirty="0"/>
          </a:p>
        </p:txBody>
      </p:sp>
      <p:sp>
        <p:nvSpPr>
          <p:cNvPr id="28" name="Shape 26"/>
          <p:cNvSpPr/>
          <p:nvPr/>
        </p:nvSpPr>
        <p:spPr>
          <a:xfrm>
            <a:off x="10131552" y="4626864"/>
            <a:ext cx="921715" cy="310896"/>
          </a:xfrm>
          <a:prstGeom prst="rect">
            <a:avLst/>
          </a:prstGeom>
          <a:solidFill>
            <a:srgbClr val="F59E0B"/>
          </a:solidFill>
          <a:ln w="12700">
            <a:solidFill>
              <a:srgbClr val="F59E0B">
                <a:alpha val="0"/>
              </a:srgbClr>
            </a:solidFill>
            <a:prstDash val="solid"/>
          </a:ln>
        </p:spPr>
        <p:txBody>
          <a:bodyPr/>
          <a:lstStyle/>
          <a:p>
            <a:endParaRPr lang="en-US"/>
          </a:p>
        </p:txBody>
      </p:sp>
      <p:sp>
        <p:nvSpPr>
          <p:cNvPr id="29" name="Text 27"/>
          <p:cNvSpPr/>
          <p:nvPr/>
        </p:nvSpPr>
        <p:spPr>
          <a:xfrm>
            <a:off x="10168128" y="4700016"/>
            <a:ext cx="848563" cy="109728"/>
          </a:xfrm>
          <a:prstGeom prst="rect">
            <a:avLst/>
          </a:prstGeom>
          <a:noFill/>
          <a:ln/>
        </p:spPr>
        <p:txBody>
          <a:bodyPr wrap="square" lIns="0" tIns="0" rIns="0" bIns="0" rtlCol="0" anchor="ctr">
            <a:normAutofit/>
          </a:bodyPr>
          <a:lstStyle/>
          <a:p>
            <a:pPr marL="0" indent="0" algn="ctr">
              <a:buNone/>
            </a:pPr>
            <a:r>
              <a:rPr lang="en-US" sz="820" b="1" dirty="0">
                <a:solidFill>
                  <a:srgbClr val="07101F"/>
                </a:solidFill>
                <a:latin typeface="Aptos" pitchFamily="34" charset="0"/>
                <a:ea typeface="Aptos" pitchFamily="34" charset="-122"/>
                <a:cs typeface="Aptos" pitchFamily="34" charset="-120"/>
              </a:rPr>
              <a:t>Americas</a:t>
            </a:r>
            <a:endParaRPr lang="en-US" sz="820" dirty="0"/>
          </a:p>
        </p:txBody>
      </p:sp>
      <p:sp>
        <p:nvSpPr>
          <p:cNvPr id="30" name="Shape 28"/>
          <p:cNvSpPr/>
          <p:nvPr/>
        </p:nvSpPr>
        <p:spPr>
          <a:xfrm>
            <a:off x="11053267" y="4626864"/>
            <a:ext cx="102413" cy="310896"/>
          </a:xfrm>
          <a:prstGeom prst="rect">
            <a:avLst/>
          </a:prstGeom>
          <a:solidFill>
            <a:srgbClr val="8391A8"/>
          </a:solidFill>
          <a:ln w="12700">
            <a:solidFill>
              <a:srgbClr val="8391A8">
                <a:alpha val="0"/>
              </a:srgbClr>
            </a:solidFill>
            <a:prstDash val="solid"/>
          </a:ln>
        </p:spPr>
        <p:txBody>
          <a:bodyPr/>
          <a:lstStyle/>
          <a:p>
            <a:endParaRPr lang="en-US"/>
          </a:p>
        </p:txBody>
      </p:sp>
      <p:sp>
        <p:nvSpPr>
          <p:cNvPr id="31" name="Text 29"/>
          <p:cNvSpPr/>
          <p:nvPr/>
        </p:nvSpPr>
        <p:spPr>
          <a:xfrm>
            <a:off x="914400" y="5413248"/>
            <a:ext cx="10149840" cy="384048"/>
          </a:xfrm>
          <a:prstGeom prst="rect">
            <a:avLst/>
          </a:prstGeom>
          <a:noFill/>
          <a:ln/>
        </p:spPr>
        <p:txBody>
          <a:bodyPr wrap="square" lIns="0" tIns="0" rIns="0" bIns="0" rtlCol="0" anchor="ctr">
            <a:normAutofit/>
          </a:bodyPr>
          <a:lstStyle/>
          <a:p>
            <a:pPr marL="0" indent="0" algn="ctr">
              <a:buNone/>
            </a:pPr>
            <a:r>
              <a:rPr lang="en-US" sz="1800" b="1" dirty="0">
                <a:solidFill>
                  <a:srgbClr val="F8FAFC"/>
                </a:solidFill>
                <a:latin typeface="Aptos Display" pitchFamily="34" charset="0"/>
                <a:ea typeface="Aptos Display" pitchFamily="34" charset="-122"/>
                <a:cs typeface="Aptos Display" pitchFamily="34" charset="-120"/>
              </a:rPr>
              <a:t>The opportunity is not just “more robots.” It is reusable robot intelligence across more machines and sites.</a:t>
            </a:r>
            <a:endParaRPr lang="en-US" sz="1800" dirty="0"/>
          </a:p>
        </p:txBody>
      </p:sp>
      <p:sp>
        <p:nvSpPr>
          <p:cNvPr id="32" name="Text 30"/>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Source: International Federation of Robotics, World Robotics 2025 report. See references.</a:t>
            </a:r>
            <a:endParaRPr lang="en-US" sz="760" dirty="0"/>
          </a:p>
        </p:txBody>
      </p:sp>
      <p:sp>
        <p:nvSpPr>
          <p:cNvPr id="33" name="Shape 31"/>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4" name="Text 32"/>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35" name="Text 33"/>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16</a:t>
            </a:r>
            <a:endParaRPr lang="en-US" sz="8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17</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Safety and governance are part of the foundation</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Physical AI needs a safety case, not just a model card.</a:t>
            </a:r>
            <a:endParaRPr lang="en-US" sz="1450" dirty="0"/>
          </a:p>
        </p:txBody>
      </p:sp>
      <p:sp>
        <p:nvSpPr>
          <p:cNvPr id="7" name="Shape 5"/>
          <p:cNvSpPr/>
          <p:nvPr/>
        </p:nvSpPr>
        <p:spPr>
          <a:xfrm>
            <a:off x="914400" y="2103120"/>
            <a:ext cx="5212080" cy="658368"/>
          </a:xfrm>
          <a:prstGeom prst="roundRect">
            <a:avLst>
              <a:gd name="adj" fmla="val 11111"/>
            </a:avLst>
          </a:prstGeom>
          <a:solidFill>
            <a:srgbClr val="12213B"/>
          </a:solidFill>
          <a:ln w="11430">
            <a:solidFill>
              <a:srgbClr val="22C55E">
                <a:alpha val="65000"/>
              </a:srgbClr>
            </a:solidFill>
            <a:prstDash val="solid"/>
          </a:ln>
        </p:spPr>
        <p:txBody>
          <a:bodyPr/>
          <a:lstStyle/>
          <a:p>
            <a:endParaRPr lang="en-US"/>
          </a:p>
        </p:txBody>
      </p:sp>
      <p:sp>
        <p:nvSpPr>
          <p:cNvPr id="8" name="Text 6"/>
          <p:cNvSpPr/>
          <p:nvPr/>
        </p:nvSpPr>
        <p:spPr>
          <a:xfrm>
            <a:off x="1143000" y="2240280"/>
            <a:ext cx="1051560" cy="228600"/>
          </a:xfrm>
          <a:prstGeom prst="rect">
            <a:avLst/>
          </a:prstGeom>
          <a:noFill/>
          <a:ln/>
        </p:spPr>
        <p:txBody>
          <a:bodyPr wrap="square" lIns="0" tIns="0" rIns="0" bIns="0" rtlCol="0" anchor="ctr"/>
          <a:lstStyle/>
          <a:p>
            <a:pPr marL="0" indent="0">
              <a:buNone/>
            </a:pPr>
            <a:r>
              <a:rPr lang="en-US" sz="1550" b="1" dirty="0">
                <a:solidFill>
                  <a:srgbClr val="F8FAFC"/>
                </a:solidFill>
                <a:latin typeface="Aptos Display" pitchFamily="34" charset="0"/>
                <a:ea typeface="Aptos Display" pitchFamily="34" charset="-122"/>
                <a:cs typeface="Aptos Display" pitchFamily="34" charset="-120"/>
              </a:rPr>
              <a:t>Govern</a:t>
            </a:r>
            <a:endParaRPr lang="en-US" sz="1550" dirty="0"/>
          </a:p>
        </p:txBody>
      </p:sp>
      <p:sp>
        <p:nvSpPr>
          <p:cNvPr id="9" name="Text 7"/>
          <p:cNvSpPr/>
          <p:nvPr/>
        </p:nvSpPr>
        <p:spPr>
          <a:xfrm>
            <a:off x="2331720" y="2258568"/>
            <a:ext cx="3291840" cy="201168"/>
          </a:xfrm>
          <a:prstGeom prst="rect">
            <a:avLst/>
          </a:prstGeom>
          <a:noFill/>
          <a:ln/>
        </p:spPr>
        <p:txBody>
          <a:bodyPr wrap="square" lIns="0" tIns="0" rIns="0" bIns="0" rtlCol="0" anchor="ctr">
            <a:normAutofit/>
          </a:bodyPr>
          <a:lstStyle/>
          <a:p>
            <a:pPr marL="0" indent="0">
              <a:buNone/>
            </a:pPr>
            <a:r>
              <a:rPr lang="en-US" sz="1040" dirty="0">
                <a:solidFill>
                  <a:srgbClr val="B6C2D5"/>
                </a:solidFill>
                <a:latin typeface="Aptos" pitchFamily="34" charset="0"/>
                <a:ea typeface="Aptos" pitchFamily="34" charset="-122"/>
                <a:cs typeface="Aptos" pitchFamily="34" charset="-120"/>
              </a:rPr>
              <a:t>accountability, roles, human oversight</a:t>
            </a:r>
            <a:endParaRPr lang="en-US" sz="1040" dirty="0"/>
          </a:p>
        </p:txBody>
      </p:sp>
      <p:sp>
        <p:nvSpPr>
          <p:cNvPr id="10" name="Shape 8"/>
          <p:cNvSpPr/>
          <p:nvPr/>
        </p:nvSpPr>
        <p:spPr>
          <a:xfrm>
            <a:off x="1170432" y="2907792"/>
            <a:ext cx="4700016" cy="658368"/>
          </a:xfrm>
          <a:prstGeom prst="roundRect">
            <a:avLst>
              <a:gd name="adj" fmla="val 11111"/>
            </a:avLst>
          </a:prstGeom>
          <a:solidFill>
            <a:srgbClr val="12213B">
              <a:alpha val="96000"/>
            </a:srgbClr>
          </a:solidFill>
          <a:ln w="11430">
            <a:solidFill>
              <a:srgbClr val="31D8FF">
                <a:alpha val="65000"/>
              </a:srgbClr>
            </a:solidFill>
            <a:prstDash val="solid"/>
          </a:ln>
        </p:spPr>
        <p:txBody>
          <a:bodyPr/>
          <a:lstStyle/>
          <a:p>
            <a:endParaRPr lang="en-US"/>
          </a:p>
        </p:txBody>
      </p:sp>
      <p:sp>
        <p:nvSpPr>
          <p:cNvPr id="11" name="Text 9"/>
          <p:cNvSpPr/>
          <p:nvPr/>
        </p:nvSpPr>
        <p:spPr>
          <a:xfrm>
            <a:off x="1399032" y="3044952"/>
            <a:ext cx="1051560" cy="228600"/>
          </a:xfrm>
          <a:prstGeom prst="rect">
            <a:avLst/>
          </a:prstGeom>
          <a:noFill/>
          <a:ln/>
        </p:spPr>
        <p:txBody>
          <a:bodyPr wrap="square" lIns="0" tIns="0" rIns="0" bIns="0" rtlCol="0" anchor="ctr"/>
          <a:lstStyle/>
          <a:p>
            <a:pPr marL="0" indent="0">
              <a:buNone/>
            </a:pPr>
            <a:r>
              <a:rPr lang="en-US" sz="1550" b="1" dirty="0">
                <a:solidFill>
                  <a:srgbClr val="F8FAFC"/>
                </a:solidFill>
                <a:latin typeface="Aptos Display" pitchFamily="34" charset="0"/>
                <a:ea typeface="Aptos Display" pitchFamily="34" charset="-122"/>
                <a:cs typeface="Aptos Display" pitchFamily="34" charset="-120"/>
              </a:rPr>
              <a:t>Map</a:t>
            </a:r>
            <a:endParaRPr lang="en-US" sz="1550" dirty="0"/>
          </a:p>
        </p:txBody>
      </p:sp>
      <p:sp>
        <p:nvSpPr>
          <p:cNvPr id="12" name="Text 10"/>
          <p:cNvSpPr/>
          <p:nvPr/>
        </p:nvSpPr>
        <p:spPr>
          <a:xfrm>
            <a:off x="2587752" y="3063240"/>
            <a:ext cx="2834640" cy="201168"/>
          </a:xfrm>
          <a:prstGeom prst="rect">
            <a:avLst/>
          </a:prstGeom>
          <a:noFill/>
          <a:ln/>
        </p:spPr>
        <p:txBody>
          <a:bodyPr wrap="square" lIns="0" tIns="0" rIns="0" bIns="0" rtlCol="0" anchor="ctr">
            <a:normAutofit/>
          </a:bodyPr>
          <a:lstStyle/>
          <a:p>
            <a:pPr marL="0" indent="0">
              <a:buNone/>
            </a:pPr>
            <a:r>
              <a:rPr lang="en-US" sz="1040" dirty="0">
                <a:solidFill>
                  <a:srgbClr val="B6C2D5"/>
                </a:solidFill>
                <a:latin typeface="Aptos" pitchFamily="34" charset="0"/>
                <a:ea typeface="Aptos" pitchFamily="34" charset="-122"/>
                <a:cs typeface="Aptos" pitchFamily="34" charset="-120"/>
              </a:rPr>
              <a:t>hazards, operating domain, affected stakeholders</a:t>
            </a:r>
            <a:endParaRPr lang="en-US" sz="1040" dirty="0"/>
          </a:p>
        </p:txBody>
      </p:sp>
      <p:sp>
        <p:nvSpPr>
          <p:cNvPr id="13" name="Shape 11"/>
          <p:cNvSpPr/>
          <p:nvPr/>
        </p:nvSpPr>
        <p:spPr>
          <a:xfrm>
            <a:off x="1426464" y="3712464"/>
            <a:ext cx="4187952" cy="658368"/>
          </a:xfrm>
          <a:prstGeom prst="roundRect">
            <a:avLst>
              <a:gd name="adj" fmla="val 11111"/>
            </a:avLst>
          </a:prstGeom>
          <a:solidFill>
            <a:srgbClr val="12213B"/>
          </a:solidFill>
          <a:ln w="11430">
            <a:solidFill>
              <a:srgbClr val="3B82F6">
                <a:alpha val="65000"/>
              </a:srgbClr>
            </a:solidFill>
            <a:prstDash val="solid"/>
          </a:ln>
        </p:spPr>
        <p:txBody>
          <a:bodyPr/>
          <a:lstStyle/>
          <a:p>
            <a:endParaRPr lang="en-US"/>
          </a:p>
        </p:txBody>
      </p:sp>
      <p:sp>
        <p:nvSpPr>
          <p:cNvPr id="14" name="Text 12"/>
          <p:cNvSpPr/>
          <p:nvPr/>
        </p:nvSpPr>
        <p:spPr>
          <a:xfrm>
            <a:off x="1655064" y="3849624"/>
            <a:ext cx="1051560" cy="228600"/>
          </a:xfrm>
          <a:prstGeom prst="rect">
            <a:avLst/>
          </a:prstGeom>
          <a:noFill/>
          <a:ln/>
        </p:spPr>
        <p:txBody>
          <a:bodyPr wrap="square" lIns="0" tIns="0" rIns="0" bIns="0" rtlCol="0" anchor="ctr"/>
          <a:lstStyle/>
          <a:p>
            <a:pPr marL="0" indent="0">
              <a:buNone/>
            </a:pPr>
            <a:r>
              <a:rPr lang="en-US" sz="1550" b="1" dirty="0">
                <a:solidFill>
                  <a:srgbClr val="F8FAFC"/>
                </a:solidFill>
                <a:latin typeface="Aptos Display" pitchFamily="34" charset="0"/>
                <a:ea typeface="Aptos Display" pitchFamily="34" charset="-122"/>
                <a:cs typeface="Aptos Display" pitchFamily="34" charset="-120"/>
              </a:rPr>
              <a:t>Measure</a:t>
            </a:r>
            <a:endParaRPr lang="en-US" sz="1550" dirty="0"/>
          </a:p>
        </p:txBody>
      </p:sp>
      <p:sp>
        <p:nvSpPr>
          <p:cNvPr id="15" name="Text 13"/>
          <p:cNvSpPr/>
          <p:nvPr/>
        </p:nvSpPr>
        <p:spPr>
          <a:xfrm>
            <a:off x="2843784" y="3867912"/>
            <a:ext cx="2377440" cy="201168"/>
          </a:xfrm>
          <a:prstGeom prst="rect">
            <a:avLst/>
          </a:prstGeom>
          <a:noFill/>
          <a:ln/>
        </p:spPr>
        <p:txBody>
          <a:bodyPr wrap="square" lIns="0" tIns="0" rIns="0" bIns="0" rtlCol="0" anchor="ctr">
            <a:normAutofit/>
          </a:bodyPr>
          <a:lstStyle/>
          <a:p>
            <a:pPr marL="0" indent="0">
              <a:buNone/>
            </a:pPr>
            <a:r>
              <a:rPr lang="en-US" sz="1040" dirty="0">
                <a:solidFill>
                  <a:srgbClr val="B6C2D5"/>
                </a:solidFill>
                <a:latin typeface="Aptos" pitchFamily="34" charset="0"/>
                <a:ea typeface="Aptos" pitchFamily="34" charset="-122"/>
                <a:cs typeface="Aptos" pitchFamily="34" charset="-120"/>
              </a:rPr>
              <a:t>tests, simulations, stress cases, incident metrics</a:t>
            </a:r>
            <a:endParaRPr lang="en-US" sz="1040" dirty="0"/>
          </a:p>
        </p:txBody>
      </p:sp>
      <p:sp>
        <p:nvSpPr>
          <p:cNvPr id="16" name="Shape 14"/>
          <p:cNvSpPr/>
          <p:nvPr/>
        </p:nvSpPr>
        <p:spPr>
          <a:xfrm>
            <a:off x="1682496" y="4517136"/>
            <a:ext cx="3675888" cy="658368"/>
          </a:xfrm>
          <a:prstGeom prst="roundRect">
            <a:avLst>
              <a:gd name="adj" fmla="val 11111"/>
            </a:avLst>
          </a:prstGeom>
          <a:solidFill>
            <a:srgbClr val="12213B">
              <a:alpha val="96000"/>
            </a:srgbClr>
          </a:solidFill>
          <a:ln w="11430">
            <a:solidFill>
              <a:srgbClr val="F59E0B">
                <a:alpha val="65000"/>
              </a:srgbClr>
            </a:solidFill>
            <a:prstDash val="solid"/>
          </a:ln>
        </p:spPr>
        <p:txBody>
          <a:bodyPr/>
          <a:lstStyle/>
          <a:p>
            <a:endParaRPr lang="en-US"/>
          </a:p>
        </p:txBody>
      </p:sp>
      <p:sp>
        <p:nvSpPr>
          <p:cNvPr id="17" name="Text 15"/>
          <p:cNvSpPr/>
          <p:nvPr/>
        </p:nvSpPr>
        <p:spPr>
          <a:xfrm>
            <a:off x="1911096" y="4654296"/>
            <a:ext cx="1051560" cy="228600"/>
          </a:xfrm>
          <a:prstGeom prst="rect">
            <a:avLst/>
          </a:prstGeom>
          <a:noFill/>
          <a:ln/>
        </p:spPr>
        <p:txBody>
          <a:bodyPr wrap="square" lIns="0" tIns="0" rIns="0" bIns="0" rtlCol="0" anchor="ctr"/>
          <a:lstStyle/>
          <a:p>
            <a:pPr marL="0" indent="0">
              <a:buNone/>
            </a:pPr>
            <a:r>
              <a:rPr lang="en-US" sz="1550" b="1" dirty="0">
                <a:solidFill>
                  <a:srgbClr val="F8FAFC"/>
                </a:solidFill>
                <a:latin typeface="Aptos Display" pitchFamily="34" charset="0"/>
                <a:ea typeface="Aptos Display" pitchFamily="34" charset="-122"/>
                <a:cs typeface="Aptos Display" pitchFamily="34" charset="-120"/>
              </a:rPr>
              <a:t>Manage</a:t>
            </a:r>
            <a:endParaRPr lang="en-US" sz="1550" dirty="0"/>
          </a:p>
        </p:txBody>
      </p:sp>
      <p:sp>
        <p:nvSpPr>
          <p:cNvPr id="18" name="Text 16"/>
          <p:cNvSpPr/>
          <p:nvPr/>
        </p:nvSpPr>
        <p:spPr>
          <a:xfrm>
            <a:off x="3099816" y="4672584"/>
            <a:ext cx="1920240" cy="201168"/>
          </a:xfrm>
          <a:prstGeom prst="rect">
            <a:avLst/>
          </a:prstGeom>
          <a:noFill/>
          <a:ln/>
        </p:spPr>
        <p:txBody>
          <a:bodyPr wrap="square" lIns="0" tIns="0" rIns="0" bIns="0" rtlCol="0" anchor="ctr">
            <a:normAutofit/>
          </a:bodyPr>
          <a:lstStyle/>
          <a:p>
            <a:pPr marL="0" indent="0">
              <a:buNone/>
            </a:pPr>
            <a:r>
              <a:rPr lang="en-US" sz="1040" dirty="0">
                <a:solidFill>
                  <a:srgbClr val="B6C2D5"/>
                </a:solidFill>
                <a:latin typeface="Aptos" pitchFamily="34" charset="0"/>
                <a:ea typeface="Aptos" pitchFamily="34" charset="-122"/>
                <a:cs typeface="Aptos" pitchFamily="34" charset="-120"/>
              </a:rPr>
              <a:t>controls, monitoring, escalation, shutdown</a:t>
            </a:r>
            <a:endParaRPr lang="en-US" sz="1040" dirty="0"/>
          </a:p>
        </p:txBody>
      </p:sp>
      <p:sp>
        <p:nvSpPr>
          <p:cNvPr id="19" name="Shape 17"/>
          <p:cNvSpPr/>
          <p:nvPr/>
        </p:nvSpPr>
        <p:spPr>
          <a:xfrm>
            <a:off x="6629400" y="2139696"/>
            <a:ext cx="4434840" cy="777240"/>
          </a:xfrm>
          <a:prstGeom prst="roundRect">
            <a:avLst>
              <a:gd name="adj" fmla="val 11765"/>
            </a:avLst>
          </a:prstGeom>
          <a:solidFill>
            <a:srgbClr val="12213B">
              <a:alpha val="97000"/>
            </a:srgbClr>
          </a:solidFill>
          <a:ln w="11430">
            <a:solidFill>
              <a:srgbClr val="31D8FF">
                <a:alpha val="60000"/>
              </a:srgbClr>
            </a:solidFill>
            <a:prstDash val="solid"/>
          </a:ln>
        </p:spPr>
        <p:txBody>
          <a:bodyPr/>
          <a:lstStyle/>
          <a:p>
            <a:endParaRPr lang="en-US"/>
          </a:p>
        </p:txBody>
      </p:sp>
      <p:sp>
        <p:nvSpPr>
          <p:cNvPr id="20" name="Text 18"/>
          <p:cNvSpPr/>
          <p:nvPr/>
        </p:nvSpPr>
        <p:spPr>
          <a:xfrm>
            <a:off x="6839712" y="2267712"/>
            <a:ext cx="1737360" cy="219456"/>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NIST AI RMF</a:t>
            </a:r>
            <a:endParaRPr lang="en-US" sz="1480" dirty="0"/>
          </a:p>
        </p:txBody>
      </p:sp>
      <p:sp>
        <p:nvSpPr>
          <p:cNvPr id="21" name="Text 19"/>
          <p:cNvSpPr/>
          <p:nvPr/>
        </p:nvSpPr>
        <p:spPr>
          <a:xfrm>
            <a:off x="8595360" y="2276856"/>
            <a:ext cx="2148840" cy="256032"/>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voluntary risk framework for trustworthy AI</a:t>
            </a:r>
            <a:endParaRPr lang="en-US" sz="1020" dirty="0"/>
          </a:p>
        </p:txBody>
      </p:sp>
      <p:sp>
        <p:nvSpPr>
          <p:cNvPr id="22" name="Shape 20"/>
          <p:cNvSpPr/>
          <p:nvPr/>
        </p:nvSpPr>
        <p:spPr>
          <a:xfrm>
            <a:off x="6629400" y="3099816"/>
            <a:ext cx="4434840" cy="777240"/>
          </a:xfrm>
          <a:prstGeom prst="roundRect">
            <a:avLst>
              <a:gd name="adj" fmla="val 11765"/>
            </a:avLst>
          </a:prstGeom>
          <a:solidFill>
            <a:srgbClr val="12213B">
              <a:alpha val="97000"/>
            </a:srgbClr>
          </a:solidFill>
          <a:ln w="11430">
            <a:solidFill>
              <a:srgbClr val="22C55E">
                <a:alpha val="60000"/>
              </a:srgbClr>
            </a:solidFill>
            <a:prstDash val="solid"/>
          </a:ln>
        </p:spPr>
        <p:txBody>
          <a:bodyPr/>
          <a:lstStyle/>
          <a:p>
            <a:endParaRPr lang="en-US"/>
          </a:p>
        </p:txBody>
      </p:sp>
      <p:sp>
        <p:nvSpPr>
          <p:cNvPr id="23" name="Text 21"/>
          <p:cNvSpPr/>
          <p:nvPr/>
        </p:nvSpPr>
        <p:spPr>
          <a:xfrm>
            <a:off x="6839712" y="3227832"/>
            <a:ext cx="1737360" cy="219456"/>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ISO 10218-1:2025</a:t>
            </a:r>
            <a:endParaRPr lang="en-US" sz="1480" dirty="0"/>
          </a:p>
        </p:txBody>
      </p:sp>
      <p:sp>
        <p:nvSpPr>
          <p:cNvPr id="24" name="Text 22"/>
          <p:cNvSpPr/>
          <p:nvPr/>
        </p:nvSpPr>
        <p:spPr>
          <a:xfrm>
            <a:off x="8595360" y="3236976"/>
            <a:ext cx="2148840" cy="256032"/>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industrial robot safety requirements</a:t>
            </a:r>
            <a:endParaRPr lang="en-US" sz="1020" dirty="0"/>
          </a:p>
        </p:txBody>
      </p:sp>
      <p:sp>
        <p:nvSpPr>
          <p:cNvPr id="25" name="Shape 23"/>
          <p:cNvSpPr/>
          <p:nvPr/>
        </p:nvSpPr>
        <p:spPr>
          <a:xfrm>
            <a:off x="6629400" y="4059936"/>
            <a:ext cx="4434840" cy="777240"/>
          </a:xfrm>
          <a:prstGeom prst="roundRect">
            <a:avLst>
              <a:gd name="adj" fmla="val 11765"/>
            </a:avLst>
          </a:prstGeom>
          <a:solidFill>
            <a:srgbClr val="12213B">
              <a:alpha val="97000"/>
            </a:srgbClr>
          </a:solidFill>
          <a:ln w="11430">
            <a:solidFill>
              <a:srgbClr val="F59E0B">
                <a:alpha val="60000"/>
              </a:srgbClr>
            </a:solidFill>
            <a:prstDash val="solid"/>
          </a:ln>
        </p:spPr>
        <p:txBody>
          <a:bodyPr/>
          <a:lstStyle/>
          <a:p>
            <a:endParaRPr lang="en-US"/>
          </a:p>
        </p:txBody>
      </p:sp>
      <p:sp>
        <p:nvSpPr>
          <p:cNvPr id="26" name="Text 24"/>
          <p:cNvSpPr/>
          <p:nvPr/>
        </p:nvSpPr>
        <p:spPr>
          <a:xfrm>
            <a:off x="6839712" y="4187952"/>
            <a:ext cx="1737360" cy="219456"/>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EU AI Act</a:t>
            </a:r>
            <a:endParaRPr lang="en-US" sz="1480" dirty="0"/>
          </a:p>
        </p:txBody>
      </p:sp>
      <p:sp>
        <p:nvSpPr>
          <p:cNvPr id="27" name="Text 25"/>
          <p:cNvSpPr/>
          <p:nvPr/>
        </p:nvSpPr>
        <p:spPr>
          <a:xfrm>
            <a:off x="8595360" y="4197096"/>
            <a:ext cx="2148840" cy="256032"/>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risk-based obligations for selected AI systems</a:t>
            </a:r>
            <a:endParaRPr lang="en-US" sz="1020" dirty="0"/>
          </a:p>
        </p:txBody>
      </p:sp>
      <p:sp>
        <p:nvSpPr>
          <p:cNvPr id="28" name="Shape 26"/>
          <p:cNvSpPr/>
          <p:nvPr/>
        </p:nvSpPr>
        <p:spPr>
          <a:xfrm>
            <a:off x="960120" y="5486400"/>
            <a:ext cx="10149840" cy="566928"/>
          </a:xfrm>
          <a:prstGeom prst="roundRect">
            <a:avLst>
              <a:gd name="adj" fmla="val 19355"/>
            </a:avLst>
          </a:prstGeom>
          <a:solidFill>
            <a:srgbClr val="0F1C33"/>
          </a:solidFill>
          <a:ln w="11430">
            <a:solidFill>
              <a:srgbClr val="EF4444">
                <a:alpha val="55000"/>
              </a:srgbClr>
            </a:solidFill>
            <a:prstDash val="solid"/>
          </a:ln>
        </p:spPr>
        <p:txBody>
          <a:bodyPr/>
          <a:lstStyle/>
          <a:p>
            <a:endParaRPr lang="en-US"/>
          </a:p>
        </p:txBody>
      </p:sp>
      <p:sp>
        <p:nvSpPr>
          <p:cNvPr id="29" name="Shape 27"/>
          <p:cNvSpPr/>
          <p:nvPr/>
        </p:nvSpPr>
        <p:spPr>
          <a:xfrm>
            <a:off x="960120" y="5486400"/>
            <a:ext cx="64008" cy="566928"/>
          </a:xfrm>
          <a:prstGeom prst="rect">
            <a:avLst/>
          </a:prstGeom>
          <a:solidFill>
            <a:srgbClr val="EF4444"/>
          </a:solidFill>
          <a:ln w="12700">
            <a:solidFill>
              <a:srgbClr val="EF4444">
                <a:alpha val="0"/>
              </a:srgbClr>
            </a:solidFill>
            <a:prstDash val="solid"/>
          </a:ln>
        </p:spPr>
        <p:txBody>
          <a:bodyPr/>
          <a:lstStyle/>
          <a:p>
            <a:endParaRPr lang="en-US"/>
          </a:p>
        </p:txBody>
      </p:sp>
      <p:sp>
        <p:nvSpPr>
          <p:cNvPr id="30" name="Text 28"/>
          <p:cNvSpPr/>
          <p:nvPr/>
        </p:nvSpPr>
        <p:spPr>
          <a:xfrm>
            <a:off x="1124712" y="5596128"/>
            <a:ext cx="9857232" cy="384048"/>
          </a:xfrm>
          <a:prstGeom prst="rect">
            <a:avLst/>
          </a:prstGeom>
          <a:noFill/>
          <a:ln/>
        </p:spPr>
        <p:txBody>
          <a:bodyPr wrap="square" lIns="254" tIns="254" rIns="254" bIns="254" rtlCol="0" anchor="ctr">
            <a:normAutofit/>
          </a:bodyPr>
          <a:lstStyle/>
          <a:p>
            <a:pPr marL="0" indent="0">
              <a:buNone/>
            </a:pPr>
            <a:r>
              <a:rPr lang="en-US" sz="1450" dirty="0">
                <a:solidFill>
                  <a:srgbClr val="F8FAFC"/>
                </a:solidFill>
                <a:latin typeface="Aptos" pitchFamily="34" charset="0"/>
                <a:ea typeface="Aptos" pitchFamily="34" charset="-122"/>
                <a:cs typeface="Aptos" pitchFamily="34" charset="-120"/>
              </a:rPr>
              <a:t>Minimum practice: define the operating design domain, hard safety limits, test coverage, human override, logging, and post-deployment monitoring.</a:t>
            </a:r>
            <a:endParaRPr lang="en-US" sz="1450" dirty="0"/>
          </a:p>
        </p:txBody>
      </p:sp>
      <p:sp>
        <p:nvSpPr>
          <p:cNvPr id="31" name="Text 29"/>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Sources: NIST AI RMF; ISO 10218-1:2025; European Commission AI Act.</a:t>
            </a:r>
            <a:endParaRPr lang="en-US" sz="760" dirty="0"/>
          </a:p>
        </p:txBody>
      </p:sp>
      <p:sp>
        <p:nvSpPr>
          <p:cNvPr id="32" name="Shape 30"/>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3" name="Text 31"/>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34" name="Text 32"/>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17</a:t>
            </a:r>
            <a:endParaRPr lang="en-US" sz="8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mnt/data/a_wide_futuristic_technology_collage_scene_on_a_d_batch_4.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F">
              <a:alpha val="58000"/>
            </a:srgbClr>
          </a:solidFill>
          <a:ln w="12700">
            <a:solidFill>
              <a:srgbClr val="07101F">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7101F">
              <a:alpha val="64000"/>
            </a:srgbClr>
          </a:solidFill>
          <a:ln w="12700">
            <a:solidFill>
              <a:srgbClr val="07101F">
                <a:alpha val="0"/>
              </a:srgbClr>
            </a:solidFill>
            <a:prstDash val="solid"/>
          </a:ln>
        </p:spPr>
        <p:txBody>
          <a:bodyPr/>
          <a:lstStyle/>
          <a:p>
            <a:endParaRPr lang="en-US"/>
          </a:p>
        </p:txBody>
      </p:sp>
      <p:sp>
        <p:nvSpPr>
          <p:cNvPr id="5" name="Text 2"/>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18</a:t>
            </a:r>
            <a:endParaRPr lang="en-US" sz="950" dirty="0"/>
          </a:p>
        </p:txBody>
      </p:sp>
      <p:sp>
        <p:nvSpPr>
          <p:cNvPr id="6" name="Text 3"/>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Where Physical AI shows up first</a:t>
            </a:r>
            <a:endParaRPr lang="en-US" sz="3100" dirty="0"/>
          </a:p>
        </p:txBody>
      </p:sp>
      <p:sp>
        <p:nvSpPr>
          <p:cNvPr id="7" name="Shape 4"/>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8" name="Text 5"/>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The early value is strongest where perception, motion, and operational feedback are already instrumented.</a:t>
            </a:r>
            <a:endParaRPr lang="en-US" sz="1450" dirty="0"/>
          </a:p>
        </p:txBody>
      </p:sp>
      <p:sp>
        <p:nvSpPr>
          <p:cNvPr id="9" name="Shape 6"/>
          <p:cNvSpPr/>
          <p:nvPr/>
        </p:nvSpPr>
        <p:spPr>
          <a:xfrm>
            <a:off x="877824" y="2084832"/>
            <a:ext cx="5120640" cy="512064"/>
          </a:xfrm>
          <a:prstGeom prst="roundRect">
            <a:avLst>
              <a:gd name="adj" fmla="val 14286"/>
            </a:avLst>
          </a:prstGeom>
          <a:solidFill>
            <a:srgbClr val="07101F">
              <a:alpha val="90000"/>
            </a:srgbClr>
          </a:solidFill>
          <a:ln w="10160">
            <a:solidFill>
              <a:srgbClr val="31D8FF">
                <a:alpha val="55000"/>
              </a:srgbClr>
            </a:solidFill>
            <a:prstDash val="solid"/>
          </a:ln>
        </p:spPr>
        <p:txBody>
          <a:bodyPr/>
          <a:lstStyle/>
          <a:p>
            <a:endParaRPr lang="en-US"/>
          </a:p>
        </p:txBody>
      </p:sp>
      <p:sp>
        <p:nvSpPr>
          <p:cNvPr id="10" name="Text 7"/>
          <p:cNvSpPr/>
          <p:nvPr/>
        </p:nvSpPr>
        <p:spPr>
          <a:xfrm>
            <a:off x="1060704" y="2194560"/>
            <a:ext cx="1691640" cy="182880"/>
          </a:xfrm>
          <a:prstGeom prst="rect">
            <a:avLst/>
          </a:prstGeom>
          <a:noFill/>
          <a:ln/>
        </p:spPr>
        <p:txBody>
          <a:bodyPr wrap="square" lIns="0" tIns="0" rIns="0" bIns="0" rtlCol="0" anchor="ctr">
            <a:normAutofit/>
          </a:bodyPr>
          <a:lstStyle/>
          <a:p>
            <a:pPr marL="0" indent="0">
              <a:buNone/>
            </a:pPr>
            <a:r>
              <a:rPr lang="en-US" sz="1280" b="1" dirty="0">
                <a:solidFill>
                  <a:srgbClr val="F8FAFC"/>
                </a:solidFill>
                <a:latin typeface="Aptos Display" pitchFamily="34" charset="0"/>
                <a:ea typeface="Aptos Display" pitchFamily="34" charset="-122"/>
                <a:cs typeface="Aptos Display" pitchFamily="34" charset="-120"/>
              </a:rPr>
              <a:t>Manufacturing</a:t>
            </a:r>
            <a:endParaRPr lang="en-US" sz="1280" dirty="0"/>
          </a:p>
        </p:txBody>
      </p:sp>
      <p:sp>
        <p:nvSpPr>
          <p:cNvPr id="11" name="Text 8"/>
          <p:cNvSpPr/>
          <p:nvPr/>
        </p:nvSpPr>
        <p:spPr>
          <a:xfrm>
            <a:off x="2788920" y="2203704"/>
            <a:ext cx="2834640" cy="164592"/>
          </a:xfrm>
          <a:prstGeom prst="rect">
            <a:avLst/>
          </a:prstGeom>
          <a:noFill/>
          <a:ln/>
        </p:spPr>
        <p:txBody>
          <a:bodyPr wrap="square" lIns="0" tIns="0" rIns="0" bIns="0" rtlCol="0" anchor="ctr">
            <a:normAutofit/>
          </a:bodyPr>
          <a:lstStyle/>
          <a:p>
            <a:pPr marL="0" indent="0">
              <a:buNone/>
            </a:pPr>
            <a:r>
              <a:rPr lang="en-US" sz="950" dirty="0">
                <a:solidFill>
                  <a:srgbClr val="B6C2D5"/>
                </a:solidFill>
                <a:latin typeface="Aptos" pitchFamily="34" charset="0"/>
                <a:ea typeface="Aptos" pitchFamily="34" charset="-122"/>
                <a:cs typeface="Aptos" pitchFamily="34" charset="-120"/>
              </a:rPr>
              <a:t>inspection, assembly, machine tending</a:t>
            </a:r>
            <a:endParaRPr lang="en-US" sz="950" dirty="0"/>
          </a:p>
        </p:txBody>
      </p:sp>
      <p:sp>
        <p:nvSpPr>
          <p:cNvPr id="12" name="Shape 9"/>
          <p:cNvSpPr/>
          <p:nvPr/>
        </p:nvSpPr>
        <p:spPr>
          <a:xfrm>
            <a:off x="877824" y="2724912"/>
            <a:ext cx="5120640" cy="512064"/>
          </a:xfrm>
          <a:prstGeom prst="roundRect">
            <a:avLst>
              <a:gd name="adj" fmla="val 14286"/>
            </a:avLst>
          </a:prstGeom>
          <a:solidFill>
            <a:srgbClr val="07101F">
              <a:alpha val="90000"/>
            </a:srgbClr>
          </a:solidFill>
          <a:ln w="10160">
            <a:solidFill>
              <a:srgbClr val="3B82F6">
                <a:alpha val="55000"/>
              </a:srgbClr>
            </a:solidFill>
            <a:prstDash val="solid"/>
          </a:ln>
        </p:spPr>
        <p:txBody>
          <a:bodyPr/>
          <a:lstStyle/>
          <a:p>
            <a:endParaRPr lang="en-US"/>
          </a:p>
        </p:txBody>
      </p:sp>
      <p:sp>
        <p:nvSpPr>
          <p:cNvPr id="13" name="Text 10"/>
          <p:cNvSpPr/>
          <p:nvPr/>
        </p:nvSpPr>
        <p:spPr>
          <a:xfrm>
            <a:off x="1060704" y="2834640"/>
            <a:ext cx="1691640" cy="182880"/>
          </a:xfrm>
          <a:prstGeom prst="rect">
            <a:avLst/>
          </a:prstGeom>
          <a:noFill/>
          <a:ln/>
        </p:spPr>
        <p:txBody>
          <a:bodyPr wrap="square" lIns="0" tIns="0" rIns="0" bIns="0" rtlCol="0" anchor="ctr">
            <a:normAutofit/>
          </a:bodyPr>
          <a:lstStyle/>
          <a:p>
            <a:pPr marL="0" indent="0">
              <a:buNone/>
            </a:pPr>
            <a:r>
              <a:rPr lang="en-US" sz="1280" b="1" dirty="0">
                <a:solidFill>
                  <a:srgbClr val="F8FAFC"/>
                </a:solidFill>
                <a:latin typeface="Aptos Display" pitchFamily="34" charset="0"/>
                <a:ea typeface="Aptos Display" pitchFamily="34" charset="-122"/>
                <a:cs typeface="Aptos Display" pitchFamily="34" charset="-120"/>
              </a:rPr>
              <a:t>Warehouses</a:t>
            </a:r>
            <a:endParaRPr lang="en-US" sz="1280" dirty="0"/>
          </a:p>
        </p:txBody>
      </p:sp>
      <p:sp>
        <p:nvSpPr>
          <p:cNvPr id="14" name="Text 11"/>
          <p:cNvSpPr/>
          <p:nvPr/>
        </p:nvSpPr>
        <p:spPr>
          <a:xfrm>
            <a:off x="2788920" y="2843784"/>
            <a:ext cx="2834640" cy="164592"/>
          </a:xfrm>
          <a:prstGeom prst="rect">
            <a:avLst/>
          </a:prstGeom>
          <a:noFill/>
          <a:ln/>
        </p:spPr>
        <p:txBody>
          <a:bodyPr wrap="square" lIns="0" tIns="0" rIns="0" bIns="0" rtlCol="0" anchor="ctr">
            <a:normAutofit/>
          </a:bodyPr>
          <a:lstStyle/>
          <a:p>
            <a:pPr marL="0" indent="0">
              <a:buNone/>
            </a:pPr>
            <a:r>
              <a:rPr lang="en-US" sz="950" dirty="0">
                <a:solidFill>
                  <a:srgbClr val="B6C2D5"/>
                </a:solidFill>
                <a:latin typeface="Aptos" pitchFamily="34" charset="0"/>
                <a:ea typeface="Aptos" pitchFamily="34" charset="-122"/>
                <a:cs typeface="Aptos" pitchFamily="34" charset="-120"/>
              </a:rPr>
              <a:t>AMRs, picking, packing, inventory</a:t>
            </a:r>
            <a:endParaRPr lang="en-US" sz="950" dirty="0"/>
          </a:p>
        </p:txBody>
      </p:sp>
      <p:sp>
        <p:nvSpPr>
          <p:cNvPr id="15" name="Shape 12"/>
          <p:cNvSpPr/>
          <p:nvPr/>
        </p:nvSpPr>
        <p:spPr>
          <a:xfrm>
            <a:off x="877824" y="3364992"/>
            <a:ext cx="5120640" cy="512064"/>
          </a:xfrm>
          <a:prstGeom prst="roundRect">
            <a:avLst>
              <a:gd name="adj" fmla="val 14286"/>
            </a:avLst>
          </a:prstGeom>
          <a:solidFill>
            <a:srgbClr val="07101F">
              <a:alpha val="90000"/>
            </a:srgbClr>
          </a:solidFill>
          <a:ln w="10160">
            <a:solidFill>
              <a:srgbClr val="F59E0B">
                <a:alpha val="55000"/>
              </a:srgbClr>
            </a:solidFill>
            <a:prstDash val="solid"/>
          </a:ln>
        </p:spPr>
        <p:txBody>
          <a:bodyPr/>
          <a:lstStyle/>
          <a:p>
            <a:endParaRPr lang="en-US"/>
          </a:p>
        </p:txBody>
      </p:sp>
      <p:sp>
        <p:nvSpPr>
          <p:cNvPr id="16" name="Text 13"/>
          <p:cNvSpPr/>
          <p:nvPr/>
        </p:nvSpPr>
        <p:spPr>
          <a:xfrm>
            <a:off x="1060704" y="3474720"/>
            <a:ext cx="1691640" cy="182880"/>
          </a:xfrm>
          <a:prstGeom prst="rect">
            <a:avLst/>
          </a:prstGeom>
          <a:noFill/>
          <a:ln/>
        </p:spPr>
        <p:txBody>
          <a:bodyPr wrap="square" lIns="0" tIns="0" rIns="0" bIns="0" rtlCol="0" anchor="ctr">
            <a:normAutofit/>
          </a:bodyPr>
          <a:lstStyle/>
          <a:p>
            <a:pPr marL="0" indent="0">
              <a:buNone/>
            </a:pPr>
            <a:r>
              <a:rPr lang="en-US" sz="1280" b="1" dirty="0">
                <a:solidFill>
                  <a:srgbClr val="F8FAFC"/>
                </a:solidFill>
                <a:latin typeface="Aptos Display" pitchFamily="34" charset="0"/>
                <a:ea typeface="Aptos Display" pitchFamily="34" charset="-122"/>
                <a:cs typeface="Aptos Display" pitchFamily="34" charset="-120"/>
              </a:rPr>
              <a:t>Autonomous vehicles</a:t>
            </a:r>
            <a:endParaRPr lang="en-US" sz="1280" dirty="0"/>
          </a:p>
        </p:txBody>
      </p:sp>
      <p:sp>
        <p:nvSpPr>
          <p:cNvPr id="17" name="Text 14"/>
          <p:cNvSpPr/>
          <p:nvPr/>
        </p:nvSpPr>
        <p:spPr>
          <a:xfrm>
            <a:off x="2788920" y="3483864"/>
            <a:ext cx="2834640" cy="164592"/>
          </a:xfrm>
          <a:prstGeom prst="rect">
            <a:avLst/>
          </a:prstGeom>
          <a:noFill/>
          <a:ln/>
        </p:spPr>
        <p:txBody>
          <a:bodyPr wrap="square" lIns="0" tIns="0" rIns="0" bIns="0" rtlCol="0" anchor="ctr">
            <a:normAutofit/>
          </a:bodyPr>
          <a:lstStyle/>
          <a:p>
            <a:pPr marL="0" indent="0">
              <a:buNone/>
            </a:pPr>
            <a:r>
              <a:rPr lang="en-US" sz="950" dirty="0">
                <a:solidFill>
                  <a:srgbClr val="B6C2D5"/>
                </a:solidFill>
                <a:latin typeface="Aptos" pitchFamily="34" charset="0"/>
                <a:ea typeface="Aptos" pitchFamily="34" charset="-122"/>
                <a:cs typeface="Aptos" pitchFamily="34" charset="-120"/>
              </a:rPr>
              <a:t>perception, planning, scenario testing</a:t>
            </a:r>
            <a:endParaRPr lang="en-US" sz="950" dirty="0"/>
          </a:p>
        </p:txBody>
      </p:sp>
      <p:sp>
        <p:nvSpPr>
          <p:cNvPr id="18" name="Shape 15"/>
          <p:cNvSpPr/>
          <p:nvPr/>
        </p:nvSpPr>
        <p:spPr>
          <a:xfrm>
            <a:off x="877824" y="4005072"/>
            <a:ext cx="5120640" cy="512064"/>
          </a:xfrm>
          <a:prstGeom prst="roundRect">
            <a:avLst>
              <a:gd name="adj" fmla="val 14286"/>
            </a:avLst>
          </a:prstGeom>
          <a:solidFill>
            <a:srgbClr val="07101F">
              <a:alpha val="90000"/>
            </a:srgbClr>
          </a:solidFill>
          <a:ln w="10160">
            <a:solidFill>
              <a:srgbClr val="22C55E">
                <a:alpha val="55000"/>
              </a:srgbClr>
            </a:solidFill>
            <a:prstDash val="solid"/>
          </a:ln>
        </p:spPr>
        <p:txBody>
          <a:bodyPr/>
          <a:lstStyle/>
          <a:p>
            <a:endParaRPr lang="en-US"/>
          </a:p>
        </p:txBody>
      </p:sp>
      <p:sp>
        <p:nvSpPr>
          <p:cNvPr id="19" name="Text 16"/>
          <p:cNvSpPr/>
          <p:nvPr/>
        </p:nvSpPr>
        <p:spPr>
          <a:xfrm>
            <a:off x="1060704" y="4114800"/>
            <a:ext cx="1691640" cy="182880"/>
          </a:xfrm>
          <a:prstGeom prst="rect">
            <a:avLst/>
          </a:prstGeom>
          <a:noFill/>
          <a:ln/>
        </p:spPr>
        <p:txBody>
          <a:bodyPr wrap="square" lIns="0" tIns="0" rIns="0" bIns="0" rtlCol="0" anchor="ctr">
            <a:normAutofit/>
          </a:bodyPr>
          <a:lstStyle/>
          <a:p>
            <a:pPr marL="0" indent="0">
              <a:buNone/>
            </a:pPr>
            <a:r>
              <a:rPr lang="en-US" sz="1280" b="1" dirty="0">
                <a:solidFill>
                  <a:srgbClr val="F8FAFC"/>
                </a:solidFill>
                <a:latin typeface="Aptos Display" pitchFamily="34" charset="0"/>
                <a:ea typeface="Aptos Display" pitchFamily="34" charset="-122"/>
                <a:cs typeface="Aptos Display" pitchFamily="34" charset="-120"/>
              </a:rPr>
              <a:t>Healthcare robotics</a:t>
            </a:r>
            <a:endParaRPr lang="en-US" sz="1280" dirty="0"/>
          </a:p>
        </p:txBody>
      </p:sp>
      <p:sp>
        <p:nvSpPr>
          <p:cNvPr id="20" name="Text 17"/>
          <p:cNvSpPr/>
          <p:nvPr/>
        </p:nvSpPr>
        <p:spPr>
          <a:xfrm>
            <a:off x="2788920" y="4123944"/>
            <a:ext cx="2834640" cy="164592"/>
          </a:xfrm>
          <a:prstGeom prst="rect">
            <a:avLst/>
          </a:prstGeom>
          <a:noFill/>
          <a:ln/>
        </p:spPr>
        <p:txBody>
          <a:bodyPr wrap="square" lIns="0" tIns="0" rIns="0" bIns="0" rtlCol="0" anchor="ctr">
            <a:normAutofit/>
          </a:bodyPr>
          <a:lstStyle/>
          <a:p>
            <a:pPr marL="0" indent="0">
              <a:buNone/>
            </a:pPr>
            <a:r>
              <a:rPr lang="en-US" sz="950" dirty="0">
                <a:solidFill>
                  <a:srgbClr val="B6C2D5"/>
                </a:solidFill>
                <a:latin typeface="Aptos" pitchFamily="34" charset="0"/>
                <a:ea typeface="Aptos" pitchFamily="34" charset="-122"/>
                <a:cs typeface="Aptos" pitchFamily="34" charset="-120"/>
              </a:rPr>
              <a:t>assistive, surgical, lab automation</a:t>
            </a:r>
            <a:endParaRPr lang="en-US" sz="950" dirty="0"/>
          </a:p>
        </p:txBody>
      </p:sp>
      <p:sp>
        <p:nvSpPr>
          <p:cNvPr id="21" name="Shape 18"/>
          <p:cNvSpPr/>
          <p:nvPr/>
        </p:nvSpPr>
        <p:spPr>
          <a:xfrm>
            <a:off x="877824" y="4645152"/>
            <a:ext cx="5120640" cy="512064"/>
          </a:xfrm>
          <a:prstGeom prst="roundRect">
            <a:avLst>
              <a:gd name="adj" fmla="val 14286"/>
            </a:avLst>
          </a:prstGeom>
          <a:solidFill>
            <a:srgbClr val="07101F">
              <a:alpha val="90000"/>
            </a:srgbClr>
          </a:solidFill>
          <a:ln w="10160">
            <a:solidFill>
              <a:srgbClr val="A78BFA">
                <a:alpha val="55000"/>
              </a:srgbClr>
            </a:solidFill>
            <a:prstDash val="solid"/>
          </a:ln>
        </p:spPr>
        <p:txBody>
          <a:bodyPr/>
          <a:lstStyle/>
          <a:p>
            <a:endParaRPr lang="en-US"/>
          </a:p>
        </p:txBody>
      </p:sp>
      <p:sp>
        <p:nvSpPr>
          <p:cNvPr id="22" name="Text 19"/>
          <p:cNvSpPr/>
          <p:nvPr/>
        </p:nvSpPr>
        <p:spPr>
          <a:xfrm>
            <a:off x="1060704" y="4754880"/>
            <a:ext cx="1691640" cy="182880"/>
          </a:xfrm>
          <a:prstGeom prst="rect">
            <a:avLst/>
          </a:prstGeom>
          <a:noFill/>
          <a:ln/>
        </p:spPr>
        <p:txBody>
          <a:bodyPr wrap="square" lIns="0" tIns="0" rIns="0" bIns="0" rtlCol="0" anchor="ctr">
            <a:normAutofit/>
          </a:bodyPr>
          <a:lstStyle/>
          <a:p>
            <a:pPr marL="0" indent="0">
              <a:buNone/>
            </a:pPr>
            <a:r>
              <a:rPr lang="en-US" sz="1280" b="1" dirty="0">
                <a:solidFill>
                  <a:srgbClr val="F8FAFC"/>
                </a:solidFill>
                <a:latin typeface="Aptos Display" pitchFamily="34" charset="0"/>
                <a:ea typeface="Aptos Display" pitchFamily="34" charset="-122"/>
                <a:cs typeface="Aptos Display" pitchFamily="34" charset="-120"/>
              </a:rPr>
              <a:t>Smart spaces</a:t>
            </a:r>
            <a:endParaRPr lang="en-US" sz="1280" dirty="0"/>
          </a:p>
        </p:txBody>
      </p:sp>
      <p:sp>
        <p:nvSpPr>
          <p:cNvPr id="23" name="Text 20"/>
          <p:cNvSpPr/>
          <p:nvPr/>
        </p:nvSpPr>
        <p:spPr>
          <a:xfrm>
            <a:off x="2788920" y="4764024"/>
            <a:ext cx="2834640" cy="164592"/>
          </a:xfrm>
          <a:prstGeom prst="rect">
            <a:avLst/>
          </a:prstGeom>
          <a:noFill/>
          <a:ln/>
        </p:spPr>
        <p:txBody>
          <a:bodyPr wrap="square" lIns="0" tIns="0" rIns="0" bIns="0" rtlCol="0" anchor="ctr">
            <a:normAutofit/>
          </a:bodyPr>
          <a:lstStyle/>
          <a:p>
            <a:pPr marL="0" indent="0">
              <a:buNone/>
            </a:pPr>
            <a:r>
              <a:rPr lang="en-US" sz="950" dirty="0">
                <a:solidFill>
                  <a:srgbClr val="B6C2D5"/>
                </a:solidFill>
                <a:latin typeface="Aptos" pitchFamily="34" charset="0"/>
                <a:ea typeface="Aptos" pitchFamily="34" charset="-122"/>
                <a:cs typeface="Aptos" pitchFamily="34" charset="-120"/>
              </a:rPr>
              <a:t>traffic flow, safety, monitoring</a:t>
            </a:r>
            <a:endParaRPr lang="en-US" sz="950" dirty="0"/>
          </a:p>
        </p:txBody>
      </p:sp>
      <p:sp>
        <p:nvSpPr>
          <p:cNvPr id="24" name="Shape 21"/>
          <p:cNvSpPr/>
          <p:nvPr/>
        </p:nvSpPr>
        <p:spPr>
          <a:xfrm>
            <a:off x="6492240" y="5047488"/>
            <a:ext cx="4572000" cy="713232"/>
          </a:xfrm>
          <a:prstGeom prst="roundRect">
            <a:avLst>
              <a:gd name="adj" fmla="val 15385"/>
            </a:avLst>
          </a:prstGeom>
          <a:solidFill>
            <a:srgbClr val="07101F">
              <a:alpha val="90000"/>
            </a:srgbClr>
          </a:solidFill>
          <a:ln w="11430">
            <a:solidFill>
              <a:srgbClr val="31D8FF">
                <a:alpha val="55000"/>
              </a:srgbClr>
            </a:solidFill>
            <a:prstDash val="solid"/>
          </a:ln>
        </p:spPr>
        <p:txBody>
          <a:bodyPr/>
          <a:lstStyle/>
          <a:p>
            <a:endParaRPr lang="en-US"/>
          </a:p>
        </p:txBody>
      </p:sp>
      <p:sp>
        <p:nvSpPr>
          <p:cNvPr id="25" name="Shape 22"/>
          <p:cNvSpPr/>
          <p:nvPr/>
        </p:nvSpPr>
        <p:spPr>
          <a:xfrm>
            <a:off x="6492240" y="5047488"/>
            <a:ext cx="64008" cy="713232"/>
          </a:xfrm>
          <a:prstGeom prst="rect">
            <a:avLst/>
          </a:prstGeom>
          <a:solidFill>
            <a:srgbClr val="31D8FF"/>
          </a:solidFill>
          <a:ln w="12700">
            <a:solidFill>
              <a:srgbClr val="31D8FF">
                <a:alpha val="0"/>
              </a:srgbClr>
            </a:solidFill>
            <a:prstDash val="solid"/>
          </a:ln>
        </p:spPr>
        <p:txBody>
          <a:bodyPr/>
          <a:lstStyle/>
          <a:p>
            <a:endParaRPr lang="en-US"/>
          </a:p>
        </p:txBody>
      </p:sp>
      <p:sp>
        <p:nvSpPr>
          <p:cNvPr id="26" name="Text 23"/>
          <p:cNvSpPr/>
          <p:nvPr/>
        </p:nvSpPr>
        <p:spPr>
          <a:xfrm>
            <a:off x="6656832" y="5157216"/>
            <a:ext cx="4279392" cy="530352"/>
          </a:xfrm>
          <a:prstGeom prst="rect">
            <a:avLst/>
          </a:prstGeom>
          <a:noFill/>
          <a:ln/>
        </p:spPr>
        <p:txBody>
          <a:bodyPr wrap="square" lIns="254" tIns="254" rIns="254" bIns="254" rtlCol="0" anchor="ctr">
            <a:normAutofit/>
          </a:bodyPr>
          <a:lstStyle/>
          <a:p>
            <a:pPr marL="0" indent="0">
              <a:buNone/>
            </a:pPr>
            <a:r>
              <a:rPr lang="en-US" sz="1800" dirty="0">
                <a:solidFill>
                  <a:srgbClr val="F8FAFC"/>
                </a:solidFill>
                <a:latin typeface="Aptos" pitchFamily="34" charset="0"/>
                <a:ea typeface="Aptos" pitchFamily="34" charset="-122"/>
                <a:cs typeface="Aptos" pitchFamily="34" charset="-120"/>
              </a:rPr>
              <a:t>Pattern: start with bounded environments, measurable tasks, and clear safety constraints.</a:t>
            </a:r>
            <a:endParaRPr lang="en-US" sz="1800" dirty="0"/>
          </a:p>
        </p:txBody>
      </p:sp>
      <p:sp>
        <p:nvSpPr>
          <p:cNvPr id="27" name="Shape 24"/>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8" name="Text 25"/>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29" name="Text 26"/>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18</a:t>
            </a:r>
            <a:endParaRPr lang="en-US" sz="8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19</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A practical starting roadmap</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Treat Physical AI as an engineered product lifecycle, not a lab demo.</a:t>
            </a:r>
            <a:endParaRPr lang="en-US" sz="1450" dirty="0"/>
          </a:p>
        </p:txBody>
      </p:sp>
      <p:sp>
        <p:nvSpPr>
          <p:cNvPr id="7" name="Shape 5"/>
          <p:cNvSpPr/>
          <p:nvPr/>
        </p:nvSpPr>
        <p:spPr>
          <a:xfrm>
            <a:off x="1965960" y="2788920"/>
            <a:ext cx="658368" cy="0"/>
          </a:xfrm>
          <a:prstGeom prst="line">
            <a:avLst/>
          </a:prstGeom>
          <a:noFill/>
          <a:ln w="12700">
            <a:solidFill>
              <a:srgbClr val="25436C">
                <a:alpha val="90000"/>
              </a:srgbClr>
            </a:solidFill>
            <a:prstDash val="solid"/>
            <a:tailEnd type="triangle"/>
          </a:ln>
        </p:spPr>
        <p:txBody>
          <a:bodyPr/>
          <a:lstStyle/>
          <a:p>
            <a:endParaRPr lang="en-US"/>
          </a:p>
        </p:txBody>
      </p:sp>
      <p:sp>
        <p:nvSpPr>
          <p:cNvPr id="8" name="Shape 6"/>
          <p:cNvSpPr/>
          <p:nvPr/>
        </p:nvSpPr>
        <p:spPr>
          <a:xfrm>
            <a:off x="4297680" y="2788920"/>
            <a:ext cx="658368" cy="0"/>
          </a:xfrm>
          <a:prstGeom prst="line">
            <a:avLst/>
          </a:prstGeom>
          <a:noFill/>
          <a:ln w="12700">
            <a:solidFill>
              <a:srgbClr val="25436C">
                <a:alpha val="90000"/>
              </a:srgbClr>
            </a:solidFill>
            <a:prstDash val="solid"/>
            <a:tailEnd type="triangle"/>
          </a:ln>
        </p:spPr>
        <p:txBody>
          <a:bodyPr/>
          <a:lstStyle/>
          <a:p>
            <a:endParaRPr lang="en-US"/>
          </a:p>
        </p:txBody>
      </p:sp>
      <p:sp>
        <p:nvSpPr>
          <p:cNvPr id="9" name="Shape 7"/>
          <p:cNvSpPr/>
          <p:nvPr/>
        </p:nvSpPr>
        <p:spPr>
          <a:xfrm>
            <a:off x="6629400" y="2788920"/>
            <a:ext cx="658368" cy="0"/>
          </a:xfrm>
          <a:prstGeom prst="line">
            <a:avLst/>
          </a:prstGeom>
          <a:noFill/>
          <a:ln w="12700">
            <a:solidFill>
              <a:srgbClr val="25436C">
                <a:alpha val="90000"/>
              </a:srgbClr>
            </a:solidFill>
            <a:prstDash val="solid"/>
            <a:tailEnd type="triangle"/>
          </a:ln>
        </p:spPr>
        <p:txBody>
          <a:bodyPr/>
          <a:lstStyle/>
          <a:p>
            <a:endParaRPr lang="en-US"/>
          </a:p>
        </p:txBody>
      </p:sp>
      <p:sp>
        <p:nvSpPr>
          <p:cNvPr id="10" name="Shape 8"/>
          <p:cNvSpPr/>
          <p:nvPr/>
        </p:nvSpPr>
        <p:spPr>
          <a:xfrm>
            <a:off x="8961120" y="2788920"/>
            <a:ext cx="658368" cy="0"/>
          </a:xfrm>
          <a:prstGeom prst="line">
            <a:avLst/>
          </a:prstGeom>
          <a:noFill/>
          <a:ln w="12700">
            <a:solidFill>
              <a:srgbClr val="25436C">
                <a:alpha val="90000"/>
              </a:srgbClr>
            </a:solidFill>
            <a:prstDash val="solid"/>
            <a:tailEnd type="triangle"/>
          </a:ln>
        </p:spPr>
        <p:txBody>
          <a:bodyPr/>
          <a:lstStyle/>
          <a:p>
            <a:endParaRPr lang="en-US"/>
          </a:p>
        </p:txBody>
      </p:sp>
      <p:sp>
        <p:nvSpPr>
          <p:cNvPr id="11" name="Shape 9"/>
          <p:cNvSpPr/>
          <p:nvPr/>
        </p:nvSpPr>
        <p:spPr>
          <a:xfrm>
            <a:off x="1188720" y="2267712"/>
            <a:ext cx="768096" cy="768096"/>
          </a:xfrm>
          <a:prstGeom prst="ellipse">
            <a:avLst/>
          </a:prstGeom>
          <a:solidFill>
            <a:srgbClr val="31D8FF"/>
          </a:solidFill>
          <a:ln w="12700">
            <a:solidFill>
              <a:srgbClr val="31D8FF">
                <a:alpha val="0"/>
              </a:srgbClr>
            </a:solidFill>
            <a:prstDash val="solid"/>
          </a:ln>
        </p:spPr>
        <p:txBody>
          <a:bodyPr/>
          <a:lstStyle/>
          <a:p>
            <a:endParaRPr lang="en-US"/>
          </a:p>
        </p:txBody>
      </p:sp>
      <p:sp>
        <p:nvSpPr>
          <p:cNvPr id="12" name="Text 10"/>
          <p:cNvSpPr/>
          <p:nvPr/>
        </p:nvSpPr>
        <p:spPr>
          <a:xfrm>
            <a:off x="1188720" y="2432304"/>
            <a:ext cx="768096" cy="228600"/>
          </a:xfrm>
          <a:prstGeom prst="rect">
            <a:avLst/>
          </a:prstGeom>
          <a:noFill/>
          <a:ln/>
        </p:spPr>
        <p:txBody>
          <a:bodyPr wrap="square" lIns="0" tIns="0" rIns="0" bIns="0" rtlCol="0" anchor="ctr"/>
          <a:lstStyle/>
          <a:p>
            <a:pPr marL="0" indent="0" algn="ctr">
              <a:buNone/>
            </a:pPr>
            <a:r>
              <a:rPr lang="en-US" sz="1600" b="1" dirty="0">
                <a:solidFill>
                  <a:srgbClr val="07101F"/>
                </a:solidFill>
                <a:latin typeface="Aptos Display" pitchFamily="34" charset="0"/>
                <a:ea typeface="Aptos Display" pitchFamily="34" charset="-122"/>
                <a:cs typeface="Aptos Display" pitchFamily="34" charset="-120"/>
              </a:rPr>
              <a:t>1</a:t>
            </a:r>
            <a:endParaRPr lang="en-US" sz="1600" dirty="0"/>
          </a:p>
        </p:txBody>
      </p:sp>
      <p:sp>
        <p:nvSpPr>
          <p:cNvPr id="13" name="Text 11"/>
          <p:cNvSpPr/>
          <p:nvPr/>
        </p:nvSpPr>
        <p:spPr>
          <a:xfrm>
            <a:off x="777240" y="3291840"/>
            <a:ext cx="1600200" cy="347472"/>
          </a:xfrm>
          <a:prstGeom prst="rect">
            <a:avLst/>
          </a:prstGeom>
          <a:noFill/>
          <a:ln/>
        </p:spPr>
        <p:txBody>
          <a:bodyPr wrap="square" lIns="0" tIns="0" rIns="0" bIns="0" rtlCol="0" anchor="ctr">
            <a:normAutofit/>
          </a:bodyPr>
          <a:lstStyle/>
          <a:p>
            <a:pPr marL="0" indent="0" algn="ctr">
              <a:buNone/>
            </a:pPr>
            <a:r>
              <a:rPr lang="en-US" sz="1440" b="1" dirty="0">
                <a:solidFill>
                  <a:srgbClr val="F8FAFC"/>
                </a:solidFill>
                <a:latin typeface="Aptos Display" pitchFamily="34" charset="0"/>
                <a:ea typeface="Aptos Display" pitchFamily="34" charset="-122"/>
                <a:cs typeface="Aptos Display" pitchFamily="34" charset="-120"/>
              </a:rPr>
              <a:t>Bound the task</a:t>
            </a:r>
            <a:endParaRPr lang="en-US" sz="1440" dirty="0"/>
          </a:p>
        </p:txBody>
      </p:sp>
      <p:sp>
        <p:nvSpPr>
          <p:cNvPr id="14" name="Text 12"/>
          <p:cNvSpPr/>
          <p:nvPr/>
        </p:nvSpPr>
        <p:spPr>
          <a:xfrm>
            <a:off x="685800" y="3767328"/>
            <a:ext cx="1783080" cy="502920"/>
          </a:xfrm>
          <a:prstGeom prst="rect">
            <a:avLst/>
          </a:prstGeom>
          <a:noFill/>
          <a:ln/>
        </p:spPr>
        <p:txBody>
          <a:bodyPr wrap="square" lIns="0" tIns="0" rIns="0" bIns="0" rtlCol="0" anchor="ctr">
            <a:normAutofit/>
          </a:bodyPr>
          <a:lstStyle/>
          <a:p>
            <a:pPr marL="0" indent="0" algn="ctr">
              <a:buNone/>
            </a:pPr>
            <a:r>
              <a:rPr lang="en-US" sz="1020" dirty="0">
                <a:solidFill>
                  <a:srgbClr val="B6C2D5"/>
                </a:solidFill>
                <a:latin typeface="Aptos" pitchFamily="34" charset="0"/>
                <a:ea typeface="Aptos" pitchFamily="34" charset="-122"/>
                <a:cs typeface="Aptos" pitchFamily="34" charset="-120"/>
              </a:rPr>
              <a:t>choose one workflow and operating domain</a:t>
            </a:r>
            <a:endParaRPr lang="en-US" sz="1020" dirty="0"/>
          </a:p>
        </p:txBody>
      </p:sp>
      <p:sp>
        <p:nvSpPr>
          <p:cNvPr id="15" name="Shape 13"/>
          <p:cNvSpPr/>
          <p:nvPr/>
        </p:nvSpPr>
        <p:spPr>
          <a:xfrm>
            <a:off x="3520440" y="2267712"/>
            <a:ext cx="768096" cy="768096"/>
          </a:xfrm>
          <a:prstGeom prst="ellipse">
            <a:avLst/>
          </a:prstGeom>
          <a:solidFill>
            <a:srgbClr val="3B82F6"/>
          </a:solidFill>
          <a:ln w="12700">
            <a:solidFill>
              <a:srgbClr val="3B82F6">
                <a:alpha val="0"/>
              </a:srgbClr>
            </a:solidFill>
            <a:prstDash val="solid"/>
          </a:ln>
        </p:spPr>
        <p:txBody>
          <a:bodyPr/>
          <a:lstStyle/>
          <a:p>
            <a:endParaRPr lang="en-US"/>
          </a:p>
        </p:txBody>
      </p:sp>
      <p:sp>
        <p:nvSpPr>
          <p:cNvPr id="16" name="Text 14"/>
          <p:cNvSpPr/>
          <p:nvPr/>
        </p:nvSpPr>
        <p:spPr>
          <a:xfrm>
            <a:off x="3520440" y="2432304"/>
            <a:ext cx="768096" cy="228600"/>
          </a:xfrm>
          <a:prstGeom prst="rect">
            <a:avLst/>
          </a:prstGeom>
          <a:noFill/>
          <a:ln/>
        </p:spPr>
        <p:txBody>
          <a:bodyPr wrap="square" lIns="0" tIns="0" rIns="0" bIns="0" rtlCol="0" anchor="ctr"/>
          <a:lstStyle/>
          <a:p>
            <a:pPr marL="0" indent="0" algn="ctr">
              <a:buNone/>
            </a:pPr>
            <a:r>
              <a:rPr lang="en-US" sz="1600" b="1" dirty="0">
                <a:solidFill>
                  <a:srgbClr val="07101F"/>
                </a:solidFill>
                <a:latin typeface="Aptos Display" pitchFamily="34" charset="0"/>
                <a:ea typeface="Aptos Display" pitchFamily="34" charset="-122"/>
                <a:cs typeface="Aptos Display" pitchFamily="34" charset="-120"/>
              </a:rPr>
              <a:t>2</a:t>
            </a:r>
            <a:endParaRPr lang="en-US" sz="1600" dirty="0"/>
          </a:p>
        </p:txBody>
      </p:sp>
      <p:sp>
        <p:nvSpPr>
          <p:cNvPr id="17" name="Text 15"/>
          <p:cNvSpPr/>
          <p:nvPr/>
        </p:nvSpPr>
        <p:spPr>
          <a:xfrm>
            <a:off x="3108960" y="3291840"/>
            <a:ext cx="1600200" cy="347472"/>
          </a:xfrm>
          <a:prstGeom prst="rect">
            <a:avLst/>
          </a:prstGeom>
          <a:noFill/>
          <a:ln/>
        </p:spPr>
        <p:txBody>
          <a:bodyPr wrap="square" lIns="0" tIns="0" rIns="0" bIns="0" rtlCol="0" anchor="ctr">
            <a:normAutofit/>
          </a:bodyPr>
          <a:lstStyle/>
          <a:p>
            <a:pPr marL="0" indent="0" algn="ctr">
              <a:buNone/>
            </a:pPr>
            <a:r>
              <a:rPr lang="en-US" sz="1440" b="1" dirty="0">
                <a:solidFill>
                  <a:srgbClr val="F8FAFC"/>
                </a:solidFill>
                <a:latin typeface="Aptos Display" pitchFamily="34" charset="0"/>
                <a:ea typeface="Aptos Display" pitchFamily="34" charset="-122"/>
                <a:cs typeface="Aptos Display" pitchFamily="34" charset="-120"/>
              </a:rPr>
              <a:t>Instrument the environment</a:t>
            </a:r>
            <a:endParaRPr lang="en-US" sz="1440" dirty="0"/>
          </a:p>
        </p:txBody>
      </p:sp>
      <p:sp>
        <p:nvSpPr>
          <p:cNvPr id="18" name="Text 16"/>
          <p:cNvSpPr/>
          <p:nvPr/>
        </p:nvSpPr>
        <p:spPr>
          <a:xfrm>
            <a:off x="3017520" y="3767328"/>
            <a:ext cx="1783080" cy="502920"/>
          </a:xfrm>
          <a:prstGeom prst="rect">
            <a:avLst/>
          </a:prstGeom>
          <a:noFill/>
          <a:ln/>
        </p:spPr>
        <p:txBody>
          <a:bodyPr wrap="square" lIns="0" tIns="0" rIns="0" bIns="0" rtlCol="0" anchor="ctr">
            <a:normAutofit/>
          </a:bodyPr>
          <a:lstStyle/>
          <a:p>
            <a:pPr marL="0" indent="0" algn="ctr">
              <a:buNone/>
            </a:pPr>
            <a:r>
              <a:rPr lang="en-US" sz="1020" dirty="0">
                <a:solidFill>
                  <a:srgbClr val="B6C2D5"/>
                </a:solidFill>
                <a:latin typeface="Aptos" pitchFamily="34" charset="0"/>
                <a:ea typeface="Aptos" pitchFamily="34" charset="-122"/>
                <a:cs typeface="Aptos" pitchFamily="34" charset="-120"/>
              </a:rPr>
              <a:t>collect sensor, outcome, and failure data</a:t>
            </a:r>
            <a:endParaRPr lang="en-US" sz="1020" dirty="0"/>
          </a:p>
        </p:txBody>
      </p:sp>
      <p:sp>
        <p:nvSpPr>
          <p:cNvPr id="19" name="Shape 17"/>
          <p:cNvSpPr/>
          <p:nvPr/>
        </p:nvSpPr>
        <p:spPr>
          <a:xfrm>
            <a:off x="5852160" y="2267712"/>
            <a:ext cx="768096" cy="768096"/>
          </a:xfrm>
          <a:prstGeom prst="ellipse">
            <a:avLst/>
          </a:prstGeom>
          <a:solidFill>
            <a:srgbClr val="A78BFA"/>
          </a:solidFill>
          <a:ln w="12700">
            <a:solidFill>
              <a:srgbClr val="A78BFA">
                <a:alpha val="0"/>
              </a:srgbClr>
            </a:solidFill>
            <a:prstDash val="solid"/>
          </a:ln>
        </p:spPr>
        <p:txBody>
          <a:bodyPr/>
          <a:lstStyle/>
          <a:p>
            <a:endParaRPr lang="en-US"/>
          </a:p>
        </p:txBody>
      </p:sp>
      <p:sp>
        <p:nvSpPr>
          <p:cNvPr id="20" name="Text 18"/>
          <p:cNvSpPr/>
          <p:nvPr/>
        </p:nvSpPr>
        <p:spPr>
          <a:xfrm>
            <a:off x="5852160" y="2432304"/>
            <a:ext cx="768096" cy="228600"/>
          </a:xfrm>
          <a:prstGeom prst="rect">
            <a:avLst/>
          </a:prstGeom>
          <a:noFill/>
          <a:ln/>
        </p:spPr>
        <p:txBody>
          <a:bodyPr wrap="square" lIns="0" tIns="0" rIns="0" bIns="0" rtlCol="0" anchor="ctr"/>
          <a:lstStyle/>
          <a:p>
            <a:pPr marL="0" indent="0" algn="ctr">
              <a:buNone/>
            </a:pPr>
            <a:r>
              <a:rPr lang="en-US" sz="1600" b="1" dirty="0">
                <a:solidFill>
                  <a:srgbClr val="07101F"/>
                </a:solidFill>
                <a:latin typeface="Aptos Display" pitchFamily="34" charset="0"/>
                <a:ea typeface="Aptos Display" pitchFamily="34" charset="-122"/>
                <a:cs typeface="Aptos Display" pitchFamily="34" charset="-120"/>
              </a:rPr>
              <a:t>3</a:t>
            </a:r>
            <a:endParaRPr lang="en-US" sz="1600" dirty="0"/>
          </a:p>
        </p:txBody>
      </p:sp>
      <p:sp>
        <p:nvSpPr>
          <p:cNvPr id="21" name="Text 19"/>
          <p:cNvSpPr/>
          <p:nvPr/>
        </p:nvSpPr>
        <p:spPr>
          <a:xfrm>
            <a:off x="5440680" y="3291840"/>
            <a:ext cx="1600200" cy="347472"/>
          </a:xfrm>
          <a:prstGeom prst="rect">
            <a:avLst/>
          </a:prstGeom>
          <a:noFill/>
          <a:ln/>
        </p:spPr>
        <p:txBody>
          <a:bodyPr wrap="square" lIns="0" tIns="0" rIns="0" bIns="0" rtlCol="0" anchor="ctr">
            <a:normAutofit/>
          </a:bodyPr>
          <a:lstStyle/>
          <a:p>
            <a:pPr marL="0" indent="0" algn="ctr">
              <a:buNone/>
            </a:pPr>
            <a:r>
              <a:rPr lang="en-US" sz="1440" b="1" dirty="0">
                <a:solidFill>
                  <a:srgbClr val="F8FAFC"/>
                </a:solidFill>
                <a:latin typeface="Aptos Display" pitchFamily="34" charset="0"/>
                <a:ea typeface="Aptos Display" pitchFamily="34" charset="-122"/>
                <a:cs typeface="Aptos Display" pitchFamily="34" charset="-120"/>
              </a:rPr>
              <a:t>Build a digital testbed</a:t>
            </a:r>
            <a:endParaRPr lang="en-US" sz="1440" dirty="0"/>
          </a:p>
        </p:txBody>
      </p:sp>
      <p:sp>
        <p:nvSpPr>
          <p:cNvPr id="22" name="Text 20"/>
          <p:cNvSpPr/>
          <p:nvPr/>
        </p:nvSpPr>
        <p:spPr>
          <a:xfrm>
            <a:off x="5349240" y="3767328"/>
            <a:ext cx="1783080" cy="502920"/>
          </a:xfrm>
          <a:prstGeom prst="rect">
            <a:avLst/>
          </a:prstGeom>
          <a:noFill/>
          <a:ln/>
        </p:spPr>
        <p:txBody>
          <a:bodyPr wrap="square" lIns="0" tIns="0" rIns="0" bIns="0" rtlCol="0" anchor="ctr">
            <a:normAutofit/>
          </a:bodyPr>
          <a:lstStyle/>
          <a:p>
            <a:pPr marL="0" indent="0" algn="ctr">
              <a:buNone/>
            </a:pPr>
            <a:r>
              <a:rPr lang="en-US" sz="1020" dirty="0">
                <a:solidFill>
                  <a:srgbClr val="B6C2D5"/>
                </a:solidFill>
                <a:latin typeface="Aptos" pitchFamily="34" charset="0"/>
                <a:ea typeface="Aptos" pitchFamily="34" charset="-122"/>
                <a:cs typeface="Aptos" pitchFamily="34" charset="-120"/>
              </a:rPr>
              <a:t>simulate normal and rare scenarios</a:t>
            </a:r>
            <a:endParaRPr lang="en-US" sz="1020" dirty="0"/>
          </a:p>
        </p:txBody>
      </p:sp>
      <p:sp>
        <p:nvSpPr>
          <p:cNvPr id="23" name="Shape 21"/>
          <p:cNvSpPr/>
          <p:nvPr/>
        </p:nvSpPr>
        <p:spPr>
          <a:xfrm>
            <a:off x="8183880" y="2267712"/>
            <a:ext cx="768096" cy="768096"/>
          </a:xfrm>
          <a:prstGeom prst="ellipse">
            <a:avLst/>
          </a:prstGeom>
          <a:solidFill>
            <a:srgbClr val="F59E0B"/>
          </a:solidFill>
          <a:ln w="12700">
            <a:solidFill>
              <a:srgbClr val="F59E0B">
                <a:alpha val="0"/>
              </a:srgbClr>
            </a:solidFill>
            <a:prstDash val="solid"/>
          </a:ln>
        </p:spPr>
        <p:txBody>
          <a:bodyPr/>
          <a:lstStyle/>
          <a:p>
            <a:endParaRPr lang="en-US"/>
          </a:p>
        </p:txBody>
      </p:sp>
      <p:sp>
        <p:nvSpPr>
          <p:cNvPr id="24" name="Text 22"/>
          <p:cNvSpPr/>
          <p:nvPr/>
        </p:nvSpPr>
        <p:spPr>
          <a:xfrm>
            <a:off x="8183880" y="2432304"/>
            <a:ext cx="768096" cy="228600"/>
          </a:xfrm>
          <a:prstGeom prst="rect">
            <a:avLst/>
          </a:prstGeom>
          <a:noFill/>
          <a:ln/>
        </p:spPr>
        <p:txBody>
          <a:bodyPr wrap="square" lIns="0" tIns="0" rIns="0" bIns="0" rtlCol="0" anchor="ctr"/>
          <a:lstStyle/>
          <a:p>
            <a:pPr marL="0" indent="0" algn="ctr">
              <a:buNone/>
            </a:pPr>
            <a:r>
              <a:rPr lang="en-US" sz="1600" b="1" dirty="0">
                <a:solidFill>
                  <a:srgbClr val="07101F"/>
                </a:solidFill>
                <a:latin typeface="Aptos Display" pitchFamily="34" charset="0"/>
                <a:ea typeface="Aptos Display" pitchFamily="34" charset="-122"/>
                <a:cs typeface="Aptos Display" pitchFamily="34" charset="-120"/>
              </a:rPr>
              <a:t>4</a:t>
            </a:r>
            <a:endParaRPr lang="en-US" sz="1600" dirty="0"/>
          </a:p>
        </p:txBody>
      </p:sp>
      <p:sp>
        <p:nvSpPr>
          <p:cNvPr id="25" name="Text 23"/>
          <p:cNvSpPr/>
          <p:nvPr/>
        </p:nvSpPr>
        <p:spPr>
          <a:xfrm>
            <a:off x="7772400" y="3291840"/>
            <a:ext cx="1600200" cy="347472"/>
          </a:xfrm>
          <a:prstGeom prst="rect">
            <a:avLst/>
          </a:prstGeom>
          <a:noFill/>
          <a:ln/>
        </p:spPr>
        <p:txBody>
          <a:bodyPr wrap="square" lIns="0" tIns="0" rIns="0" bIns="0" rtlCol="0" anchor="ctr">
            <a:normAutofit/>
          </a:bodyPr>
          <a:lstStyle/>
          <a:p>
            <a:pPr marL="0" indent="0" algn="ctr">
              <a:buNone/>
            </a:pPr>
            <a:r>
              <a:rPr lang="en-US" sz="1440" b="1" dirty="0">
                <a:solidFill>
                  <a:srgbClr val="F8FAFC"/>
                </a:solidFill>
                <a:latin typeface="Aptos Display" pitchFamily="34" charset="0"/>
                <a:ea typeface="Aptos Display" pitchFamily="34" charset="-122"/>
                <a:cs typeface="Aptos Display" pitchFamily="34" charset="-120"/>
              </a:rPr>
              <a:t>Train and gate releases</a:t>
            </a:r>
            <a:endParaRPr lang="en-US" sz="1440" dirty="0"/>
          </a:p>
        </p:txBody>
      </p:sp>
      <p:sp>
        <p:nvSpPr>
          <p:cNvPr id="26" name="Text 24"/>
          <p:cNvSpPr/>
          <p:nvPr/>
        </p:nvSpPr>
        <p:spPr>
          <a:xfrm>
            <a:off x="7680960" y="3767328"/>
            <a:ext cx="1783080" cy="502920"/>
          </a:xfrm>
          <a:prstGeom prst="rect">
            <a:avLst/>
          </a:prstGeom>
          <a:noFill/>
          <a:ln/>
        </p:spPr>
        <p:txBody>
          <a:bodyPr wrap="square" lIns="0" tIns="0" rIns="0" bIns="0" rtlCol="0" anchor="ctr">
            <a:normAutofit/>
          </a:bodyPr>
          <a:lstStyle/>
          <a:p>
            <a:pPr marL="0" indent="0" algn="ctr">
              <a:buNone/>
            </a:pPr>
            <a:r>
              <a:rPr lang="en-US" sz="1020" dirty="0">
                <a:solidFill>
                  <a:srgbClr val="B6C2D5"/>
                </a:solidFill>
                <a:latin typeface="Aptos" pitchFamily="34" charset="0"/>
                <a:ea typeface="Aptos" pitchFamily="34" charset="-122"/>
                <a:cs typeface="Aptos" pitchFamily="34" charset="-120"/>
              </a:rPr>
              <a:t>offline → sim → hardware → supervised deployment</a:t>
            </a:r>
            <a:endParaRPr lang="en-US" sz="1020" dirty="0"/>
          </a:p>
        </p:txBody>
      </p:sp>
      <p:sp>
        <p:nvSpPr>
          <p:cNvPr id="27" name="Shape 25"/>
          <p:cNvSpPr/>
          <p:nvPr/>
        </p:nvSpPr>
        <p:spPr>
          <a:xfrm>
            <a:off x="10515600" y="2267712"/>
            <a:ext cx="768096" cy="768096"/>
          </a:xfrm>
          <a:prstGeom prst="ellipse">
            <a:avLst/>
          </a:prstGeom>
          <a:solidFill>
            <a:srgbClr val="22C55E"/>
          </a:solidFill>
          <a:ln w="12700">
            <a:solidFill>
              <a:srgbClr val="22C55E">
                <a:alpha val="0"/>
              </a:srgbClr>
            </a:solidFill>
            <a:prstDash val="solid"/>
          </a:ln>
        </p:spPr>
        <p:txBody>
          <a:bodyPr/>
          <a:lstStyle/>
          <a:p>
            <a:endParaRPr lang="en-US"/>
          </a:p>
        </p:txBody>
      </p:sp>
      <p:sp>
        <p:nvSpPr>
          <p:cNvPr id="28" name="Text 26"/>
          <p:cNvSpPr/>
          <p:nvPr/>
        </p:nvSpPr>
        <p:spPr>
          <a:xfrm>
            <a:off x="10515600" y="2432304"/>
            <a:ext cx="768096" cy="228600"/>
          </a:xfrm>
          <a:prstGeom prst="rect">
            <a:avLst/>
          </a:prstGeom>
          <a:noFill/>
          <a:ln/>
        </p:spPr>
        <p:txBody>
          <a:bodyPr wrap="square" lIns="0" tIns="0" rIns="0" bIns="0" rtlCol="0" anchor="ctr"/>
          <a:lstStyle/>
          <a:p>
            <a:pPr marL="0" indent="0" algn="ctr">
              <a:buNone/>
            </a:pPr>
            <a:r>
              <a:rPr lang="en-US" sz="1600" b="1" dirty="0">
                <a:solidFill>
                  <a:srgbClr val="07101F"/>
                </a:solidFill>
                <a:latin typeface="Aptos Display" pitchFamily="34" charset="0"/>
                <a:ea typeface="Aptos Display" pitchFamily="34" charset="-122"/>
                <a:cs typeface="Aptos Display" pitchFamily="34" charset="-120"/>
              </a:rPr>
              <a:t>5</a:t>
            </a:r>
            <a:endParaRPr lang="en-US" sz="1600" dirty="0"/>
          </a:p>
        </p:txBody>
      </p:sp>
      <p:sp>
        <p:nvSpPr>
          <p:cNvPr id="29" name="Text 27"/>
          <p:cNvSpPr/>
          <p:nvPr/>
        </p:nvSpPr>
        <p:spPr>
          <a:xfrm>
            <a:off x="10104120" y="3291840"/>
            <a:ext cx="1600200" cy="347472"/>
          </a:xfrm>
          <a:prstGeom prst="rect">
            <a:avLst/>
          </a:prstGeom>
          <a:noFill/>
          <a:ln/>
        </p:spPr>
        <p:txBody>
          <a:bodyPr wrap="square" lIns="0" tIns="0" rIns="0" bIns="0" rtlCol="0" anchor="ctr">
            <a:normAutofit/>
          </a:bodyPr>
          <a:lstStyle/>
          <a:p>
            <a:pPr marL="0" indent="0" algn="ctr">
              <a:buNone/>
            </a:pPr>
            <a:r>
              <a:rPr lang="en-US" sz="1440" b="1" dirty="0">
                <a:solidFill>
                  <a:srgbClr val="F8FAFC"/>
                </a:solidFill>
                <a:latin typeface="Aptos Display" pitchFamily="34" charset="0"/>
                <a:ea typeface="Aptos Display" pitchFamily="34" charset="-122"/>
                <a:cs typeface="Aptos Display" pitchFamily="34" charset="-120"/>
              </a:rPr>
              <a:t>Operate the flywheel</a:t>
            </a:r>
            <a:endParaRPr lang="en-US" sz="1440" dirty="0"/>
          </a:p>
        </p:txBody>
      </p:sp>
      <p:sp>
        <p:nvSpPr>
          <p:cNvPr id="30" name="Text 28"/>
          <p:cNvSpPr/>
          <p:nvPr/>
        </p:nvSpPr>
        <p:spPr>
          <a:xfrm>
            <a:off x="10012680" y="3767328"/>
            <a:ext cx="1783080" cy="502920"/>
          </a:xfrm>
          <a:prstGeom prst="rect">
            <a:avLst/>
          </a:prstGeom>
          <a:noFill/>
          <a:ln/>
        </p:spPr>
        <p:txBody>
          <a:bodyPr wrap="square" lIns="0" tIns="0" rIns="0" bIns="0" rtlCol="0" anchor="ctr">
            <a:normAutofit/>
          </a:bodyPr>
          <a:lstStyle/>
          <a:p>
            <a:pPr marL="0" indent="0" algn="ctr">
              <a:buNone/>
            </a:pPr>
            <a:r>
              <a:rPr lang="en-US" sz="1020" dirty="0">
                <a:solidFill>
                  <a:srgbClr val="B6C2D5"/>
                </a:solidFill>
                <a:latin typeface="Aptos" pitchFamily="34" charset="0"/>
                <a:ea typeface="Aptos" pitchFamily="34" charset="-122"/>
                <a:cs typeface="Aptos" pitchFamily="34" charset="-120"/>
              </a:rPr>
              <a:t>monitor, retrain, audit, and improve</a:t>
            </a:r>
            <a:endParaRPr lang="en-US" sz="1020" dirty="0"/>
          </a:p>
        </p:txBody>
      </p:sp>
      <p:sp>
        <p:nvSpPr>
          <p:cNvPr id="31" name="Shape 29"/>
          <p:cNvSpPr/>
          <p:nvPr/>
        </p:nvSpPr>
        <p:spPr>
          <a:xfrm>
            <a:off x="960120" y="5303520"/>
            <a:ext cx="10104120" cy="658368"/>
          </a:xfrm>
          <a:prstGeom prst="roundRect">
            <a:avLst>
              <a:gd name="adj" fmla="val 16667"/>
            </a:avLst>
          </a:prstGeom>
          <a:solidFill>
            <a:srgbClr val="0F1C33"/>
          </a:solidFill>
          <a:ln w="11430">
            <a:solidFill>
              <a:srgbClr val="EF4444">
                <a:alpha val="55000"/>
              </a:srgbClr>
            </a:solidFill>
            <a:prstDash val="solid"/>
          </a:ln>
        </p:spPr>
        <p:txBody>
          <a:bodyPr/>
          <a:lstStyle/>
          <a:p>
            <a:endParaRPr lang="en-US"/>
          </a:p>
        </p:txBody>
      </p:sp>
      <p:sp>
        <p:nvSpPr>
          <p:cNvPr id="32" name="Shape 30"/>
          <p:cNvSpPr/>
          <p:nvPr/>
        </p:nvSpPr>
        <p:spPr>
          <a:xfrm>
            <a:off x="960120" y="5303520"/>
            <a:ext cx="64008" cy="658368"/>
          </a:xfrm>
          <a:prstGeom prst="rect">
            <a:avLst/>
          </a:prstGeom>
          <a:solidFill>
            <a:srgbClr val="EF4444"/>
          </a:solidFill>
          <a:ln w="12700">
            <a:solidFill>
              <a:srgbClr val="EF4444">
                <a:alpha val="0"/>
              </a:srgbClr>
            </a:solidFill>
            <a:prstDash val="solid"/>
          </a:ln>
        </p:spPr>
        <p:txBody>
          <a:bodyPr/>
          <a:lstStyle/>
          <a:p>
            <a:endParaRPr lang="en-US"/>
          </a:p>
        </p:txBody>
      </p:sp>
      <p:sp>
        <p:nvSpPr>
          <p:cNvPr id="33" name="Text 31"/>
          <p:cNvSpPr/>
          <p:nvPr/>
        </p:nvSpPr>
        <p:spPr>
          <a:xfrm>
            <a:off x="1124712" y="5413248"/>
            <a:ext cx="9811512" cy="475488"/>
          </a:xfrm>
          <a:prstGeom prst="rect">
            <a:avLst/>
          </a:prstGeom>
          <a:noFill/>
          <a:ln/>
        </p:spPr>
        <p:txBody>
          <a:bodyPr wrap="square" lIns="254" tIns="254" rIns="254" bIns="254" rtlCol="0" anchor="ctr">
            <a:normAutofit/>
          </a:bodyPr>
          <a:lstStyle/>
          <a:p>
            <a:pPr marL="0" indent="0">
              <a:buNone/>
            </a:pPr>
            <a:r>
              <a:rPr lang="en-US" sz="1700" dirty="0">
                <a:solidFill>
                  <a:srgbClr val="F8FAFC"/>
                </a:solidFill>
                <a:latin typeface="Aptos" pitchFamily="34" charset="0"/>
                <a:ea typeface="Aptos" pitchFamily="34" charset="-122"/>
                <a:cs typeface="Aptos" pitchFamily="34" charset="-120"/>
              </a:rPr>
              <a:t>Do not begin with “build a humanoid.” Begin with a narrow task where failure modes can be named, tested, and controlled.</a:t>
            </a:r>
            <a:endParaRPr lang="en-US" sz="1700" dirty="0"/>
          </a:p>
        </p:txBody>
      </p:sp>
      <p:sp>
        <p:nvSpPr>
          <p:cNvPr id="34" name="Shape 32"/>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5" name="Text 33"/>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36" name="Text 34"/>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19</a:t>
            </a:r>
            <a:endParaRPr lang="en-US" sz="8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20</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Current limitations and open problems</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The field is advancing quickly, but several foundations remain difficult.</a:t>
            </a:r>
            <a:endParaRPr lang="en-US" sz="1450" dirty="0"/>
          </a:p>
        </p:txBody>
      </p:sp>
      <p:sp>
        <p:nvSpPr>
          <p:cNvPr id="7" name="Shape 5"/>
          <p:cNvSpPr/>
          <p:nvPr/>
        </p:nvSpPr>
        <p:spPr>
          <a:xfrm>
            <a:off x="868680" y="2121408"/>
            <a:ext cx="3429000" cy="804672"/>
          </a:xfrm>
          <a:prstGeom prst="roundRect">
            <a:avLst>
              <a:gd name="adj" fmla="val 12500"/>
            </a:avLst>
          </a:prstGeom>
          <a:solidFill>
            <a:srgbClr val="12213B"/>
          </a:solidFill>
          <a:ln w="10160">
            <a:solidFill>
              <a:srgbClr val="31D8FF">
                <a:alpha val="55000"/>
              </a:srgbClr>
            </a:solidFill>
            <a:prstDash val="solid"/>
          </a:ln>
        </p:spPr>
        <p:txBody>
          <a:bodyPr/>
          <a:lstStyle/>
          <a:p>
            <a:endParaRPr lang="en-US"/>
          </a:p>
        </p:txBody>
      </p:sp>
      <p:sp>
        <p:nvSpPr>
          <p:cNvPr id="8" name="Text 6"/>
          <p:cNvSpPr/>
          <p:nvPr/>
        </p:nvSpPr>
        <p:spPr>
          <a:xfrm>
            <a:off x="1033272" y="2249424"/>
            <a:ext cx="3063240" cy="201168"/>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Data scarcity</a:t>
            </a:r>
            <a:endParaRPr lang="en-US" sz="1480" dirty="0"/>
          </a:p>
        </p:txBody>
      </p:sp>
      <p:sp>
        <p:nvSpPr>
          <p:cNvPr id="9" name="Text 7"/>
          <p:cNvSpPr/>
          <p:nvPr/>
        </p:nvSpPr>
        <p:spPr>
          <a:xfrm>
            <a:off x="1033272" y="2542032"/>
            <a:ext cx="3063240" cy="201168"/>
          </a:xfrm>
          <a:prstGeom prst="rect">
            <a:avLst/>
          </a:prstGeom>
          <a:noFill/>
          <a:ln/>
        </p:spPr>
        <p:txBody>
          <a:bodyPr wrap="square" lIns="0" tIns="0" rIns="0" bIns="0" rtlCol="0" anchor="ctr">
            <a:normAutofit/>
          </a:bodyPr>
          <a:lstStyle/>
          <a:p>
            <a:pPr marL="0" indent="0">
              <a:buNone/>
            </a:pPr>
            <a:r>
              <a:rPr lang="en-US" sz="980" dirty="0">
                <a:solidFill>
                  <a:srgbClr val="B6C2D5"/>
                </a:solidFill>
                <a:latin typeface="Aptos" pitchFamily="34" charset="0"/>
                <a:ea typeface="Aptos" pitchFamily="34" charset="-122"/>
                <a:cs typeface="Aptos" pitchFamily="34" charset="-120"/>
              </a:rPr>
              <a:t>robot data is expensive, heterogeneous, and hard to share</a:t>
            </a:r>
            <a:endParaRPr lang="en-US" sz="980" dirty="0"/>
          </a:p>
        </p:txBody>
      </p:sp>
      <p:sp>
        <p:nvSpPr>
          <p:cNvPr id="10" name="Shape 8"/>
          <p:cNvSpPr/>
          <p:nvPr/>
        </p:nvSpPr>
        <p:spPr>
          <a:xfrm>
            <a:off x="4572000" y="2121408"/>
            <a:ext cx="3429000" cy="804672"/>
          </a:xfrm>
          <a:prstGeom prst="roundRect">
            <a:avLst>
              <a:gd name="adj" fmla="val 12500"/>
            </a:avLst>
          </a:prstGeom>
          <a:solidFill>
            <a:srgbClr val="12213B">
              <a:alpha val="96000"/>
            </a:srgbClr>
          </a:solidFill>
          <a:ln w="10160">
            <a:solidFill>
              <a:srgbClr val="3B82F6">
                <a:alpha val="55000"/>
              </a:srgbClr>
            </a:solidFill>
            <a:prstDash val="solid"/>
          </a:ln>
        </p:spPr>
        <p:txBody>
          <a:bodyPr/>
          <a:lstStyle/>
          <a:p>
            <a:endParaRPr lang="en-US"/>
          </a:p>
        </p:txBody>
      </p:sp>
      <p:sp>
        <p:nvSpPr>
          <p:cNvPr id="11" name="Text 9"/>
          <p:cNvSpPr/>
          <p:nvPr/>
        </p:nvSpPr>
        <p:spPr>
          <a:xfrm>
            <a:off x="4736592" y="2249424"/>
            <a:ext cx="3063240" cy="201168"/>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Brittle generalization</a:t>
            </a:r>
            <a:endParaRPr lang="en-US" sz="1480" dirty="0"/>
          </a:p>
        </p:txBody>
      </p:sp>
      <p:sp>
        <p:nvSpPr>
          <p:cNvPr id="12" name="Text 10"/>
          <p:cNvSpPr/>
          <p:nvPr/>
        </p:nvSpPr>
        <p:spPr>
          <a:xfrm>
            <a:off x="4736592" y="2542032"/>
            <a:ext cx="3063240" cy="201168"/>
          </a:xfrm>
          <a:prstGeom prst="rect">
            <a:avLst/>
          </a:prstGeom>
          <a:noFill/>
          <a:ln/>
        </p:spPr>
        <p:txBody>
          <a:bodyPr wrap="square" lIns="0" tIns="0" rIns="0" bIns="0" rtlCol="0" anchor="ctr">
            <a:normAutofit/>
          </a:bodyPr>
          <a:lstStyle/>
          <a:p>
            <a:pPr marL="0" indent="0">
              <a:buNone/>
            </a:pPr>
            <a:r>
              <a:rPr lang="en-US" sz="980" dirty="0">
                <a:solidFill>
                  <a:srgbClr val="B6C2D5"/>
                </a:solidFill>
                <a:latin typeface="Aptos" pitchFamily="34" charset="0"/>
                <a:ea typeface="Aptos" pitchFamily="34" charset="-122"/>
                <a:cs typeface="Aptos" pitchFamily="34" charset="-120"/>
              </a:rPr>
              <a:t>policies can fail under small environmental changes</a:t>
            </a:r>
            <a:endParaRPr lang="en-US" sz="980" dirty="0"/>
          </a:p>
        </p:txBody>
      </p:sp>
      <p:sp>
        <p:nvSpPr>
          <p:cNvPr id="13" name="Shape 11"/>
          <p:cNvSpPr/>
          <p:nvPr/>
        </p:nvSpPr>
        <p:spPr>
          <a:xfrm>
            <a:off x="8275320" y="2121408"/>
            <a:ext cx="3429000" cy="804672"/>
          </a:xfrm>
          <a:prstGeom prst="roundRect">
            <a:avLst>
              <a:gd name="adj" fmla="val 12500"/>
            </a:avLst>
          </a:prstGeom>
          <a:solidFill>
            <a:srgbClr val="12213B"/>
          </a:solidFill>
          <a:ln w="10160">
            <a:solidFill>
              <a:srgbClr val="F59E0B">
                <a:alpha val="55000"/>
              </a:srgbClr>
            </a:solidFill>
            <a:prstDash val="solid"/>
          </a:ln>
        </p:spPr>
        <p:txBody>
          <a:bodyPr/>
          <a:lstStyle/>
          <a:p>
            <a:endParaRPr lang="en-US"/>
          </a:p>
        </p:txBody>
      </p:sp>
      <p:sp>
        <p:nvSpPr>
          <p:cNvPr id="14" name="Text 12"/>
          <p:cNvSpPr/>
          <p:nvPr/>
        </p:nvSpPr>
        <p:spPr>
          <a:xfrm>
            <a:off x="8439912" y="2249424"/>
            <a:ext cx="3063240" cy="201168"/>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Verification gap</a:t>
            </a:r>
            <a:endParaRPr lang="en-US" sz="1480" dirty="0"/>
          </a:p>
        </p:txBody>
      </p:sp>
      <p:sp>
        <p:nvSpPr>
          <p:cNvPr id="15" name="Text 13"/>
          <p:cNvSpPr/>
          <p:nvPr/>
        </p:nvSpPr>
        <p:spPr>
          <a:xfrm>
            <a:off x="8439912" y="2542032"/>
            <a:ext cx="3063240" cy="201168"/>
          </a:xfrm>
          <a:prstGeom prst="rect">
            <a:avLst/>
          </a:prstGeom>
          <a:noFill/>
          <a:ln/>
        </p:spPr>
        <p:txBody>
          <a:bodyPr wrap="square" lIns="0" tIns="0" rIns="0" bIns="0" rtlCol="0" anchor="ctr">
            <a:normAutofit/>
          </a:bodyPr>
          <a:lstStyle/>
          <a:p>
            <a:pPr marL="0" indent="0">
              <a:buNone/>
            </a:pPr>
            <a:r>
              <a:rPr lang="en-US" sz="980" dirty="0">
                <a:solidFill>
                  <a:srgbClr val="B6C2D5"/>
                </a:solidFill>
                <a:latin typeface="Aptos" pitchFamily="34" charset="0"/>
                <a:ea typeface="Aptos" pitchFamily="34" charset="-122"/>
                <a:cs typeface="Aptos" pitchFamily="34" charset="-120"/>
              </a:rPr>
              <a:t>hard to prove learned behavior is safe in all cases</a:t>
            </a:r>
            <a:endParaRPr lang="en-US" sz="980" dirty="0"/>
          </a:p>
        </p:txBody>
      </p:sp>
      <p:sp>
        <p:nvSpPr>
          <p:cNvPr id="16" name="Shape 14"/>
          <p:cNvSpPr/>
          <p:nvPr/>
        </p:nvSpPr>
        <p:spPr>
          <a:xfrm>
            <a:off x="868680" y="3200400"/>
            <a:ext cx="3429000" cy="804672"/>
          </a:xfrm>
          <a:prstGeom prst="roundRect">
            <a:avLst>
              <a:gd name="adj" fmla="val 12500"/>
            </a:avLst>
          </a:prstGeom>
          <a:solidFill>
            <a:srgbClr val="12213B">
              <a:alpha val="96000"/>
            </a:srgbClr>
          </a:solidFill>
          <a:ln w="10160">
            <a:solidFill>
              <a:srgbClr val="22C55E">
                <a:alpha val="55000"/>
              </a:srgbClr>
            </a:solidFill>
            <a:prstDash val="solid"/>
          </a:ln>
        </p:spPr>
        <p:txBody>
          <a:bodyPr/>
          <a:lstStyle/>
          <a:p>
            <a:endParaRPr lang="en-US"/>
          </a:p>
        </p:txBody>
      </p:sp>
      <p:sp>
        <p:nvSpPr>
          <p:cNvPr id="17" name="Text 15"/>
          <p:cNvSpPr/>
          <p:nvPr/>
        </p:nvSpPr>
        <p:spPr>
          <a:xfrm>
            <a:off x="1033272" y="3328416"/>
            <a:ext cx="3063240" cy="201168"/>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Compute and latency</a:t>
            </a:r>
            <a:endParaRPr lang="en-US" sz="1480" dirty="0"/>
          </a:p>
        </p:txBody>
      </p:sp>
      <p:sp>
        <p:nvSpPr>
          <p:cNvPr id="18" name="Text 16"/>
          <p:cNvSpPr/>
          <p:nvPr/>
        </p:nvSpPr>
        <p:spPr>
          <a:xfrm>
            <a:off x="1033272" y="3621024"/>
            <a:ext cx="3063240" cy="201168"/>
          </a:xfrm>
          <a:prstGeom prst="rect">
            <a:avLst/>
          </a:prstGeom>
          <a:noFill/>
          <a:ln/>
        </p:spPr>
        <p:txBody>
          <a:bodyPr wrap="square" lIns="0" tIns="0" rIns="0" bIns="0" rtlCol="0" anchor="ctr">
            <a:normAutofit/>
          </a:bodyPr>
          <a:lstStyle/>
          <a:p>
            <a:pPr marL="0" indent="0">
              <a:buNone/>
            </a:pPr>
            <a:r>
              <a:rPr lang="en-US" sz="980" dirty="0">
                <a:solidFill>
                  <a:srgbClr val="B6C2D5"/>
                </a:solidFill>
                <a:latin typeface="Aptos" pitchFamily="34" charset="0"/>
                <a:ea typeface="Aptos" pitchFamily="34" charset="-122"/>
                <a:cs typeface="Aptos" pitchFamily="34" charset="-120"/>
              </a:rPr>
              <a:t>large models may not fit real-time edge constraints</a:t>
            </a:r>
            <a:endParaRPr lang="en-US" sz="980" dirty="0"/>
          </a:p>
        </p:txBody>
      </p:sp>
      <p:sp>
        <p:nvSpPr>
          <p:cNvPr id="19" name="Shape 17"/>
          <p:cNvSpPr/>
          <p:nvPr/>
        </p:nvSpPr>
        <p:spPr>
          <a:xfrm>
            <a:off x="4572000" y="3200400"/>
            <a:ext cx="3429000" cy="804672"/>
          </a:xfrm>
          <a:prstGeom prst="roundRect">
            <a:avLst>
              <a:gd name="adj" fmla="val 12500"/>
            </a:avLst>
          </a:prstGeom>
          <a:solidFill>
            <a:srgbClr val="12213B"/>
          </a:solidFill>
          <a:ln w="10160">
            <a:solidFill>
              <a:srgbClr val="A78BFA">
                <a:alpha val="55000"/>
              </a:srgbClr>
            </a:solidFill>
            <a:prstDash val="solid"/>
          </a:ln>
        </p:spPr>
        <p:txBody>
          <a:bodyPr/>
          <a:lstStyle/>
          <a:p>
            <a:endParaRPr lang="en-US"/>
          </a:p>
        </p:txBody>
      </p:sp>
      <p:sp>
        <p:nvSpPr>
          <p:cNvPr id="20" name="Text 18"/>
          <p:cNvSpPr/>
          <p:nvPr/>
        </p:nvSpPr>
        <p:spPr>
          <a:xfrm>
            <a:off x="4736592" y="3328416"/>
            <a:ext cx="3063240" cy="201168"/>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Human trust</a:t>
            </a:r>
            <a:endParaRPr lang="en-US" sz="1480" dirty="0"/>
          </a:p>
        </p:txBody>
      </p:sp>
      <p:sp>
        <p:nvSpPr>
          <p:cNvPr id="21" name="Text 19"/>
          <p:cNvSpPr/>
          <p:nvPr/>
        </p:nvSpPr>
        <p:spPr>
          <a:xfrm>
            <a:off x="4736592" y="3621024"/>
            <a:ext cx="3063240" cy="201168"/>
          </a:xfrm>
          <a:prstGeom prst="rect">
            <a:avLst/>
          </a:prstGeom>
          <a:noFill/>
          <a:ln/>
        </p:spPr>
        <p:txBody>
          <a:bodyPr wrap="square" lIns="0" tIns="0" rIns="0" bIns="0" rtlCol="0" anchor="ctr">
            <a:normAutofit/>
          </a:bodyPr>
          <a:lstStyle/>
          <a:p>
            <a:pPr marL="0" indent="0">
              <a:buNone/>
            </a:pPr>
            <a:r>
              <a:rPr lang="en-US" sz="980" dirty="0">
                <a:solidFill>
                  <a:srgbClr val="B6C2D5"/>
                </a:solidFill>
                <a:latin typeface="Aptos" pitchFamily="34" charset="0"/>
                <a:ea typeface="Aptos" pitchFamily="34" charset="-122"/>
                <a:cs typeface="Aptos" pitchFamily="34" charset="-120"/>
              </a:rPr>
              <a:t>users need predictable behavior and clear override paths</a:t>
            </a:r>
            <a:endParaRPr lang="en-US" sz="980" dirty="0"/>
          </a:p>
        </p:txBody>
      </p:sp>
      <p:sp>
        <p:nvSpPr>
          <p:cNvPr id="22" name="Shape 20"/>
          <p:cNvSpPr/>
          <p:nvPr/>
        </p:nvSpPr>
        <p:spPr>
          <a:xfrm>
            <a:off x="8275320" y="3200400"/>
            <a:ext cx="3429000" cy="804672"/>
          </a:xfrm>
          <a:prstGeom prst="roundRect">
            <a:avLst>
              <a:gd name="adj" fmla="val 12500"/>
            </a:avLst>
          </a:prstGeom>
          <a:solidFill>
            <a:srgbClr val="12213B">
              <a:alpha val="96000"/>
            </a:srgbClr>
          </a:solidFill>
          <a:ln w="10160">
            <a:solidFill>
              <a:srgbClr val="EF4444">
                <a:alpha val="55000"/>
              </a:srgbClr>
            </a:solidFill>
            <a:prstDash val="solid"/>
          </a:ln>
        </p:spPr>
        <p:txBody>
          <a:bodyPr/>
          <a:lstStyle/>
          <a:p>
            <a:endParaRPr lang="en-US"/>
          </a:p>
        </p:txBody>
      </p:sp>
      <p:sp>
        <p:nvSpPr>
          <p:cNvPr id="23" name="Text 21"/>
          <p:cNvSpPr/>
          <p:nvPr/>
        </p:nvSpPr>
        <p:spPr>
          <a:xfrm>
            <a:off x="8439912" y="3328416"/>
            <a:ext cx="3063240" cy="201168"/>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Governance</a:t>
            </a:r>
            <a:endParaRPr lang="en-US" sz="1480" dirty="0"/>
          </a:p>
        </p:txBody>
      </p:sp>
      <p:sp>
        <p:nvSpPr>
          <p:cNvPr id="24" name="Text 22"/>
          <p:cNvSpPr/>
          <p:nvPr/>
        </p:nvSpPr>
        <p:spPr>
          <a:xfrm>
            <a:off x="8439912" y="3621024"/>
            <a:ext cx="3063240" cy="201168"/>
          </a:xfrm>
          <a:prstGeom prst="rect">
            <a:avLst/>
          </a:prstGeom>
          <a:noFill/>
          <a:ln/>
        </p:spPr>
        <p:txBody>
          <a:bodyPr wrap="square" lIns="0" tIns="0" rIns="0" bIns="0" rtlCol="0" anchor="ctr">
            <a:normAutofit/>
          </a:bodyPr>
          <a:lstStyle/>
          <a:p>
            <a:pPr marL="0" indent="0">
              <a:buNone/>
            </a:pPr>
            <a:r>
              <a:rPr lang="en-US" sz="980" dirty="0">
                <a:solidFill>
                  <a:srgbClr val="B6C2D5"/>
                </a:solidFill>
                <a:latin typeface="Aptos" pitchFamily="34" charset="0"/>
                <a:ea typeface="Aptos" pitchFamily="34" charset="-122"/>
                <a:cs typeface="Aptos" pitchFamily="34" charset="-120"/>
              </a:rPr>
              <a:t>updates can change behavior after initial validation</a:t>
            </a:r>
            <a:endParaRPr lang="en-US" sz="980" dirty="0"/>
          </a:p>
        </p:txBody>
      </p:sp>
      <p:sp>
        <p:nvSpPr>
          <p:cNvPr id="25" name="Text 23"/>
          <p:cNvSpPr/>
          <p:nvPr/>
        </p:nvSpPr>
        <p:spPr>
          <a:xfrm>
            <a:off x="1097280" y="5257800"/>
            <a:ext cx="9921240" cy="566928"/>
          </a:xfrm>
          <a:prstGeom prst="rect">
            <a:avLst/>
          </a:prstGeom>
          <a:noFill/>
          <a:ln/>
        </p:spPr>
        <p:txBody>
          <a:bodyPr wrap="square" lIns="0" tIns="0" rIns="0" bIns="0" rtlCol="0" anchor="ctr">
            <a:normAutofit/>
          </a:bodyPr>
          <a:lstStyle/>
          <a:p>
            <a:pPr marL="0" indent="0" algn="ctr">
              <a:buNone/>
            </a:pPr>
            <a:r>
              <a:rPr lang="en-US" sz="2050" b="1" dirty="0">
                <a:solidFill>
                  <a:srgbClr val="F8FAFC"/>
                </a:solidFill>
                <a:latin typeface="Aptos Display" pitchFamily="34" charset="0"/>
                <a:ea typeface="Aptos Display" pitchFamily="34" charset="-122"/>
                <a:cs typeface="Aptos Display" pitchFamily="34" charset="-120"/>
              </a:rPr>
              <a:t>Near-term progress will come from narrower operating domains, stronger data flywheels, better simulation, and explicit safety architecture.</a:t>
            </a:r>
            <a:endParaRPr lang="en-US" sz="2050" dirty="0"/>
          </a:p>
        </p:txBody>
      </p:sp>
      <p:sp>
        <p:nvSpPr>
          <p:cNvPr id="26" name="Shape 24"/>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7" name="Text 25"/>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28" name="Text 26"/>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20</a:t>
            </a:r>
            <a:endParaRPr lang="en-US" sz="8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21</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Three takeaways</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Use these as the closing frame for the discussion.</a:t>
            </a:r>
            <a:endParaRPr lang="en-US" sz="1450" dirty="0"/>
          </a:p>
        </p:txBody>
      </p:sp>
      <p:sp>
        <p:nvSpPr>
          <p:cNvPr id="7" name="Shape 5"/>
          <p:cNvSpPr/>
          <p:nvPr/>
        </p:nvSpPr>
        <p:spPr>
          <a:xfrm>
            <a:off x="932688" y="2039112"/>
            <a:ext cx="10149840" cy="950976"/>
          </a:xfrm>
          <a:prstGeom prst="roundRect">
            <a:avLst>
              <a:gd name="adj" fmla="val 13462"/>
            </a:avLst>
          </a:prstGeom>
          <a:solidFill>
            <a:srgbClr val="12213B"/>
          </a:solidFill>
          <a:ln w="12700">
            <a:solidFill>
              <a:srgbClr val="31D8FF">
                <a:alpha val="70000"/>
              </a:srgbClr>
            </a:solidFill>
            <a:prstDash val="solid"/>
          </a:ln>
        </p:spPr>
        <p:txBody>
          <a:bodyPr/>
          <a:lstStyle/>
          <a:p>
            <a:endParaRPr lang="en-US"/>
          </a:p>
        </p:txBody>
      </p:sp>
      <p:sp>
        <p:nvSpPr>
          <p:cNvPr id="8" name="Shape 6"/>
          <p:cNvSpPr/>
          <p:nvPr/>
        </p:nvSpPr>
        <p:spPr>
          <a:xfrm>
            <a:off x="1207008" y="2240280"/>
            <a:ext cx="548640" cy="548640"/>
          </a:xfrm>
          <a:prstGeom prst="ellipse">
            <a:avLst/>
          </a:prstGeom>
          <a:solidFill>
            <a:srgbClr val="31D8FF"/>
          </a:solidFill>
          <a:ln w="12700">
            <a:solidFill>
              <a:srgbClr val="31D8FF">
                <a:alpha val="0"/>
              </a:srgbClr>
            </a:solidFill>
            <a:prstDash val="solid"/>
          </a:ln>
        </p:spPr>
        <p:txBody>
          <a:bodyPr/>
          <a:lstStyle/>
          <a:p>
            <a:endParaRPr lang="en-US"/>
          </a:p>
        </p:txBody>
      </p:sp>
      <p:sp>
        <p:nvSpPr>
          <p:cNvPr id="9" name="Text 7"/>
          <p:cNvSpPr/>
          <p:nvPr/>
        </p:nvSpPr>
        <p:spPr>
          <a:xfrm>
            <a:off x="1207008" y="2350008"/>
            <a:ext cx="548640" cy="201168"/>
          </a:xfrm>
          <a:prstGeom prst="rect">
            <a:avLst/>
          </a:prstGeom>
          <a:noFill/>
          <a:ln/>
        </p:spPr>
        <p:txBody>
          <a:bodyPr wrap="square" lIns="0" tIns="0" rIns="0" bIns="0" rtlCol="0" anchor="ctr"/>
          <a:lstStyle/>
          <a:p>
            <a:pPr marL="0" indent="0" algn="ctr">
              <a:buNone/>
            </a:pPr>
            <a:r>
              <a:rPr lang="en-US" sz="1500" b="1" dirty="0">
                <a:solidFill>
                  <a:srgbClr val="07101F"/>
                </a:solidFill>
                <a:latin typeface="Aptos Display" pitchFamily="34" charset="0"/>
                <a:ea typeface="Aptos Display" pitchFamily="34" charset="-122"/>
                <a:cs typeface="Aptos Display" pitchFamily="34" charset="-120"/>
              </a:rPr>
              <a:t>1</a:t>
            </a:r>
            <a:endParaRPr lang="en-US" sz="1500" dirty="0"/>
          </a:p>
        </p:txBody>
      </p:sp>
      <p:sp>
        <p:nvSpPr>
          <p:cNvPr id="10" name="Text 8"/>
          <p:cNvSpPr/>
          <p:nvPr/>
        </p:nvSpPr>
        <p:spPr>
          <a:xfrm>
            <a:off x="1993392" y="2203704"/>
            <a:ext cx="4389120" cy="274320"/>
          </a:xfrm>
          <a:prstGeom prst="rect">
            <a:avLst/>
          </a:prstGeom>
          <a:noFill/>
          <a:ln/>
        </p:spPr>
        <p:txBody>
          <a:bodyPr wrap="square" lIns="0" tIns="0" rIns="0" bIns="0" rtlCol="0" anchor="ctr">
            <a:normAutofit/>
          </a:bodyPr>
          <a:lstStyle/>
          <a:p>
            <a:pPr marL="0" indent="0">
              <a:buNone/>
            </a:pPr>
            <a:r>
              <a:rPr lang="en-US" sz="1750" b="1" dirty="0">
                <a:solidFill>
                  <a:srgbClr val="F8FAFC"/>
                </a:solidFill>
                <a:latin typeface="Aptos Display" pitchFamily="34" charset="0"/>
                <a:ea typeface="Aptos Display" pitchFamily="34" charset="-122"/>
                <a:cs typeface="Aptos Display" pitchFamily="34" charset="-120"/>
              </a:rPr>
              <a:t>Physical AI is closed-loop autonomy</a:t>
            </a:r>
            <a:endParaRPr lang="en-US" sz="1750" dirty="0"/>
          </a:p>
        </p:txBody>
      </p:sp>
      <p:sp>
        <p:nvSpPr>
          <p:cNvPr id="11" name="Text 9"/>
          <p:cNvSpPr/>
          <p:nvPr/>
        </p:nvSpPr>
        <p:spPr>
          <a:xfrm>
            <a:off x="1993392" y="2569464"/>
            <a:ext cx="8046720" cy="219456"/>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It connects perception, state estimation, planning, control, and learning.</a:t>
            </a:r>
            <a:endParaRPr lang="en-US" sz="1150" dirty="0"/>
          </a:p>
        </p:txBody>
      </p:sp>
      <p:sp>
        <p:nvSpPr>
          <p:cNvPr id="12" name="Shape 10"/>
          <p:cNvSpPr/>
          <p:nvPr/>
        </p:nvSpPr>
        <p:spPr>
          <a:xfrm>
            <a:off x="932688" y="3182112"/>
            <a:ext cx="10149840" cy="950976"/>
          </a:xfrm>
          <a:prstGeom prst="roundRect">
            <a:avLst>
              <a:gd name="adj" fmla="val 13462"/>
            </a:avLst>
          </a:prstGeom>
          <a:solidFill>
            <a:srgbClr val="12213B"/>
          </a:solidFill>
          <a:ln w="12700">
            <a:solidFill>
              <a:srgbClr val="F59E0B">
                <a:alpha val="70000"/>
              </a:srgbClr>
            </a:solidFill>
            <a:prstDash val="solid"/>
          </a:ln>
        </p:spPr>
        <p:txBody>
          <a:bodyPr/>
          <a:lstStyle/>
          <a:p>
            <a:endParaRPr lang="en-US"/>
          </a:p>
        </p:txBody>
      </p:sp>
      <p:sp>
        <p:nvSpPr>
          <p:cNvPr id="13" name="Shape 11"/>
          <p:cNvSpPr/>
          <p:nvPr/>
        </p:nvSpPr>
        <p:spPr>
          <a:xfrm>
            <a:off x="1207008" y="3383280"/>
            <a:ext cx="548640" cy="548640"/>
          </a:xfrm>
          <a:prstGeom prst="ellipse">
            <a:avLst/>
          </a:prstGeom>
          <a:solidFill>
            <a:srgbClr val="F59E0B"/>
          </a:solidFill>
          <a:ln w="12700">
            <a:solidFill>
              <a:srgbClr val="F59E0B">
                <a:alpha val="0"/>
              </a:srgbClr>
            </a:solidFill>
            <a:prstDash val="solid"/>
          </a:ln>
        </p:spPr>
        <p:txBody>
          <a:bodyPr/>
          <a:lstStyle/>
          <a:p>
            <a:endParaRPr lang="en-US"/>
          </a:p>
        </p:txBody>
      </p:sp>
      <p:sp>
        <p:nvSpPr>
          <p:cNvPr id="14" name="Text 12"/>
          <p:cNvSpPr/>
          <p:nvPr/>
        </p:nvSpPr>
        <p:spPr>
          <a:xfrm>
            <a:off x="1207008" y="3493008"/>
            <a:ext cx="548640" cy="201168"/>
          </a:xfrm>
          <a:prstGeom prst="rect">
            <a:avLst/>
          </a:prstGeom>
          <a:noFill/>
          <a:ln/>
        </p:spPr>
        <p:txBody>
          <a:bodyPr wrap="square" lIns="0" tIns="0" rIns="0" bIns="0" rtlCol="0" anchor="ctr"/>
          <a:lstStyle/>
          <a:p>
            <a:pPr marL="0" indent="0" algn="ctr">
              <a:buNone/>
            </a:pPr>
            <a:r>
              <a:rPr lang="en-US" sz="1500" b="1" dirty="0">
                <a:solidFill>
                  <a:srgbClr val="07101F"/>
                </a:solidFill>
                <a:latin typeface="Aptos Display" pitchFamily="34" charset="0"/>
                <a:ea typeface="Aptos Display" pitchFamily="34" charset="-122"/>
                <a:cs typeface="Aptos Display" pitchFamily="34" charset="-120"/>
              </a:rPr>
              <a:t>2</a:t>
            </a:r>
            <a:endParaRPr lang="en-US" sz="1500" dirty="0"/>
          </a:p>
        </p:txBody>
      </p:sp>
      <p:sp>
        <p:nvSpPr>
          <p:cNvPr id="15" name="Text 13"/>
          <p:cNvSpPr/>
          <p:nvPr/>
        </p:nvSpPr>
        <p:spPr>
          <a:xfrm>
            <a:off x="1993392" y="3346704"/>
            <a:ext cx="4389120" cy="274320"/>
          </a:xfrm>
          <a:prstGeom prst="rect">
            <a:avLst/>
          </a:prstGeom>
          <a:noFill/>
          <a:ln/>
        </p:spPr>
        <p:txBody>
          <a:bodyPr wrap="square" lIns="0" tIns="0" rIns="0" bIns="0" rtlCol="0" anchor="ctr">
            <a:normAutofit/>
          </a:bodyPr>
          <a:lstStyle/>
          <a:p>
            <a:pPr marL="0" indent="0">
              <a:buNone/>
            </a:pPr>
            <a:r>
              <a:rPr lang="en-US" sz="1750" b="1" dirty="0">
                <a:solidFill>
                  <a:srgbClr val="F8FAFC"/>
                </a:solidFill>
                <a:latin typeface="Aptos Display" pitchFamily="34" charset="0"/>
                <a:ea typeface="Aptos Display" pitchFamily="34" charset="-122"/>
                <a:cs typeface="Aptos Display" pitchFamily="34" charset="-120"/>
              </a:rPr>
              <a:t>Foundation models help, but do not replace engineering</a:t>
            </a:r>
            <a:endParaRPr lang="en-US" sz="1750" dirty="0"/>
          </a:p>
        </p:txBody>
      </p:sp>
      <p:sp>
        <p:nvSpPr>
          <p:cNvPr id="16" name="Text 14"/>
          <p:cNvSpPr/>
          <p:nvPr/>
        </p:nvSpPr>
        <p:spPr>
          <a:xfrm>
            <a:off x="1993392" y="3712464"/>
            <a:ext cx="8046720" cy="219456"/>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The model must sit inside a tested stack with controllers and safety limits.</a:t>
            </a:r>
            <a:endParaRPr lang="en-US" sz="1150" dirty="0"/>
          </a:p>
        </p:txBody>
      </p:sp>
      <p:sp>
        <p:nvSpPr>
          <p:cNvPr id="17" name="Shape 15"/>
          <p:cNvSpPr/>
          <p:nvPr/>
        </p:nvSpPr>
        <p:spPr>
          <a:xfrm>
            <a:off x="932688" y="4325112"/>
            <a:ext cx="10149840" cy="950976"/>
          </a:xfrm>
          <a:prstGeom prst="roundRect">
            <a:avLst>
              <a:gd name="adj" fmla="val 13462"/>
            </a:avLst>
          </a:prstGeom>
          <a:solidFill>
            <a:srgbClr val="12213B"/>
          </a:solidFill>
          <a:ln w="12700">
            <a:solidFill>
              <a:srgbClr val="22C55E">
                <a:alpha val="70000"/>
              </a:srgbClr>
            </a:solidFill>
            <a:prstDash val="solid"/>
          </a:ln>
        </p:spPr>
        <p:txBody>
          <a:bodyPr/>
          <a:lstStyle/>
          <a:p>
            <a:endParaRPr lang="en-US"/>
          </a:p>
        </p:txBody>
      </p:sp>
      <p:sp>
        <p:nvSpPr>
          <p:cNvPr id="18" name="Shape 16"/>
          <p:cNvSpPr/>
          <p:nvPr/>
        </p:nvSpPr>
        <p:spPr>
          <a:xfrm>
            <a:off x="1207008" y="4526280"/>
            <a:ext cx="548640" cy="548640"/>
          </a:xfrm>
          <a:prstGeom prst="ellipse">
            <a:avLst/>
          </a:prstGeom>
          <a:solidFill>
            <a:srgbClr val="22C55E"/>
          </a:solidFill>
          <a:ln w="12700">
            <a:solidFill>
              <a:srgbClr val="22C55E">
                <a:alpha val="0"/>
              </a:srgbClr>
            </a:solidFill>
            <a:prstDash val="solid"/>
          </a:ln>
        </p:spPr>
        <p:txBody>
          <a:bodyPr/>
          <a:lstStyle/>
          <a:p>
            <a:endParaRPr lang="en-US"/>
          </a:p>
        </p:txBody>
      </p:sp>
      <p:sp>
        <p:nvSpPr>
          <p:cNvPr id="19" name="Text 17"/>
          <p:cNvSpPr/>
          <p:nvPr/>
        </p:nvSpPr>
        <p:spPr>
          <a:xfrm>
            <a:off x="1207008" y="4636008"/>
            <a:ext cx="548640" cy="201168"/>
          </a:xfrm>
          <a:prstGeom prst="rect">
            <a:avLst/>
          </a:prstGeom>
          <a:noFill/>
          <a:ln/>
        </p:spPr>
        <p:txBody>
          <a:bodyPr wrap="square" lIns="0" tIns="0" rIns="0" bIns="0" rtlCol="0" anchor="ctr"/>
          <a:lstStyle/>
          <a:p>
            <a:pPr marL="0" indent="0" algn="ctr">
              <a:buNone/>
            </a:pPr>
            <a:r>
              <a:rPr lang="en-US" sz="1500" b="1" dirty="0">
                <a:solidFill>
                  <a:srgbClr val="07101F"/>
                </a:solidFill>
                <a:latin typeface="Aptos Display" pitchFamily="34" charset="0"/>
                <a:ea typeface="Aptos Display" pitchFamily="34" charset="-122"/>
                <a:cs typeface="Aptos Display" pitchFamily="34" charset="-120"/>
              </a:rPr>
              <a:t>3</a:t>
            </a:r>
            <a:endParaRPr lang="en-US" sz="1500" dirty="0"/>
          </a:p>
        </p:txBody>
      </p:sp>
      <p:sp>
        <p:nvSpPr>
          <p:cNvPr id="20" name="Text 18"/>
          <p:cNvSpPr/>
          <p:nvPr/>
        </p:nvSpPr>
        <p:spPr>
          <a:xfrm>
            <a:off x="1993392" y="4489704"/>
            <a:ext cx="4389120" cy="274320"/>
          </a:xfrm>
          <a:prstGeom prst="rect">
            <a:avLst/>
          </a:prstGeom>
          <a:noFill/>
          <a:ln/>
        </p:spPr>
        <p:txBody>
          <a:bodyPr wrap="square" lIns="0" tIns="0" rIns="0" bIns="0" rtlCol="0" anchor="ctr">
            <a:normAutofit/>
          </a:bodyPr>
          <a:lstStyle/>
          <a:p>
            <a:pPr marL="0" indent="0">
              <a:buNone/>
            </a:pPr>
            <a:r>
              <a:rPr lang="en-US" sz="1750" b="1" dirty="0">
                <a:solidFill>
                  <a:srgbClr val="F8FAFC"/>
                </a:solidFill>
                <a:latin typeface="Aptos Display" pitchFamily="34" charset="0"/>
                <a:ea typeface="Aptos Display" pitchFamily="34" charset="-122"/>
                <a:cs typeface="Aptos Display" pitchFamily="34" charset="-120"/>
              </a:rPr>
              <a:t>Deployment is a data-and-safety flywheel</a:t>
            </a:r>
            <a:endParaRPr lang="en-US" sz="1750" dirty="0"/>
          </a:p>
        </p:txBody>
      </p:sp>
      <p:sp>
        <p:nvSpPr>
          <p:cNvPr id="21" name="Text 19"/>
          <p:cNvSpPr/>
          <p:nvPr/>
        </p:nvSpPr>
        <p:spPr>
          <a:xfrm>
            <a:off x="1993392" y="4855464"/>
            <a:ext cx="8046720" cy="219456"/>
          </a:xfrm>
          <a:prstGeom prst="rect">
            <a:avLst/>
          </a:prstGeom>
          <a:noFill/>
          <a:ln/>
        </p:spPr>
        <p:txBody>
          <a:bodyPr wrap="square" lIns="0" tIns="0" rIns="0" bIns="0" rtlCol="0" anchor="ctr">
            <a:normAutofit/>
          </a:bodyPr>
          <a:lstStyle/>
          <a:p>
            <a:pPr marL="0" indent="0">
              <a:buNone/>
            </a:pPr>
            <a:r>
              <a:rPr lang="en-US" sz="1150" dirty="0">
                <a:solidFill>
                  <a:srgbClr val="B6C2D5"/>
                </a:solidFill>
                <a:latin typeface="Aptos" pitchFamily="34" charset="0"/>
                <a:ea typeface="Aptos" pitchFamily="34" charset="-122"/>
                <a:cs typeface="Aptos" pitchFamily="34" charset="-120"/>
              </a:rPr>
              <a:t>Instrumentation, simulation, evaluation, monitoring, and governance drive improvement.</a:t>
            </a:r>
            <a:endParaRPr lang="en-US" sz="1150" dirty="0"/>
          </a:p>
        </p:txBody>
      </p:sp>
      <p:sp>
        <p:nvSpPr>
          <p:cNvPr id="22" name="Shape 20"/>
          <p:cNvSpPr/>
          <p:nvPr/>
        </p:nvSpPr>
        <p:spPr>
          <a:xfrm>
            <a:off x="1188720" y="5623560"/>
            <a:ext cx="9601200" cy="0"/>
          </a:xfrm>
          <a:prstGeom prst="line">
            <a:avLst/>
          </a:prstGeom>
          <a:noFill/>
          <a:ln w="10160">
            <a:solidFill>
              <a:srgbClr val="25436C">
                <a:alpha val="90000"/>
              </a:srgbClr>
            </a:solidFill>
            <a:prstDash val="solid"/>
          </a:ln>
        </p:spPr>
        <p:txBody>
          <a:bodyPr/>
          <a:lstStyle/>
          <a:p>
            <a:endParaRPr lang="en-US"/>
          </a:p>
        </p:txBody>
      </p:sp>
      <p:sp>
        <p:nvSpPr>
          <p:cNvPr id="23" name="Text 21"/>
          <p:cNvSpPr/>
          <p:nvPr/>
        </p:nvSpPr>
        <p:spPr>
          <a:xfrm>
            <a:off x="1234440" y="5833872"/>
            <a:ext cx="9509760" cy="347472"/>
          </a:xfrm>
          <a:prstGeom prst="rect">
            <a:avLst/>
          </a:prstGeom>
          <a:noFill/>
          <a:ln/>
        </p:spPr>
        <p:txBody>
          <a:bodyPr wrap="square" lIns="0" tIns="0" rIns="0" bIns="0" rtlCol="0" anchor="ctr">
            <a:normAutofit/>
          </a:bodyPr>
          <a:lstStyle/>
          <a:p>
            <a:pPr marL="0" indent="0" algn="ctr">
              <a:buNone/>
            </a:pPr>
            <a:r>
              <a:rPr lang="en-US" sz="1650" b="1" dirty="0">
                <a:solidFill>
                  <a:srgbClr val="31D8FF"/>
                </a:solidFill>
                <a:latin typeface="Aptos Display" pitchFamily="34" charset="0"/>
                <a:ea typeface="Aptos Display" pitchFamily="34" charset="-122"/>
                <a:cs typeface="Aptos Display" pitchFamily="34" charset="-120"/>
              </a:rPr>
              <a:t>Discussion prompt: What task in your environment is bounded enough to test, but valuable enough to matter?</a:t>
            </a:r>
            <a:endParaRPr lang="en-US" sz="1650" dirty="0"/>
          </a:p>
        </p:txBody>
      </p:sp>
      <p:sp>
        <p:nvSpPr>
          <p:cNvPr id="24" name="Shape 22"/>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5" name="Text 23"/>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26" name="Text 24"/>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21</a:t>
            </a:r>
            <a:endParaRPr lang="en-US" sz="8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mnt/data/a_wide_high_resolution_cinematic_industrial_ware_batch_1.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F">
              <a:alpha val="58000"/>
            </a:srgbClr>
          </a:solidFill>
          <a:ln w="12700">
            <a:solidFill>
              <a:srgbClr val="07101F">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7101F">
              <a:alpha val="70000"/>
            </a:srgbClr>
          </a:solidFill>
          <a:ln w="12700">
            <a:solidFill>
              <a:srgbClr val="07101F">
                <a:alpha val="0"/>
              </a:srgbClr>
            </a:solidFill>
            <a:prstDash val="solid"/>
          </a:ln>
        </p:spPr>
        <p:txBody>
          <a:bodyPr/>
          <a:lstStyle/>
          <a:p>
            <a:endParaRPr lang="en-US" dirty="0"/>
          </a:p>
        </p:txBody>
      </p:sp>
      <p:sp>
        <p:nvSpPr>
          <p:cNvPr id="5" name="Text 2"/>
          <p:cNvSpPr/>
          <p:nvPr/>
        </p:nvSpPr>
        <p:spPr>
          <a:xfrm>
            <a:off x="713232" y="640080"/>
            <a:ext cx="4206240" cy="256032"/>
          </a:xfrm>
          <a:prstGeom prst="rect">
            <a:avLst/>
          </a:prstGeom>
          <a:noFill/>
          <a:ln/>
        </p:spPr>
        <p:txBody>
          <a:bodyPr wrap="square" lIns="0" tIns="0" rIns="0" bIns="0" rtlCol="0" anchor="ctr"/>
          <a:lstStyle/>
          <a:p>
            <a:pPr marL="0" indent="0">
              <a:buNone/>
            </a:pPr>
            <a:endParaRPr lang="en-US" sz="950" dirty="0"/>
          </a:p>
        </p:txBody>
      </p:sp>
      <p:sp>
        <p:nvSpPr>
          <p:cNvPr id="6" name="Text 3"/>
          <p:cNvSpPr/>
          <p:nvPr/>
        </p:nvSpPr>
        <p:spPr>
          <a:xfrm>
            <a:off x="685800" y="1078992"/>
            <a:ext cx="4937760" cy="1170432"/>
          </a:xfrm>
          <a:prstGeom prst="rect">
            <a:avLst/>
          </a:prstGeom>
          <a:noFill/>
          <a:ln/>
        </p:spPr>
        <p:txBody>
          <a:bodyPr wrap="square" lIns="0" tIns="0" rIns="0" bIns="0" rtlCol="0" anchor="ctr">
            <a:normAutofit/>
          </a:bodyPr>
          <a:lstStyle/>
          <a:p>
            <a:pPr marL="0" indent="0">
              <a:buNone/>
            </a:pPr>
            <a:r>
              <a:rPr lang="en-US" sz="3800" b="1" dirty="0">
                <a:solidFill>
                  <a:srgbClr val="F8FAFC"/>
                </a:solidFill>
                <a:latin typeface="Aptos Display" pitchFamily="34" charset="0"/>
                <a:ea typeface="Aptos Display" pitchFamily="34" charset="-122"/>
                <a:cs typeface="Aptos Display" pitchFamily="34" charset="-120"/>
              </a:rPr>
              <a:t>Amazon Robotics</a:t>
            </a:r>
            <a:endParaRPr lang="en-US" sz="3800" dirty="0"/>
          </a:p>
          <a:p>
            <a:pPr marL="0" indent="0">
              <a:buNone/>
            </a:pPr>
            <a:r>
              <a:rPr lang="en-US" sz="3800" b="1" dirty="0">
                <a:solidFill>
                  <a:srgbClr val="F8FAFC"/>
                </a:solidFill>
                <a:latin typeface="Aptos Display" pitchFamily="34" charset="0"/>
                <a:ea typeface="Aptos Display" pitchFamily="34" charset="-122"/>
                <a:cs typeface="Aptos Display" pitchFamily="34" charset="-120"/>
              </a:rPr>
              <a:t>as Physical AI</a:t>
            </a:r>
            <a:endParaRPr lang="en-US" sz="3800" dirty="0"/>
          </a:p>
        </p:txBody>
      </p:sp>
      <p:sp>
        <p:nvSpPr>
          <p:cNvPr id="7" name="Shape 4"/>
          <p:cNvSpPr/>
          <p:nvPr/>
        </p:nvSpPr>
        <p:spPr>
          <a:xfrm>
            <a:off x="713232" y="2542032"/>
            <a:ext cx="1143000" cy="0"/>
          </a:xfrm>
          <a:prstGeom prst="line">
            <a:avLst/>
          </a:prstGeom>
          <a:noFill/>
          <a:ln w="38100">
            <a:solidFill>
              <a:srgbClr val="31D8FF"/>
            </a:solidFill>
            <a:prstDash val="solid"/>
          </a:ln>
        </p:spPr>
        <p:txBody>
          <a:bodyPr/>
          <a:lstStyle/>
          <a:p>
            <a:endParaRPr lang="en-US"/>
          </a:p>
        </p:txBody>
      </p:sp>
      <p:sp>
        <p:nvSpPr>
          <p:cNvPr id="8" name="Text 5"/>
          <p:cNvSpPr/>
          <p:nvPr/>
        </p:nvSpPr>
        <p:spPr>
          <a:xfrm>
            <a:off x="713232" y="2852928"/>
            <a:ext cx="4800600" cy="713232"/>
          </a:xfrm>
          <a:prstGeom prst="rect">
            <a:avLst/>
          </a:prstGeom>
          <a:noFill/>
          <a:ln/>
        </p:spPr>
        <p:txBody>
          <a:bodyPr wrap="square" lIns="0" tIns="0" rIns="0" bIns="0" rtlCol="0" anchor="ctr">
            <a:normAutofit/>
          </a:bodyPr>
          <a:lstStyle/>
          <a:p>
            <a:pPr marL="0" indent="0">
              <a:buNone/>
            </a:pPr>
            <a:r>
              <a:rPr lang="en-US" sz="1780" dirty="0">
                <a:solidFill>
                  <a:srgbClr val="B6C2D5"/>
                </a:solidFill>
                <a:latin typeface="Aptos" pitchFamily="34" charset="0"/>
                <a:ea typeface="Aptos" pitchFamily="34" charset="-122"/>
                <a:cs typeface="Aptos" pitchFamily="34" charset="-120"/>
              </a:rPr>
              <a:t>How a large logistics network combines robots, AI routing, tactile manipulation, human supervision, and operational data.</a:t>
            </a:r>
            <a:endParaRPr lang="en-US" sz="1780" dirty="0"/>
          </a:p>
        </p:txBody>
      </p:sp>
      <p:sp>
        <p:nvSpPr>
          <p:cNvPr id="9" name="Shape 6"/>
          <p:cNvSpPr/>
          <p:nvPr/>
        </p:nvSpPr>
        <p:spPr>
          <a:xfrm>
            <a:off x="713232" y="4251960"/>
            <a:ext cx="1600200" cy="1143000"/>
          </a:xfrm>
          <a:prstGeom prst="roundRect">
            <a:avLst>
              <a:gd name="adj" fmla="val 8000"/>
            </a:avLst>
          </a:prstGeom>
          <a:solidFill>
            <a:srgbClr val="12213B">
              <a:alpha val="97000"/>
            </a:srgbClr>
          </a:solidFill>
          <a:ln w="10160">
            <a:solidFill>
              <a:srgbClr val="31D8FF">
                <a:alpha val="55000"/>
              </a:srgbClr>
            </a:solidFill>
            <a:prstDash val="solid"/>
          </a:ln>
        </p:spPr>
        <p:txBody>
          <a:bodyPr/>
          <a:lstStyle/>
          <a:p>
            <a:endParaRPr lang="en-US"/>
          </a:p>
        </p:txBody>
      </p:sp>
      <p:sp>
        <p:nvSpPr>
          <p:cNvPr id="10" name="Text 7"/>
          <p:cNvSpPr/>
          <p:nvPr/>
        </p:nvSpPr>
        <p:spPr>
          <a:xfrm>
            <a:off x="841248" y="4398264"/>
            <a:ext cx="1344168" cy="420624"/>
          </a:xfrm>
          <a:prstGeom prst="rect">
            <a:avLst/>
          </a:prstGeom>
          <a:noFill/>
          <a:ln/>
        </p:spPr>
        <p:txBody>
          <a:bodyPr wrap="square" lIns="0" tIns="0" rIns="0" bIns="0" rtlCol="0" anchor="ctr">
            <a:normAutofit/>
          </a:bodyPr>
          <a:lstStyle/>
          <a:p>
            <a:pPr marL="0" indent="0">
              <a:buNone/>
            </a:pPr>
            <a:r>
              <a:rPr lang="en-US" sz="2800" b="1" dirty="0">
                <a:solidFill>
                  <a:srgbClr val="31D8FF"/>
                </a:solidFill>
                <a:latin typeface="Aptos Display" pitchFamily="34" charset="0"/>
                <a:ea typeface="Aptos Display" pitchFamily="34" charset="-122"/>
                <a:cs typeface="Aptos Display" pitchFamily="34" charset="-120"/>
              </a:rPr>
              <a:t>1M+</a:t>
            </a:r>
            <a:endParaRPr lang="en-US" sz="2800" dirty="0"/>
          </a:p>
        </p:txBody>
      </p:sp>
      <p:sp>
        <p:nvSpPr>
          <p:cNvPr id="11" name="Text 8"/>
          <p:cNvSpPr/>
          <p:nvPr/>
        </p:nvSpPr>
        <p:spPr>
          <a:xfrm>
            <a:off x="859536" y="4956048"/>
            <a:ext cx="1307592" cy="393192"/>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robots deployed</a:t>
            </a:r>
            <a:endParaRPr lang="en-US" sz="1000" dirty="0"/>
          </a:p>
        </p:txBody>
      </p:sp>
      <p:sp>
        <p:nvSpPr>
          <p:cNvPr id="12" name="Shape 9"/>
          <p:cNvSpPr/>
          <p:nvPr/>
        </p:nvSpPr>
        <p:spPr>
          <a:xfrm>
            <a:off x="2487168" y="4251960"/>
            <a:ext cx="1874520" cy="1143000"/>
          </a:xfrm>
          <a:prstGeom prst="roundRect">
            <a:avLst>
              <a:gd name="adj" fmla="val 8000"/>
            </a:avLst>
          </a:prstGeom>
          <a:solidFill>
            <a:srgbClr val="12213B">
              <a:alpha val="97000"/>
            </a:srgbClr>
          </a:solidFill>
          <a:ln w="10160">
            <a:solidFill>
              <a:srgbClr val="22C55E">
                <a:alpha val="55000"/>
              </a:srgbClr>
            </a:solidFill>
            <a:prstDash val="solid"/>
          </a:ln>
        </p:spPr>
        <p:txBody>
          <a:bodyPr/>
          <a:lstStyle/>
          <a:p>
            <a:endParaRPr lang="en-US"/>
          </a:p>
        </p:txBody>
      </p:sp>
      <p:sp>
        <p:nvSpPr>
          <p:cNvPr id="13" name="Text 10"/>
          <p:cNvSpPr/>
          <p:nvPr/>
        </p:nvSpPr>
        <p:spPr>
          <a:xfrm>
            <a:off x="2615184" y="4398264"/>
            <a:ext cx="1618488" cy="420624"/>
          </a:xfrm>
          <a:prstGeom prst="rect">
            <a:avLst/>
          </a:prstGeom>
          <a:noFill/>
          <a:ln/>
        </p:spPr>
        <p:txBody>
          <a:bodyPr wrap="square" lIns="0" tIns="0" rIns="0" bIns="0" rtlCol="0" anchor="ctr">
            <a:normAutofit/>
          </a:bodyPr>
          <a:lstStyle/>
          <a:p>
            <a:pPr marL="0" indent="0">
              <a:buNone/>
            </a:pPr>
            <a:r>
              <a:rPr lang="en-US" sz="2800" b="1" dirty="0">
                <a:solidFill>
                  <a:srgbClr val="22C55E"/>
                </a:solidFill>
                <a:latin typeface="Aptos Display" pitchFamily="34" charset="0"/>
                <a:ea typeface="Aptos Display" pitchFamily="34" charset="-122"/>
                <a:cs typeface="Aptos Display" pitchFamily="34" charset="-120"/>
              </a:rPr>
              <a:t>+10%</a:t>
            </a:r>
            <a:endParaRPr lang="en-US" sz="2800" dirty="0"/>
          </a:p>
        </p:txBody>
      </p:sp>
      <p:sp>
        <p:nvSpPr>
          <p:cNvPr id="14" name="Text 11"/>
          <p:cNvSpPr/>
          <p:nvPr/>
        </p:nvSpPr>
        <p:spPr>
          <a:xfrm>
            <a:off x="2633472" y="4956048"/>
            <a:ext cx="1581912" cy="393192"/>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robot travel efficiency target</a:t>
            </a:r>
            <a:endParaRPr lang="en-US" sz="1000" dirty="0"/>
          </a:p>
        </p:txBody>
      </p:sp>
      <p:sp>
        <p:nvSpPr>
          <p:cNvPr id="15" name="Shape 12"/>
          <p:cNvSpPr/>
          <p:nvPr/>
        </p:nvSpPr>
        <p:spPr>
          <a:xfrm>
            <a:off x="4535424" y="4251960"/>
            <a:ext cx="1901952" cy="1143000"/>
          </a:xfrm>
          <a:prstGeom prst="roundRect">
            <a:avLst>
              <a:gd name="adj" fmla="val 8000"/>
            </a:avLst>
          </a:prstGeom>
          <a:solidFill>
            <a:srgbClr val="12213B">
              <a:alpha val="97000"/>
            </a:srgbClr>
          </a:solidFill>
          <a:ln w="10160">
            <a:solidFill>
              <a:srgbClr val="F59E0B">
                <a:alpha val="55000"/>
              </a:srgbClr>
            </a:solidFill>
            <a:prstDash val="solid"/>
          </a:ln>
        </p:spPr>
        <p:txBody>
          <a:bodyPr/>
          <a:lstStyle/>
          <a:p>
            <a:endParaRPr lang="en-US"/>
          </a:p>
        </p:txBody>
      </p:sp>
      <p:sp>
        <p:nvSpPr>
          <p:cNvPr id="16" name="Text 13"/>
          <p:cNvSpPr/>
          <p:nvPr/>
        </p:nvSpPr>
        <p:spPr>
          <a:xfrm>
            <a:off x="4663440" y="4398264"/>
            <a:ext cx="1645920" cy="420624"/>
          </a:xfrm>
          <a:prstGeom prst="rect">
            <a:avLst/>
          </a:prstGeom>
          <a:noFill/>
          <a:ln/>
        </p:spPr>
        <p:txBody>
          <a:bodyPr wrap="square" lIns="0" tIns="0" rIns="0" bIns="0" rtlCol="0" anchor="ctr">
            <a:normAutofit/>
          </a:bodyPr>
          <a:lstStyle/>
          <a:p>
            <a:pPr marL="0" indent="0">
              <a:buNone/>
            </a:pPr>
            <a:r>
              <a:rPr lang="en-US" sz="2800" b="1" dirty="0">
                <a:solidFill>
                  <a:srgbClr val="F59E0B"/>
                </a:solidFill>
                <a:latin typeface="Aptos Display" pitchFamily="34" charset="0"/>
                <a:ea typeface="Aptos Display" pitchFamily="34" charset="-122"/>
                <a:cs typeface="Aptos Display" pitchFamily="34" charset="-120"/>
              </a:rPr>
              <a:t>25%</a:t>
            </a:r>
            <a:endParaRPr lang="en-US" sz="2800" dirty="0"/>
          </a:p>
        </p:txBody>
      </p:sp>
      <p:sp>
        <p:nvSpPr>
          <p:cNvPr id="17" name="Text 14"/>
          <p:cNvSpPr/>
          <p:nvPr/>
        </p:nvSpPr>
        <p:spPr>
          <a:xfrm>
            <a:off x="4681728" y="4956048"/>
            <a:ext cx="1609344" cy="393192"/>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processing-time reduction</a:t>
            </a:r>
            <a:endParaRPr lang="en-US" sz="1000" dirty="0"/>
          </a:p>
        </p:txBody>
      </p:sp>
      <p:sp>
        <p:nvSpPr>
          <p:cNvPr id="18" name="Text 15"/>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Sources: Amazon Robotics/Operations updates on DeepFleet, Vulcan, and next-generation fulfillment centers.</a:t>
            </a:r>
            <a:endParaRPr lang="en-US" sz="760" dirty="0"/>
          </a:p>
        </p:txBody>
      </p:sp>
      <p:sp>
        <p:nvSpPr>
          <p:cNvPr id="19" name="Shape 16"/>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0" name="Text 17"/>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PHYSICAL AI CASE STUDY</a:t>
            </a:r>
            <a:endParaRPr lang="en-US" sz="780" dirty="0"/>
          </a:p>
        </p:txBody>
      </p:sp>
      <p:sp>
        <p:nvSpPr>
          <p:cNvPr id="21" name="Text 18"/>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22</a:t>
            </a:r>
            <a:endParaRPr lang="en-US" sz="8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23</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Why this case is useful</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Amazon’s fulfillment network is a bounded but highly variable physical environment.</a:t>
            </a:r>
            <a:endParaRPr lang="en-US" sz="1450" dirty="0"/>
          </a:p>
        </p:txBody>
      </p:sp>
      <p:sp>
        <p:nvSpPr>
          <p:cNvPr id="7" name="Shape 5"/>
          <p:cNvSpPr/>
          <p:nvPr/>
        </p:nvSpPr>
        <p:spPr>
          <a:xfrm>
            <a:off x="6903720" y="1920240"/>
            <a:ext cx="4251960" cy="3154680"/>
          </a:xfrm>
          <a:prstGeom prst="roundRect">
            <a:avLst>
              <a:gd name="adj" fmla="val 4638"/>
            </a:avLst>
          </a:prstGeom>
          <a:solidFill>
            <a:srgbClr val="12213B"/>
          </a:solidFill>
          <a:ln w="11430">
            <a:solidFill>
              <a:srgbClr val="31D8FF">
                <a:alpha val="55000"/>
              </a:srgbClr>
            </a:solidFill>
            <a:prstDash val="solid"/>
          </a:ln>
        </p:spPr>
        <p:txBody>
          <a:bodyPr/>
          <a:lstStyle/>
          <a:p>
            <a:endParaRPr lang="en-US"/>
          </a:p>
        </p:txBody>
      </p:sp>
      <p:pic>
        <p:nvPicPr>
          <p:cNvPr id="8" name="Image 0" descr="/mnt/data/a_wide_high_resolution_cinematic_industrial_ware_batch_1.png"/>
          <p:cNvPicPr>
            <a:picLocks noChangeAspect="1"/>
          </p:cNvPicPr>
          <p:nvPr/>
        </p:nvPicPr>
        <p:blipFill>
          <a:blip r:embed="rId3"/>
          <a:srcRect l="11658" r="11658"/>
          <a:stretch/>
        </p:blipFill>
        <p:spPr>
          <a:xfrm>
            <a:off x="6967728" y="1984248"/>
            <a:ext cx="4123944" cy="3026664"/>
          </a:xfrm>
          <a:prstGeom prst="rect">
            <a:avLst/>
          </a:prstGeom>
        </p:spPr>
      </p:pic>
      <p:sp>
        <p:nvSpPr>
          <p:cNvPr id="9" name="Shape 6"/>
          <p:cNvSpPr/>
          <p:nvPr/>
        </p:nvSpPr>
        <p:spPr>
          <a:xfrm>
            <a:off x="868680" y="1938528"/>
            <a:ext cx="5440680" cy="685800"/>
          </a:xfrm>
          <a:prstGeom prst="roundRect">
            <a:avLst>
              <a:gd name="adj" fmla="val 13333"/>
            </a:avLst>
          </a:prstGeom>
          <a:solidFill>
            <a:srgbClr val="12213B"/>
          </a:solidFill>
          <a:ln w="10160">
            <a:solidFill>
              <a:srgbClr val="31D8FF">
                <a:alpha val="62000"/>
              </a:srgbClr>
            </a:solidFill>
            <a:prstDash val="solid"/>
          </a:ln>
        </p:spPr>
        <p:txBody>
          <a:bodyPr/>
          <a:lstStyle/>
          <a:p>
            <a:endParaRPr lang="en-US"/>
          </a:p>
        </p:txBody>
      </p:sp>
      <p:sp>
        <p:nvSpPr>
          <p:cNvPr id="10" name="Shape 7"/>
          <p:cNvSpPr/>
          <p:nvPr/>
        </p:nvSpPr>
        <p:spPr>
          <a:xfrm>
            <a:off x="1060704" y="2103120"/>
            <a:ext cx="347472" cy="347472"/>
          </a:xfrm>
          <a:prstGeom prst="ellipse">
            <a:avLst/>
          </a:prstGeom>
          <a:solidFill>
            <a:srgbClr val="31D8FF"/>
          </a:solidFill>
          <a:ln w="12700">
            <a:solidFill>
              <a:srgbClr val="31D8FF">
                <a:alpha val="0"/>
              </a:srgbClr>
            </a:solidFill>
            <a:prstDash val="solid"/>
          </a:ln>
        </p:spPr>
        <p:txBody>
          <a:bodyPr/>
          <a:lstStyle/>
          <a:p>
            <a:endParaRPr lang="en-US"/>
          </a:p>
        </p:txBody>
      </p:sp>
      <p:sp>
        <p:nvSpPr>
          <p:cNvPr id="11" name="Text 8"/>
          <p:cNvSpPr/>
          <p:nvPr/>
        </p:nvSpPr>
        <p:spPr>
          <a:xfrm>
            <a:off x="1060704" y="2167128"/>
            <a:ext cx="347472" cy="146304"/>
          </a:xfrm>
          <a:prstGeom prst="rect">
            <a:avLst/>
          </a:prstGeom>
          <a:noFill/>
          <a:ln/>
        </p:spPr>
        <p:txBody>
          <a:bodyPr wrap="square" lIns="0" tIns="0" rIns="0" bIns="0" rtlCol="0" anchor="ctr"/>
          <a:lstStyle/>
          <a:p>
            <a:pPr marL="0" indent="0" algn="ctr">
              <a:buNone/>
            </a:pPr>
            <a:r>
              <a:rPr lang="en-US" sz="900" b="1" dirty="0">
                <a:solidFill>
                  <a:srgbClr val="07101F"/>
                </a:solidFill>
                <a:latin typeface="Aptos Display" pitchFamily="34" charset="0"/>
                <a:ea typeface="Aptos Display" pitchFamily="34" charset="-122"/>
                <a:cs typeface="Aptos Display" pitchFamily="34" charset="-120"/>
              </a:rPr>
              <a:t>1</a:t>
            </a:r>
            <a:endParaRPr lang="en-US" sz="900" dirty="0"/>
          </a:p>
        </p:txBody>
      </p:sp>
      <p:sp>
        <p:nvSpPr>
          <p:cNvPr id="12" name="Text 9"/>
          <p:cNvSpPr/>
          <p:nvPr/>
        </p:nvSpPr>
        <p:spPr>
          <a:xfrm>
            <a:off x="1600200" y="2066544"/>
            <a:ext cx="1298448" cy="210312"/>
          </a:xfrm>
          <a:prstGeom prst="rect">
            <a:avLst/>
          </a:prstGeom>
          <a:noFill/>
          <a:ln/>
        </p:spPr>
        <p:txBody>
          <a:bodyPr wrap="square" lIns="0" tIns="0" rIns="0" bIns="0" rtlCol="0" anchor="ctr">
            <a:normAutofit/>
          </a:bodyPr>
          <a:lstStyle/>
          <a:p>
            <a:pPr marL="0" indent="0">
              <a:buNone/>
            </a:pPr>
            <a:r>
              <a:rPr lang="en-US" sz="1440" b="1" dirty="0">
                <a:solidFill>
                  <a:srgbClr val="F8FAFC"/>
                </a:solidFill>
                <a:latin typeface="Aptos Display" pitchFamily="34" charset="0"/>
                <a:ea typeface="Aptos Display" pitchFamily="34" charset="-122"/>
                <a:cs typeface="Aptos Display" pitchFamily="34" charset="-120"/>
              </a:rPr>
              <a:t>Scale</a:t>
            </a:r>
            <a:endParaRPr lang="en-US" sz="1440" dirty="0"/>
          </a:p>
        </p:txBody>
      </p:sp>
      <p:sp>
        <p:nvSpPr>
          <p:cNvPr id="13" name="Text 10"/>
          <p:cNvSpPr/>
          <p:nvPr/>
        </p:nvSpPr>
        <p:spPr>
          <a:xfrm>
            <a:off x="2907792" y="2057400"/>
            <a:ext cx="3090672" cy="274320"/>
          </a:xfrm>
          <a:prstGeom prst="rect">
            <a:avLst/>
          </a:prstGeom>
          <a:noFill/>
          <a:ln/>
        </p:spPr>
        <p:txBody>
          <a:bodyPr wrap="square" lIns="0" tIns="0" rIns="0" bIns="0" rtlCol="0" anchor="ctr">
            <a:normAutofit/>
          </a:bodyPr>
          <a:lstStyle/>
          <a:p>
            <a:pPr marL="0" indent="0">
              <a:buNone/>
            </a:pPr>
            <a:r>
              <a:rPr lang="en-US" sz="1040" dirty="0">
                <a:solidFill>
                  <a:srgbClr val="B6C2D5"/>
                </a:solidFill>
                <a:latin typeface="Aptos" pitchFamily="34" charset="0"/>
                <a:ea typeface="Aptos" pitchFamily="34" charset="-122"/>
                <a:cs typeface="Aptos" pitchFamily="34" charset="-120"/>
              </a:rPr>
              <a:t>Large robot fleet creates enough operational data to improve routing and system behavior.</a:t>
            </a:r>
            <a:endParaRPr lang="en-US" sz="1040" dirty="0"/>
          </a:p>
        </p:txBody>
      </p:sp>
      <p:sp>
        <p:nvSpPr>
          <p:cNvPr id="14" name="Shape 11"/>
          <p:cNvSpPr/>
          <p:nvPr/>
        </p:nvSpPr>
        <p:spPr>
          <a:xfrm>
            <a:off x="868680" y="2779776"/>
            <a:ext cx="5440680" cy="685800"/>
          </a:xfrm>
          <a:prstGeom prst="roundRect">
            <a:avLst>
              <a:gd name="adj" fmla="val 13333"/>
            </a:avLst>
          </a:prstGeom>
          <a:solidFill>
            <a:srgbClr val="12213B">
              <a:alpha val="96000"/>
            </a:srgbClr>
          </a:solidFill>
          <a:ln w="10160">
            <a:solidFill>
              <a:srgbClr val="3B82F6">
                <a:alpha val="62000"/>
              </a:srgbClr>
            </a:solidFill>
            <a:prstDash val="solid"/>
          </a:ln>
        </p:spPr>
        <p:txBody>
          <a:bodyPr/>
          <a:lstStyle/>
          <a:p>
            <a:endParaRPr lang="en-US"/>
          </a:p>
        </p:txBody>
      </p:sp>
      <p:sp>
        <p:nvSpPr>
          <p:cNvPr id="15" name="Shape 12"/>
          <p:cNvSpPr/>
          <p:nvPr/>
        </p:nvSpPr>
        <p:spPr>
          <a:xfrm>
            <a:off x="1060704" y="2944368"/>
            <a:ext cx="347472" cy="347472"/>
          </a:xfrm>
          <a:prstGeom prst="ellipse">
            <a:avLst/>
          </a:prstGeom>
          <a:solidFill>
            <a:srgbClr val="3B82F6"/>
          </a:solidFill>
          <a:ln w="12700">
            <a:solidFill>
              <a:srgbClr val="3B82F6">
                <a:alpha val="0"/>
              </a:srgbClr>
            </a:solidFill>
            <a:prstDash val="solid"/>
          </a:ln>
        </p:spPr>
        <p:txBody>
          <a:bodyPr/>
          <a:lstStyle/>
          <a:p>
            <a:endParaRPr lang="en-US"/>
          </a:p>
        </p:txBody>
      </p:sp>
      <p:sp>
        <p:nvSpPr>
          <p:cNvPr id="16" name="Text 13"/>
          <p:cNvSpPr/>
          <p:nvPr/>
        </p:nvSpPr>
        <p:spPr>
          <a:xfrm>
            <a:off x="1060704" y="3008376"/>
            <a:ext cx="347472" cy="146304"/>
          </a:xfrm>
          <a:prstGeom prst="rect">
            <a:avLst/>
          </a:prstGeom>
          <a:noFill/>
          <a:ln/>
        </p:spPr>
        <p:txBody>
          <a:bodyPr wrap="square" lIns="0" tIns="0" rIns="0" bIns="0" rtlCol="0" anchor="ctr"/>
          <a:lstStyle/>
          <a:p>
            <a:pPr marL="0" indent="0" algn="ctr">
              <a:buNone/>
            </a:pPr>
            <a:r>
              <a:rPr lang="en-US" sz="900" b="1" dirty="0">
                <a:solidFill>
                  <a:srgbClr val="07101F"/>
                </a:solidFill>
                <a:latin typeface="Aptos Display" pitchFamily="34" charset="0"/>
                <a:ea typeface="Aptos Display" pitchFamily="34" charset="-122"/>
                <a:cs typeface="Aptos Display" pitchFamily="34" charset="-120"/>
              </a:rPr>
              <a:t>2</a:t>
            </a:r>
            <a:endParaRPr lang="en-US" sz="900" dirty="0"/>
          </a:p>
        </p:txBody>
      </p:sp>
      <p:sp>
        <p:nvSpPr>
          <p:cNvPr id="17" name="Text 14"/>
          <p:cNvSpPr/>
          <p:nvPr/>
        </p:nvSpPr>
        <p:spPr>
          <a:xfrm>
            <a:off x="1600200" y="2907792"/>
            <a:ext cx="1298448" cy="210312"/>
          </a:xfrm>
          <a:prstGeom prst="rect">
            <a:avLst/>
          </a:prstGeom>
          <a:noFill/>
          <a:ln/>
        </p:spPr>
        <p:txBody>
          <a:bodyPr wrap="square" lIns="0" tIns="0" rIns="0" bIns="0" rtlCol="0" anchor="ctr">
            <a:normAutofit/>
          </a:bodyPr>
          <a:lstStyle/>
          <a:p>
            <a:pPr marL="0" indent="0">
              <a:buNone/>
            </a:pPr>
            <a:r>
              <a:rPr lang="en-US" sz="1440" b="1" dirty="0">
                <a:solidFill>
                  <a:srgbClr val="F8FAFC"/>
                </a:solidFill>
                <a:latin typeface="Aptos Display" pitchFamily="34" charset="0"/>
                <a:ea typeface="Aptos Display" pitchFamily="34" charset="-122"/>
                <a:cs typeface="Aptos Display" pitchFamily="34" charset="-120"/>
              </a:rPr>
              <a:t>Embodiment</a:t>
            </a:r>
            <a:endParaRPr lang="en-US" sz="1440" dirty="0"/>
          </a:p>
        </p:txBody>
      </p:sp>
      <p:sp>
        <p:nvSpPr>
          <p:cNvPr id="18" name="Text 15"/>
          <p:cNvSpPr/>
          <p:nvPr/>
        </p:nvSpPr>
        <p:spPr>
          <a:xfrm>
            <a:off x="2907792" y="2898648"/>
            <a:ext cx="3090672" cy="274320"/>
          </a:xfrm>
          <a:prstGeom prst="rect">
            <a:avLst/>
          </a:prstGeom>
          <a:noFill/>
          <a:ln/>
        </p:spPr>
        <p:txBody>
          <a:bodyPr wrap="square" lIns="0" tIns="0" rIns="0" bIns="0" rtlCol="0" anchor="ctr">
            <a:normAutofit/>
          </a:bodyPr>
          <a:lstStyle/>
          <a:p>
            <a:pPr marL="0" indent="0">
              <a:buNone/>
            </a:pPr>
            <a:r>
              <a:rPr lang="en-US" sz="1040" dirty="0">
                <a:solidFill>
                  <a:srgbClr val="B6C2D5"/>
                </a:solidFill>
                <a:latin typeface="Aptos" pitchFamily="34" charset="0"/>
                <a:ea typeface="Aptos" pitchFamily="34" charset="-122"/>
                <a:cs typeface="Aptos" pitchFamily="34" charset="-120"/>
              </a:rPr>
              <a:t>Mobile robots, arms, bins, conveyors, shelves, workers, and packages form one physical system.</a:t>
            </a:r>
            <a:endParaRPr lang="en-US" sz="1040" dirty="0"/>
          </a:p>
        </p:txBody>
      </p:sp>
      <p:sp>
        <p:nvSpPr>
          <p:cNvPr id="19" name="Shape 16"/>
          <p:cNvSpPr/>
          <p:nvPr/>
        </p:nvSpPr>
        <p:spPr>
          <a:xfrm>
            <a:off x="868680" y="3621024"/>
            <a:ext cx="5440680" cy="685800"/>
          </a:xfrm>
          <a:prstGeom prst="roundRect">
            <a:avLst>
              <a:gd name="adj" fmla="val 13333"/>
            </a:avLst>
          </a:prstGeom>
          <a:solidFill>
            <a:srgbClr val="12213B"/>
          </a:solidFill>
          <a:ln w="10160">
            <a:solidFill>
              <a:srgbClr val="F59E0B">
                <a:alpha val="62000"/>
              </a:srgbClr>
            </a:solidFill>
            <a:prstDash val="solid"/>
          </a:ln>
        </p:spPr>
        <p:txBody>
          <a:bodyPr/>
          <a:lstStyle/>
          <a:p>
            <a:endParaRPr lang="en-US"/>
          </a:p>
        </p:txBody>
      </p:sp>
      <p:sp>
        <p:nvSpPr>
          <p:cNvPr id="20" name="Shape 17"/>
          <p:cNvSpPr/>
          <p:nvPr/>
        </p:nvSpPr>
        <p:spPr>
          <a:xfrm>
            <a:off x="1060704" y="3785616"/>
            <a:ext cx="347472" cy="347472"/>
          </a:xfrm>
          <a:prstGeom prst="ellipse">
            <a:avLst/>
          </a:prstGeom>
          <a:solidFill>
            <a:srgbClr val="F59E0B"/>
          </a:solidFill>
          <a:ln w="12700">
            <a:solidFill>
              <a:srgbClr val="F59E0B">
                <a:alpha val="0"/>
              </a:srgbClr>
            </a:solidFill>
            <a:prstDash val="solid"/>
          </a:ln>
        </p:spPr>
        <p:txBody>
          <a:bodyPr/>
          <a:lstStyle/>
          <a:p>
            <a:endParaRPr lang="en-US"/>
          </a:p>
        </p:txBody>
      </p:sp>
      <p:sp>
        <p:nvSpPr>
          <p:cNvPr id="21" name="Text 18"/>
          <p:cNvSpPr/>
          <p:nvPr/>
        </p:nvSpPr>
        <p:spPr>
          <a:xfrm>
            <a:off x="1060704" y="3849624"/>
            <a:ext cx="347472" cy="146304"/>
          </a:xfrm>
          <a:prstGeom prst="rect">
            <a:avLst/>
          </a:prstGeom>
          <a:noFill/>
          <a:ln/>
        </p:spPr>
        <p:txBody>
          <a:bodyPr wrap="square" lIns="0" tIns="0" rIns="0" bIns="0" rtlCol="0" anchor="ctr"/>
          <a:lstStyle/>
          <a:p>
            <a:pPr marL="0" indent="0" algn="ctr">
              <a:buNone/>
            </a:pPr>
            <a:r>
              <a:rPr lang="en-US" sz="900" b="1" dirty="0">
                <a:solidFill>
                  <a:srgbClr val="07101F"/>
                </a:solidFill>
                <a:latin typeface="Aptos Display" pitchFamily="34" charset="0"/>
                <a:ea typeface="Aptos Display" pitchFamily="34" charset="-122"/>
                <a:cs typeface="Aptos Display" pitchFamily="34" charset="-120"/>
              </a:rPr>
              <a:t>3</a:t>
            </a:r>
            <a:endParaRPr lang="en-US" sz="900" dirty="0"/>
          </a:p>
        </p:txBody>
      </p:sp>
      <p:sp>
        <p:nvSpPr>
          <p:cNvPr id="22" name="Text 19"/>
          <p:cNvSpPr/>
          <p:nvPr/>
        </p:nvSpPr>
        <p:spPr>
          <a:xfrm>
            <a:off x="1600200" y="3749040"/>
            <a:ext cx="1298448" cy="210312"/>
          </a:xfrm>
          <a:prstGeom prst="rect">
            <a:avLst/>
          </a:prstGeom>
          <a:noFill/>
          <a:ln/>
        </p:spPr>
        <p:txBody>
          <a:bodyPr wrap="square" lIns="0" tIns="0" rIns="0" bIns="0" rtlCol="0" anchor="ctr">
            <a:normAutofit/>
          </a:bodyPr>
          <a:lstStyle/>
          <a:p>
            <a:pPr marL="0" indent="0">
              <a:buNone/>
            </a:pPr>
            <a:r>
              <a:rPr lang="en-US" sz="1440" b="1" dirty="0">
                <a:solidFill>
                  <a:srgbClr val="F8FAFC"/>
                </a:solidFill>
                <a:latin typeface="Aptos Display" pitchFamily="34" charset="0"/>
                <a:ea typeface="Aptos Display" pitchFamily="34" charset="-122"/>
                <a:cs typeface="Aptos Display" pitchFamily="34" charset="-120"/>
              </a:rPr>
              <a:t>Feedback</a:t>
            </a:r>
            <a:endParaRPr lang="en-US" sz="1440" dirty="0"/>
          </a:p>
        </p:txBody>
      </p:sp>
      <p:sp>
        <p:nvSpPr>
          <p:cNvPr id="23" name="Text 20"/>
          <p:cNvSpPr/>
          <p:nvPr/>
        </p:nvSpPr>
        <p:spPr>
          <a:xfrm>
            <a:off x="2907792" y="3739896"/>
            <a:ext cx="3090672" cy="274320"/>
          </a:xfrm>
          <a:prstGeom prst="rect">
            <a:avLst/>
          </a:prstGeom>
          <a:noFill/>
          <a:ln/>
        </p:spPr>
        <p:txBody>
          <a:bodyPr wrap="square" lIns="0" tIns="0" rIns="0" bIns="0" rtlCol="0" anchor="ctr">
            <a:normAutofit/>
          </a:bodyPr>
          <a:lstStyle/>
          <a:p>
            <a:pPr marL="0" indent="0">
              <a:buNone/>
            </a:pPr>
            <a:r>
              <a:rPr lang="en-US" sz="1040" dirty="0">
                <a:solidFill>
                  <a:srgbClr val="B6C2D5"/>
                </a:solidFill>
                <a:latin typeface="Aptos" pitchFamily="34" charset="0"/>
                <a:ea typeface="Aptos" pitchFamily="34" charset="-122"/>
                <a:cs typeface="Aptos" pitchFamily="34" charset="-120"/>
              </a:rPr>
              <a:t>Every movement can produce logs: location, delay, exception, handoff, and outcome.</a:t>
            </a:r>
            <a:endParaRPr lang="en-US" sz="1040" dirty="0"/>
          </a:p>
        </p:txBody>
      </p:sp>
      <p:sp>
        <p:nvSpPr>
          <p:cNvPr id="24" name="Shape 21"/>
          <p:cNvSpPr/>
          <p:nvPr/>
        </p:nvSpPr>
        <p:spPr>
          <a:xfrm>
            <a:off x="868680" y="4462272"/>
            <a:ext cx="5440680" cy="685800"/>
          </a:xfrm>
          <a:prstGeom prst="roundRect">
            <a:avLst>
              <a:gd name="adj" fmla="val 13333"/>
            </a:avLst>
          </a:prstGeom>
          <a:solidFill>
            <a:srgbClr val="12213B">
              <a:alpha val="96000"/>
            </a:srgbClr>
          </a:solidFill>
          <a:ln w="10160">
            <a:solidFill>
              <a:srgbClr val="22C55E">
                <a:alpha val="62000"/>
              </a:srgbClr>
            </a:solidFill>
            <a:prstDash val="solid"/>
          </a:ln>
        </p:spPr>
        <p:txBody>
          <a:bodyPr/>
          <a:lstStyle/>
          <a:p>
            <a:endParaRPr lang="en-US"/>
          </a:p>
        </p:txBody>
      </p:sp>
      <p:sp>
        <p:nvSpPr>
          <p:cNvPr id="25" name="Shape 22"/>
          <p:cNvSpPr/>
          <p:nvPr/>
        </p:nvSpPr>
        <p:spPr>
          <a:xfrm>
            <a:off x="1060704" y="4626864"/>
            <a:ext cx="347472" cy="347472"/>
          </a:xfrm>
          <a:prstGeom prst="ellipse">
            <a:avLst/>
          </a:prstGeom>
          <a:solidFill>
            <a:srgbClr val="22C55E"/>
          </a:solidFill>
          <a:ln w="12700">
            <a:solidFill>
              <a:srgbClr val="22C55E">
                <a:alpha val="0"/>
              </a:srgbClr>
            </a:solidFill>
            <a:prstDash val="solid"/>
          </a:ln>
        </p:spPr>
        <p:txBody>
          <a:bodyPr/>
          <a:lstStyle/>
          <a:p>
            <a:endParaRPr lang="en-US"/>
          </a:p>
        </p:txBody>
      </p:sp>
      <p:sp>
        <p:nvSpPr>
          <p:cNvPr id="26" name="Text 23"/>
          <p:cNvSpPr/>
          <p:nvPr/>
        </p:nvSpPr>
        <p:spPr>
          <a:xfrm>
            <a:off x="1060704" y="4690872"/>
            <a:ext cx="347472" cy="146304"/>
          </a:xfrm>
          <a:prstGeom prst="rect">
            <a:avLst/>
          </a:prstGeom>
          <a:noFill/>
          <a:ln/>
        </p:spPr>
        <p:txBody>
          <a:bodyPr wrap="square" lIns="0" tIns="0" rIns="0" bIns="0" rtlCol="0" anchor="ctr"/>
          <a:lstStyle/>
          <a:p>
            <a:pPr marL="0" indent="0" algn="ctr">
              <a:buNone/>
            </a:pPr>
            <a:r>
              <a:rPr lang="en-US" sz="900" b="1" dirty="0">
                <a:solidFill>
                  <a:srgbClr val="07101F"/>
                </a:solidFill>
                <a:latin typeface="Aptos Display" pitchFamily="34" charset="0"/>
                <a:ea typeface="Aptos Display" pitchFamily="34" charset="-122"/>
                <a:cs typeface="Aptos Display" pitchFamily="34" charset="-120"/>
              </a:rPr>
              <a:t>4</a:t>
            </a:r>
            <a:endParaRPr lang="en-US" sz="900" dirty="0"/>
          </a:p>
        </p:txBody>
      </p:sp>
      <p:sp>
        <p:nvSpPr>
          <p:cNvPr id="27" name="Text 24"/>
          <p:cNvSpPr/>
          <p:nvPr/>
        </p:nvSpPr>
        <p:spPr>
          <a:xfrm>
            <a:off x="1600200" y="4590288"/>
            <a:ext cx="1298448" cy="210312"/>
          </a:xfrm>
          <a:prstGeom prst="rect">
            <a:avLst/>
          </a:prstGeom>
          <a:noFill/>
          <a:ln/>
        </p:spPr>
        <p:txBody>
          <a:bodyPr wrap="square" lIns="0" tIns="0" rIns="0" bIns="0" rtlCol="0" anchor="ctr">
            <a:normAutofit/>
          </a:bodyPr>
          <a:lstStyle/>
          <a:p>
            <a:pPr marL="0" indent="0">
              <a:buNone/>
            </a:pPr>
            <a:r>
              <a:rPr lang="en-US" sz="1440" b="1" dirty="0">
                <a:solidFill>
                  <a:srgbClr val="F8FAFC"/>
                </a:solidFill>
                <a:latin typeface="Aptos Display" pitchFamily="34" charset="0"/>
                <a:ea typeface="Aptos Display" pitchFamily="34" charset="-122"/>
                <a:cs typeface="Aptos Display" pitchFamily="34" charset="-120"/>
              </a:rPr>
              <a:t>Safety boundary</a:t>
            </a:r>
            <a:endParaRPr lang="en-US" sz="1440" dirty="0"/>
          </a:p>
        </p:txBody>
      </p:sp>
      <p:sp>
        <p:nvSpPr>
          <p:cNvPr id="28" name="Text 25"/>
          <p:cNvSpPr/>
          <p:nvPr/>
        </p:nvSpPr>
        <p:spPr>
          <a:xfrm>
            <a:off x="2907792" y="4581144"/>
            <a:ext cx="3090672" cy="274320"/>
          </a:xfrm>
          <a:prstGeom prst="rect">
            <a:avLst/>
          </a:prstGeom>
          <a:noFill/>
          <a:ln/>
        </p:spPr>
        <p:txBody>
          <a:bodyPr wrap="square" lIns="0" tIns="0" rIns="0" bIns="0" rtlCol="0" anchor="ctr">
            <a:normAutofit/>
          </a:bodyPr>
          <a:lstStyle/>
          <a:p>
            <a:pPr marL="0" indent="0">
              <a:buNone/>
            </a:pPr>
            <a:r>
              <a:rPr lang="en-US" sz="1040" dirty="0">
                <a:solidFill>
                  <a:srgbClr val="B6C2D5"/>
                </a:solidFill>
                <a:latin typeface="Aptos" pitchFamily="34" charset="0"/>
                <a:ea typeface="Aptos" pitchFamily="34" charset="-122"/>
                <a:cs typeface="Aptos" pitchFamily="34" charset="-120"/>
              </a:rPr>
              <a:t>The environment is designed with zones, workstations, procedures, and human overrides.</a:t>
            </a:r>
            <a:endParaRPr lang="en-US" sz="1040" dirty="0"/>
          </a:p>
        </p:txBody>
      </p:sp>
      <p:sp>
        <p:nvSpPr>
          <p:cNvPr id="29" name="Shape 26"/>
          <p:cNvSpPr/>
          <p:nvPr/>
        </p:nvSpPr>
        <p:spPr>
          <a:xfrm>
            <a:off x="914400" y="5513832"/>
            <a:ext cx="10241280" cy="603504"/>
          </a:xfrm>
          <a:prstGeom prst="roundRect">
            <a:avLst>
              <a:gd name="adj" fmla="val 18182"/>
            </a:avLst>
          </a:prstGeom>
          <a:solidFill>
            <a:srgbClr val="0F1C33"/>
          </a:solidFill>
          <a:ln w="11430">
            <a:solidFill>
              <a:srgbClr val="31D8FF">
                <a:alpha val="55000"/>
              </a:srgbClr>
            </a:solidFill>
            <a:prstDash val="solid"/>
          </a:ln>
        </p:spPr>
        <p:txBody>
          <a:bodyPr/>
          <a:lstStyle/>
          <a:p>
            <a:endParaRPr lang="en-US"/>
          </a:p>
        </p:txBody>
      </p:sp>
      <p:sp>
        <p:nvSpPr>
          <p:cNvPr id="30" name="Shape 27"/>
          <p:cNvSpPr/>
          <p:nvPr/>
        </p:nvSpPr>
        <p:spPr>
          <a:xfrm>
            <a:off x="914400" y="5513832"/>
            <a:ext cx="64008" cy="603504"/>
          </a:xfrm>
          <a:prstGeom prst="rect">
            <a:avLst/>
          </a:prstGeom>
          <a:solidFill>
            <a:srgbClr val="31D8FF"/>
          </a:solidFill>
          <a:ln w="12700">
            <a:solidFill>
              <a:srgbClr val="31D8FF">
                <a:alpha val="0"/>
              </a:srgbClr>
            </a:solidFill>
            <a:prstDash val="solid"/>
          </a:ln>
        </p:spPr>
        <p:txBody>
          <a:bodyPr/>
          <a:lstStyle/>
          <a:p>
            <a:endParaRPr lang="en-US"/>
          </a:p>
        </p:txBody>
      </p:sp>
      <p:sp>
        <p:nvSpPr>
          <p:cNvPr id="31" name="Text 28"/>
          <p:cNvSpPr/>
          <p:nvPr/>
        </p:nvSpPr>
        <p:spPr>
          <a:xfrm>
            <a:off x="1078992" y="5623560"/>
            <a:ext cx="9948672" cy="420624"/>
          </a:xfrm>
          <a:prstGeom prst="rect">
            <a:avLst/>
          </a:prstGeom>
          <a:noFill/>
          <a:ln/>
        </p:spPr>
        <p:txBody>
          <a:bodyPr wrap="square" lIns="254" tIns="254" rIns="254" bIns="254" rtlCol="0" anchor="ctr">
            <a:normAutofit/>
          </a:bodyPr>
          <a:lstStyle/>
          <a:p>
            <a:pPr marL="0" indent="0">
              <a:buNone/>
            </a:pPr>
            <a:r>
              <a:rPr lang="en-US" sz="1440" dirty="0">
                <a:solidFill>
                  <a:srgbClr val="F8FAFC"/>
                </a:solidFill>
                <a:latin typeface="Aptos" pitchFamily="34" charset="0"/>
                <a:ea typeface="Aptos" pitchFamily="34" charset="-122"/>
                <a:cs typeface="Aptos" pitchFamily="34" charset="-120"/>
              </a:rPr>
              <a:t>The lesson is not “copy Amazon.” The lesson is how Physical AI becomes deployable when the task, environment, metrics, and escalation paths are engineered together.</a:t>
            </a:r>
            <a:endParaRPr lang="en-US" sz="1440" dirty="0"/>
          </a:p>
        </p:txBody>
      </p:sp>
      <p:sp>
        <p:nvSpPr>
          <p:cNvPr id="32" name="Shape 29"/>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3" name="Text 30"/>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PHYSICAL AI CASE STUDY</a:t>
            </a:r>
            <a:endParaRPr lang="en-US" sz="780" dirty="0"/>
          </a:p>
        </p:txBody>
      </p:sp>
      <p:sp>
        <p:nvSpPr>
          <p:cNvPr id="34" name="Text 31"/>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23</a:t>
            </a:r>
            <a:endParaRPr lang="en-US" sz="8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24</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System map: from order to physical action</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The intelligence is distributed across planning software, robot policies, controls, and human operators.</a:t>
            </a:r>
            <a:endParaRPr lang="en-US" sz="1450" dirty="0"/>
          </a:p>
        </p:txBody>
      </p:sp>
      <p:sp>
        <p:nvSpPr>
          <p:cNvPr id="7" name="Shape 5"/>
          <p:cNvSpPr/>
          <p:nvPr/>
        </p:nvSpPr>
        <p:spPr>
          <a:xfrm>
            <a:off x="2304288" y="3145536"/>
            <a:ext cx="676656" cy="0"/>
          </a:xfrm>
          <a:prstGeom prst="line">
            <a:avLst/>
          </a:prstGeom>
          <a:noFill/>
          <a:ln w="15240">
            <a:solidFill>
              <a:srgbClr val="25436C">
                <a:alpha val="90000"/>
              </a:srgbClr>
            </a:solidFill>
            <a:prstDash val="solid"/>
            <a:tailEnd type="triangle"/>
          </a:ln>
        </p:spPr>
        <p:txBody>
          <a:bodyPr/>
          <a:lstStyle/>
          <a:p>
            <a:endParaRPr lang="en-US"/>
          </a:p>
        </p:txBody>
      </p:sp>
      <p:sp>
        <p:nvSpPr>
          <p:cNvPr id="8" name="Shape 6"/>
          <p:cNvSpPr/>
          <p:nvPr/>
        </p:nvSpPr>
        <p:spPr>
          <a:xfrm>
            <a:off x="4663440" y="3145536"/>
            <a:ext cx="676656" cy="0"/>
          </a:xfrm>
          <a:prstGeom prst="line">
            <a:avLst/>
          </a:prstGeom>
          <a:noFill/>
          <a:ln w="15240">
            <a:solidFill>
              <a:srgbClr val="25436C">
                <a:alpha val="90000"/>
              </a:srgbClr>
            </a:solidFill>
            <a:prstDash val="solid"/>
            <a:tailEnd type="triangle"/>
          </a:ln>
        </p:spPr>
        <p:txBody>
          <a:bodyPr/>
          <a:lstStyle/>
          <a:p>
            <a:endParaRPr lang="en-US"/>
          </a:p>
        </p:txBody>
      </p:sp>
      <p:sp>
        <p:nvSpPr>
          <p:cNvPr id="9" name="Shape 7"/>
          <p:cNvSpPr/>
          <p:nvPr/>
        </p:nvSpPr>
        <p:spPr>
          <a:xfrm>
            <a:off x="7022592" y="3145536"/>
            <a:ext cx="676656" cy="0"/>
          </a:xfrm>
          <a:prstGeom prst="line">
            <a:avLst/>
          </a:prstGeom>
          <a:noFill/>
          <a:ln w="15240">
            <a:solidFill>
              <a:srgbClr val="25436C">
                <a:alpha val="90000"/>
              </a:srgbClr>
            </a:solidFill>
            <a:prstDash val="solid"/>
            <a:tailEnd type="triangle"/>
          </a:ln>
        </p:spPr>
        <p:txBody>
          <a:bodyPr/>
          <a:lstStyle/>
          <a:p>
            <a:endParaRPr lang="en-US"/>
          </a:p>
        </p:txBody>
      </p:sp>
      <p:sp>
        <p:nvSpPr>
          <p:cNvPr id="10" name="Shape 8"/>
          <p:cNvSpPr/>
          <p:nvPr/>
        </p:nvSpPr>
        <p:spPr>
          <a:xfrm>
            <a:off x="9381744" y="3145536"/>
            <a:ext cx="676656" cy="0"/>
          </a:xfrm>
          <a:prstGeom prst="line">
            <a:avLst/>
          </a:prstGeom>
          <a:noFill/>
          <a:ln w="15240">
            <a:solidFill>
              <a:srgbClr val="25436C">
                <a:alpha val="90000"/>
              </a:srgbClr>
            </a:solidFill>
            <a:prstDash val="solid"/>
            <a:tailEnd type="triangle"/>
          </a:ln>
        </p:spPr>
        <p:txBody>
          <a:bodyPr/>
          <a:lstStyle/>
          <a:p>
            <a:endParaRPr lang="en-US"/>
          </a:p>
        </p:txBody>
      </p:sp>
      <p:sp>
        <p:nvSpPr>
          <p:cNvPr id="11" name="Shape 9"/>
          <p:cNvSpPr/>
          <p:nvPr/>
        </p:nvSpPr>
        <p:spPr>
          <a:xfrm>
            <a:off x="10771632" y="3694176"/>
            <a:ext cx="0" cy="941832"/>
          </a:xfrm>
          <a:prstGeom prst="line">
            <a:avLst/>
          </a:prstGeom>
          <a:noFill/>
          <a:ln w="12700">
            <a:solidFill>
              <a:srgbClr val="22C55E">
                <a:alpha val="90000"/>
              </a:srgbClr>
            </a:solidFill>
            <a:prstDash val="solid"/>
            <a:tailEnd type="triangle"/>
          </a:ln>
        </p:spPr>
        <p:txBody>
          <a:bodyPr/>
          <a:lstStyle/>
          <a:p>
            <a:endParaRPr lang="en-US"/>
          </a:p>
        </p:txBody>
      </p:sp>
      <p:sp>
        <p:nvSpPr>
          <p:cNvPr id="12" name="Shape 10"/>
          <p:cNvSpPr/>
          <p:nvPr/>
        </p:nvSpPr>
        <p:spPr>
          <a:xfrm>
            <a:off x="713232" y="2670048"/>
            <a:ext cx="1691640" cy="960120"/>
          </a:xfrm>
          <a:prstGeom prst="roundRect">
            <a:avLst>
              <a:gd name="adj" fmla="val 15238"/>
            </a:avLst>
          </a:prstGeom>
          <a:solidFill>
            <a:srgbClr val="12213B"/>
          </a:solidFill>
          <a:ln w="13970">
            <a:solidFill>
              <a:srgbClr val="31D8FF">
                <a:alpha val="90000"/>
              </a:srgbClr>
            </a:solidFill>
            <a:prstDash val="solid"/>
          </a:ln>
        </p:spPr>
        <p:txBody>
          <a:bodyPr/>
          <a:lstStyle/>
          <a:p>
            <a:endParaRPr lang="en-US"/>
          </a:p>
        </p:txBody>
      </p:sp>
      <p:sp>
        <p:nvSpPr>
          <p:cNvPr id="13" name="Text 11"/>
          <p:cNvSpPr/>
          <p:nvPr/>
        </p:nvSpPr>
        <p:spPr>
          <a:xfrm>
            <a:off x="822960" y="2779776"/>
            <a:ext cx="147218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Demand</a:t>
            </a:r>
            <a:endParaRPr lang="en-US" sz="1550" dirty="0"/>
          </a:p>
        </p:txBody>
      </p:sp>
      <p:sp>
        <p:nvSpPr>
          <p:cNvPr id="14" name="Text 12"/>
          <p:cNvSpPr/>
          <p:nvPr/>
        </p:nvSpPr>
        <p:spPr>
          <a:xfrm>
            <a:off x="850392" y="3163824"/>
            <a:ext cx="1417320" cy="365760"/>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orders, promises, inventory signals</a:t>
            </a:r>
            <a:endParaRPr lang="en-US" sz="1030" dirty="0"/>
          </a:p>
        </p:txBody>
      </p:sp>
      <p:sp>
        <p:nvSpPr>
          <p:cNvPr id="15" name="Shape 13"/>
          <p:cNvSpPr/>
          <p:nvPr/>
        </p:nvSpPr>
        <p:spPr>
          <a:xfrm>
            <a:off x="2907792" y="2670048"/>
            <a:ext cx="1874520" cy="960120"/>
          </a:xfrm>
          <a:prstGeom prst="roundRect">
            <a:avLst>
              <a:gd name="adj" fmla="val 15238"/>
            </a:avLst>
          </a:prstGeom>
          <a:solidFill>
            <a:srgbClr val="12213B"/>
          </a:solidFill>
          <a:ln w="13970">
            <a:solidFill>
              <a:srgbClr val="3B82F6">
                <a:alpha val="90000"/>
              </a:srgbClr>
            </a:solidFill>
            <a:prstDash val="solid"/>
          </a:ln>
        </p:spPr>
        <p:txBody>
          <a:bodyPr/>
          <a:lstStyle/>
          <a:p>
            <a:endParaRPr lang="en-US"/>
          </a:p>
        </p:txBody>
      </p:sp>
      <p:sp>
        <p:nvSpPr>
          <p:cNvPr id="16" name="Text 14"/>
          <p:cNvSpPr/>
          <p:nvPr/>
        </p:nvSpPr>
        <p:spPr>
          <a:xfrm>
            <a:off x="3017520" y="2779776"/>
            <a:ext cx="165506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Tasking</a:t>
            </a:r>
            <a:endParaRPr lang="en-US" sz="1550" dirty="0"/>
          </a:p>
        </p:txBody>
      </p:sp>
      <p:sp>
        <p:nvSpPr>
          <p:cNvPr id="17" name="Text 15"/>
          <p:cNvSpPr/>
          <p:nvPr/>
        </p:nvSpPr>
        <p:spPr>
          <a:xfrm>
            <a:off x="3044952" y="3163824"/>
            <a:ext cx="1600200" cy="365760"/>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which item, bin, robot, station</a:t>
            </a:r>
            <a:endParaRPr lang="en-US" sz="1030" dirty="0"/>
          </a:p>
        </p:txBody>
      </p:sp>
      <p:sp>
        <p:nvSpPr>
          <p:cNvPr id="18" name="Shape 16"/>
          <p:cNvSpPr/>
          <p:nvPr/>
        </p:nvSpPr>
        <p:spPr>
          <a:xfrm>
            <a:off x="5230368" y="2670048"/>
            <a:ext cx="1920240" cy="960120"/>
          </a:xfrm>
          <a:prstGeom prst="roundRect">
            <a:avLst>
              <a:gd name="adj" fmla="val 15238"/>
            </a:avLst>
          </a:prstGeom>
          <a:solidFill>
            <a:srgbClr val="12213B"/>
          </a:solidFill>
          <a:ln w="13970">
            <a:solidFill>
              <a:srgbClr val="F59E0B">
                <a:alpha val="90000"/>
              </a:srgbClr>
            </a:solidFill>
            <a:prstDash val="solid"/>
          </a:ln>
        </p:spPr>
        <p:txBody>
          <a:bodyPr/>
          <a:lstStyle/>
          <a:p>
            <a:endParaRPr lang="en-US"/>
          </a:p>
        </p:txBody>
      </p:sp>
      <p:sp>
        <p:nvSpPr>
          <p:cNvPr id="19" name="Text 17"/>
          <p:cNvSpPr/>
          <p:nvPr/>
        </p:nvSpPr>
        <p:spPr>
          <a:xfrm>
            <a:off x="5340096" y="2779776"/>
            <a:ext cx="170078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Movement</a:t>
            </a:r>
            <a:endParaRPr lang="en-US" sz="1550" dirty="0"/>
          </a:p>
        </p:txBody>
      </p:sp>
      <p:sp>
        <p:nvSpPr>
          <p:cNvPr id="20" name="Text 18"/>
          <p:cNvSpPr/>
          <p:nvPr/>
        </p:nvSpPr>
        <p:spPr>
          <a:xfrm>
            <a:off x="5367528" y="3163824"/>
            <a:ext cx="1645920" cy="365760"/>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routes, traffic, charging, congestion</a:t>
            </a:r>
            <a:endParaRPr lang="en-US" sz="1030" dirty="0"/>
          </a:p>
        </p:txBody>
      </p:sp>
      <p:sp>
        <p:nvSpPr>
          <p:cNvPr id="21" name="Shape 19"/>
          <p:cNvSpPr/>
          <p:nvPr/>
        </p:nvSpPr>
        <p:spPr>
          <a:xfrm>
            <a:off x="7543800" y="2670048"/>
            <a:ext cx="1938528" cy="960120"/>
          </a:xfrm>
          <a:prstGeom prst="roundRect">
            <a:avLst>
              <a:gd name="adj" fmla="val 15238"/>
            </a:avLst>
          </a:prstGeom>
          <a:solidFill>
            <a:srgbClr val="12213B"/>
          </a:solidFill>
          <a:ln w="13970">
            <a:solidFill>
              <a:srgbClr val="A78BFA">
                <a:alpha val="90000"/>
              </a:srgbClr>
            </a:solidFill>
            <a:prstDash val="solid"/>
          </a:ln>
        </p:spPr>
        <p:txBody>
          <a:bodyPr/>
          <a:lstStyle/>
          <a:p>
            <a:endParaRPr lang="en-US"/>
          </a:p>
        </p:txBody>
      </p:sp>
      <p:sp>
        <p:nvSpPr>
          <p:cNvPr id="22" name="Text 20"/>
          <p:cNvSpPr/>
          <p:nvPr/>
        </p:nvSpPr>
        <p:spPr>
          <a:xfrm>
            <a:off x="7653528" y="2779776"/>
            <a:ext cx="1719072"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Manipulation</a:t>
            </a:r>
            <a:endParaRPr lang="en-US" sz="1550" dirty="0"/>
          </a:p>
        </p:txBody>
      </p:sp>
      <p:sp>
        <p:nvSpPr>
          <p:cNvPr id="23" name="Text 21"/>
          <p:cNvSpPr/>
          <p:nvPr/>
        </p:nvSpPr>
        <p:spPr>
          <a:xfrm>
            <a:off x="7680960" y="3163824"/>
            <a:ext cx="1664208" cy="365760"/>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pick, stow, sort, pack</a:t>
            </a:r>
            <a:endParaRPr lang="en-US" sz="1030" dirty="0"/>
          </a:p>
        </p:txBody>
      </p:sp>
      <p:sp>
        <p:nvSpPr>
          <p:cNvPr id="24" name="Shape 22"/>
          <p:cNvSpPr/>
          <p:nvPr/>
        </p:nvSpPr>
        <p:spPr>
          <a:xfrm>
            <a:off x="9985248" y="2670048"/>
            <a:ext cx="1783080" cy="960120"/>
          </a:xfrm>
          <a:prstGeom prst="roundRect">
            <a:avLst>
              <a:gd name="adj" fmla="val 15238"/>
            </a:avLst>
          </a:prstGeom>
          <a:solidFill>
            <a:srgbClr val="12213B"/>
          </a:solidFill>
          <a:ln w="13970">
            <a:solidFill>
              <a:srgbClr val="22C55E">
                <a:alpha val="90000"/>
              </a:srgbClr>
            </a:solidFill>
            <a:prstDash val="solid"/>
          </a:ln>
        </p:spPr>
        <p:txBody>
          <a:bodyPr/>
          <a:lstStyle/>
          <a:p>
            <a:endParaRPr lang="en-US"/>
          </a:p>
        </p:txBody>
      </p:sp>
      <p:sp>
        <p:nvSpPr>
          <p:cNvPr id="25" name="Text 23"/>
          <p:cNvSpPr/>
          <p:nvPr/>
        </p:nvSpPr>
        <p:spPr>
          <a:xfrm>
            <a:off x="10094976" y="2779776"/>
            <a:ext cx="1563624" cy="310896"/>
          </a:xfrm>
          <a:prstGeom prst="rect">
            <a:avLst/>
          </a:prstGeom>
          <a:noFill/>
          <a:ln/>
        </p:spPr>
        <p:txBody>
          <a:bodyPr wrap="square" lIns="0" tIns="0" rIns="0" bIns="0" rtlCol="0" anchor="ctr">
            <a:normAutofit/>
          </a:bodyP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Human handoff</a:t>
            </a:r>
            <a:endParaRPr lang="en-US" sz="1550" dirty="0"/>
          </a:p>
        </p:txBody>
      </p:sp>
      <p:sp>
        <p:nvSpPr>
          <p:cNvPr id="26" name="Text 24"/>
          <p:cNvSpPr/>
          <p:nvPr/>
        </p:nvSpPr>
        <p:spPr>
          <a:xfrm>
            <a:off x="10122408" y="3163824"/>
            <a:ext cx="1508760" cy="365760"/>
          </a:xfrm>
          <a:prstGeom prst="rect">
            <a:avLst/>
          </a:prstGeom>
          <a:noFill/>
          <a:ln/>
        </p:spPr>
        <p:txBody>
          <a:bodyPr wrap="square" lIns="0" tIns="0" rIns="0" bIns="0" rtlCol="0" anchor="ctr">
            <a:normAutofit/>
          </a:bodyPr>
          <a:lstStyle/>
          <a:p>
            <a:pPr marL="0" indent="0" algn="ctr">
              <a:buNone/>
            </a:pPr>
            <a:r>
              <a:rPr lang="en-US" sz="1030" dirty="0">
                <a:solidFill>
                  <a:srgbClr val="B6C2D5"/>
                </a:solidFill>
                <a:latin typeface="Aptos" pitchFamily="34" charset="0"/>
                <a:ea typeface="Aptos" pitchFamily="34" charset="-122"/>
                <a:cs typeface="Aptos" pitchFamily="34" charset="-120"/>
              </a:rPr>
              <a:t>exceptions, coaching, supervision</a:t>
            </a:r>
            <a:endParaRPr lang="en-US" sz="1030" dirty="0"/>
          </a:p>
        </p:txBody>
      </p:sp>
      <p:sp>
        <p:nvSpPr>
          <p:cNvPr id="27" name="Shape 25"/>
          <p:cNvSpPr/>
          <p:nvPr/>
        </p:nvSpPr>
        <p:spPr>
          <a:xfrm>
            <a:off x="3877056" y="4736592"/>
            <a:ext cx="4343400" cy="822960"/>
          </a:xfrm>
          <a:prstGeom prst="roundRect">
            <a:avLst>
              <a:gd name="adj" fmla="val 13333"/>
            </a:avLst>
          </a:prstGeom>
          <a:solidFill>
            <a:srgbClr val="12213B"/>
          </a:solidFill>
          <a:ln w="11430">
            <a:solidFill>
              <a:srgbClr val="22C55E">
                <a:alpha val="68000"/>
              </a:srgbClr>
            </a:solidFill>
            <a:prstDash val="solid"/>
          </a:ln>
        </p:spPr>
        <p:txBody>
          <a:bodyPr/>
          <a:lstStyle/>
          <a:p>
            <a:endParaRPr lang="en-US"/>
          </a:p>
        </p:txBody>
      </p:sp>
      <p:sp>
        <p:nvSpPr>
          <p:cNvPr id="28" name="Text 26"/>
          <p:cNvSpPr/>
          <p:nvPr/>
        </p:nvSpPr>
        <p:spPr>
          <a:xfrm>
            <a:off x="4169664" y="4892040"/>
            <a:ext cx="3749040" cy="228600"/>
          </a:xfrm>
          <a:prstGeom prst="rect">
            <a:avLst/>
          </a:prstGeom>
          <a:noFill/>
          <a:ln/>
        </p:spPr>
        <p:txBody>
          <a:bodyPr wrap="square" lIns="0" tIns="0" rIns="0" bIns="0" rtlCol="0" anchor="ctr"/>
          <a:lstStyle/>
          <a:p>
            <a:pPr marL="0" indent="0" algn="ctr">
              <a:buNone/>
            </a:pPr>
            <a:r>
              <a:rPr lang="en-US" sz="1550" b="1" dirty="0">
                <a:solidFill>
                  <a:srgbClr val="F8FAFC"/>
                </a:solidFill>
                <a:latin typeface="Aptos Display" pitchFamily="34" charset="0"/>
                <a:ea typeface="Aptos Display" pitchFamily="34" charset="-122"/>
                <a:cs typeface="Aptos Display" pitchFamily="34" charset="-120"/>
              </a:rPr>
              <a:t>Operational data flywheel</a:t>
            </a:r>
            <a:endParaRPr lang="en-US" sz="1550" dirty="0"/>
          </a:p>
        </p:txBody>
      </p:sp>
      <p:sp>
        <p:nvSpPr>
          <p:cNvPr id="29" name="Text 27"/>
          <p:cNvSpPr/>
          <p:nvPr/>
        </p:nvSpPr>
        <p:spPr>
          <a:xfrm>
            <a:off x="4096512" y="5193792"/>
            <a:ext cx="3886200" cy="164592"/>
          </a:xfrm>
          <a:prstGeom prst="rect">
            <a:avLst/>
          </a:prstGeom>
          <a:noFill/>
          <a:ln/>
        </p:spPr>
        <p:txBody>
          <a:bodyPr wrap="square" lIns="0" tIns="0" rIns="0" bIns="0" rtlCol="0" anchor="ctr">
            <a:normAutofit/>
          </a:bodyPr>
          <a:lstStyle/>
          <a:p>
            <a:pPr marL="0" indent="0" algn="ctr">
              <a:buNone/>
            </a:pPr>
            <a:r>
              <a:rPr lang="en-US" sz="940" dirty="0">
                <a:solidFill>
                  <a:srgbClr val="B6C2D5"/>
                </a:solidFill>
                <a:latin typeface="Aptos" pitchFamily="34" charset="0"/>
                <a:ea typeface="Aptos" pitchFamily="34" charset="-122"/>
                <a:cs typeface="Aptos" pitchFamily="34" charset="-120"/>
              </a:rPr>
              <a:t>logs → exceptions → retraining → deployment gates → monitoring</a:t>
            </a:r>
            <a:endParaRPr lang="en-US" sz="940" dirty="0"/>
          </a:p>
        </p:txBody>
      </p:sp>
      <p:sp>
        <p:nvSpPr>
          <p:cNvPr id="30" name="Shape 28"/>
          <p:cNvSpPr/>
          <p:nvPr/>
        </p:nvSpPr>
        <p:spPr>
          <a:xfrm>
            <a:off x="950976" y="1947672"/>
            <a:ext cx="10058400" cy="502920"/>
          </a:xfrm>
          <a:prstGeom prst="roundRect">
            <a:avLst>
              <a:gd name="adj" fmla="val 21818"/>
            </a:avLst>
          </a:prstGeom>
          <a:solidFill>
            <a:srgbClr val="0F1C33"/>
          </a:solidFill>
          <a:ln w="11430">
            <a:solidFill>
              <a:srgbClr val="31D8FF">
                <a:alpha val="55000"/>
              </a:srgbClr>
            </a:solidFill>
            <a:prstDash val="solid"/>
          </a:ln>
        </p:spPr>
        <p:txBody>
          <a:bodyPr/>
          <a:lstStyle/>
          <a:p>
            <a:endParaRPr lang="en-US"/>
          </a:p>
        </p:txBody>
      </p:sp>
      <p:sp>
        <p:nvSpPr>
          <p:cNvPr id="31" name="Shape 29"/>
          <p:cNvSpPr/>
          <p:nvPr/>
        </p:nvSpPr>
        <p:spPr>
          <a:xfrm>
            <a:off x="950976" y="1947672"/>
            <a:ext cx="64008" cy="502920"/>
          </a:xfrm>
          <a:prstGeom prst="rect">
            <a:avLst/>
          </a:prstGeom>
          <a:solidFill>
            <a:srgbClr val="31D8FF"/>
          </a:solidFill>
          <a:ln w="12700">
            <a:solidFill>
              <a:srgbClr val="31D8FF">
                <a:alpha val="0"/>
              </a:srgbClr>
            </a:solidFill>
            <a:prstDash val="solid"/>
          </a:ln>
        </p:spPr>
        <p:txBody>
          <a:bodyPr/>
          <a:lstStyle/>
          <a:p>
            <a:endParaRPr lang="en-US"/>
          </a:p>
        </p:txBody>
      </p:sp>
      <p:sp>
        <p:nvSpPr>
          <p:cNvPr id="32" name="Text 30"/>
          <p:cNvSpPr/>
          <p:nvPr/>
        </p:nvSpPr>
        <p:spPr>
          <a:xfrm>
            <a:off x="1115568" y="2057400"/>
            <a:ext cx="9765792" cy="320040"/>
          </a:xfrm>
          <a:prstGeom prst="rect">
            <a:avLst/>
          </a:prstGeom>
          <a:noFill/>
          <a:ln/>
        </p:spPr>
        <p:txBody>
          <a:bodyPr wrap="square" lIns="254" tIns="254" rIns="254" bIns="254" rtlCol="0" anchor="ctr">
            <a:normAutofit/>
          </a:bodyPr>
          <a:lstStyle/>
          <a:p>
            <a:pPr marL="0" indent="0">
              <a:buNone/>
            </a:pPr>
            <a:r>
              <a:rPr lang="en-US" sz="1580" dirty="0">
                <a:solidFill>
                  <a:srgbClr val="F8FAFC"/>
                </a:solidFill>
                <a:latin typeface="Aptos" pitchFamily="34" charset="0"/>
                <a:ea typeface="Aptos" pitchFamily="34" charset="-122"/>
                <a:cs typeface="Aptos" pitchFamily="34" charset="-120"/>
              </a:rPr>
              <a:t>Physical AI case studies should be read as systems, not as single-model demos.</a:t>
            </a:r>
            <a:endParaRPr lang="en-US" sz="1580" dirty="0"/>
          </a:p>
        </p:txBody>
      </p:sp>
      <p:sp>
        <p:nvSpPr>
          <p:cNvPr id="33" name="Shape 31"/>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4" name="Text 32"/>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PHYSICAL AI CASE STUDY</a:t>
            </a:r>
            <a:endParaRPr lang="en-US" sz="780" dirty="0"/>
          </a:p>
        </p:txBody>
      </p:sp>
      <p:sp>
        <p:nvSpPr>
          <p:cNvPr id="35" name="Text 33"/>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24</a:t>
            </a:r>
            <a:endParaRPr lang="en-US" sz="8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mnt/data/a_wide_cinematic_view_of_a_high_tech_warehouse_fu_batch_3.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F">
              <a:alpha val="60000"/>
            </a:srgbClr>
          </a:solidFill>
          <a:ln w="12700">
            <a:solidFill>
              <a:srgbClr val="07101F">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7101F">
              <a:alpha val="65000"/>
            </a:srgbClr>
          </a:solidFill>
          <a:ln w="12700">
            <a:solidFill>
              <a:srgbClr val="07101F">
                <a:alpha val="0"/>
              </a:srgbClr>
            </a:solidFill>
            <a:prstDash val="solid"/>
          </a:ln>
        </p:spPr>
        <p:txBody>
          <a:bodyPr/>
          <a:lstStyle/>
          <a:p>
            <a:endParaRPr lang="en-US"/>
          </a:p>
        </p:txBody>
      </p:sp>
      <p:sp>
        <p:nvSpPr>
          <p:cNvPr id="5" name="Text 2"/>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25</a:t>
            </a:r>
            <a:endParaRPr lang="en-US" sz="950" dirty="0"/>
          </a:p>
        </p:txBody>
      </p:sp>
      <p:sp>
        <p:nvSpPr>
          <p:cNvPr id="6" name="Text 3"/>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Fleet-level Physical AI: DeepFleet</a:t>
            </a:r>
            <a:endParaRPr lang="en-US" sz="3100" dirty="0"/>
          </a:p>
        </p:txBody>
      </p:sp>
      <p:sp>
        <p:nvSpPr>
          <p:cNvPr id="7" name="Shape 4"/>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8" name="Text 5"/>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At fleet scale, routing becomes a learning problem: reduce congestion, travel time, and idle motion.</a:t>
            </a:r>
            <a:endParaRPr lang="en-US" sz="1450" dirty="0"/>
          </a:p>
        </p:txBody>
      </p:sp>
      <p:sp>
        <p:nvSpPr>
          <p:cNvPr id="9" name="Shape 6"/>
          <p:cNvSpPr/>
          <p:nvPr/>
        </p:nvSpPr>
        <p:spPr>
          <a:xfrm>
            <a:off x="868680" y="2121408"/>
            <a:ext cx="2331720" cy="1207008"/>
          </a:xfrm>
          <a:prstGeom prst="roundRect">
            <a:avLst>
              <a:gd name="adj" fmla="val 7576"/>
            </a:avLst>
          </a:prstGeom>
          <a:solidFill>
            <a:srgbClr val="12213B">
              <a:alpha val="97000"/>
            </a:srgbClr>
          </a:solidFill>
          <a:ln w="10160">
            <a:solidFill>
              <a:srgbClr val="31D8FF">
                <a:alpha val="55000"/>
              </a:srgbClr>
            </a:solidFill>
            <a:prstDash val="solid"/>
          </a:ln>
        </p:spPr>
        <p:txBody>
          <a:bodyPr/>
          <a:lstStyle/>
          <a:p>
            <a:endParaRPr lang="en-US"/>
          </a:p>
        </p:txBody>
      </p:sp>
      <p:sp>
        <p:nvSpPr>
          <p:cNvPr id="10" name="Text 7"/>
          <p:cNvSpPr/>
          <p:nvPr/>
        </p:nvSpPr>
        <p:spPr>
          <a:xfrm>
            <a:off x="996696" y="2267712"/>
            <a:ext cx="2075688" cy="420624"/>
          </a:xfrm>
          <a:prstGeom prst="rect">
            <a:avLst/>
          </a:prstGeom>
          <a:noFill/>
          <a:ln/>
        </p:spPr>
        <p:txBody>
          <a:bodyPr wrap="square" lIns="0" tIns="0" rIns="0" bIns="0" rtlCol="0" anchor="ctr">
            <a:normAutofit/>
          </a:bodyPr>
          <a:lstStyle/>
          <a:p>
            <a:pPr marL="0" indent="0">
              <a:buNone/>
            </a:pPr>
            <a:r>
              <a:rPr lang="en-US" sz="2800" b="1" dirty="0">
                <a:solidFill>
                  <a:srgbClr val="31D8FF"/>
                </a:solidFill>
                <a:latin typeface="Aptos Display" pitchFamily="34" charset="0"/>
                <a:ea typeface="Aptos Display" pitchFamily="34" charset="-122"/>
                <a:cs typeface="Aptos Display" pitchFamily="34" charset="-120"/>
              </a:rPr>
              <a:t>1M+</a:t>
            </a:r>
            <a:endParaRPr lang="en-US" sz="2800" dirty="0"/>
          </a:p>
        </p:txBody>
      </p:sp>
      <p:sp>
        <p:nvSpPr>
          <p:cNvPr id="11" name="Text 8"/>
          <p:cNvSpPr/>
          <p:nvPr/>
        </p:nvSpPr>
        <p:spPr>
          <a:xfrm>
            <a:off x="1014984" y="2825496"/>
            <a:ext cx="2039112" cy="457200"/>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robots in operations</a:t>
            </a:r>
            <a:endParaRPr lang="en-US" sz="1000" dirty="0"/>
          </a:p>
        </p:txBody>
      </p:sp>
      <p:sp>
        <p:nvSpPr>
          <p:cNvPr id="12" name="Shape 9"/>
          <p:cNvSpPr/>
          <p:nvPr/>
        </p:nvSpPr>
        <p:spPr>
          <a:xfrm>
            <a:off x="3456432" y="2121408"/>
            <a:ext cx="2514600" cy="1207008"/>
          </a:xfrm>
          <a:prstGeom prst="roundRect">
            <a:avLst>
              <a:gd name="adj" fmla="val 7576"/>
            </a:avLst>
          </a:prstGeom>
          <a:solidFill>
            <a:srgbClr val="12213B">
              <a:alpha val="97000"/>
            </a:srgbClr>
          </a:solidFill>
          <a:ln w="10160">
            <a:solidFill>
              <a:srgbClr val="22C55E">
                <a:alpha val="55000"/>
              </a:srgbClr>
            </a:solidFill>
            <a:prstDash val="solid"/>
          </a:ln>
        </p:spPr>
        <p:txBody>
          <a:bodyPr/>
          <a:lstStyle/>
          <a:p>
            <a:endParaRPr lang="en-US"/>
          </a:p>
        </p:txBody>
      </p:sp>
      <p:sp>
        <p:nvSpPr>
          <p:cNvPr id="13" name="Text 10"/>
          <p:cNvSpPr/>
          <p:nvPr/>
        </p:nvSpPr>
        <p:spPr>
          <a:xfrm>
            <a:off x="3584448" y="2267712"/>
            <a:ext cx="2258568" cy="420624"/>
          </a:xfrm>
          <a:prstGeom prst="rect">
            <a:avLst/>
          </a:prstGeom>
          <a:noFill/>
          <a:ln/>
        </p:spPr>
        <p:txBody>
          <a:bodyPr wrap="square" lIns="0" tIns="0" rIns="0" bIns="0" rtlCol="0" anchor="ctr">
            <a:normAutofit/>
          </a:bodyPr>
          <a:lstStyle/>
          <a:p>
            <a:pPr marL="0" indent="0">
              <a:buNone/>
            </a:pPr>
            <a:r>
              <a:rPr lang="en-US" sz="2800" b="1" dirty="0">
                <a:solidFill>
                  <a:srgbClr val="22C55E"/>
                </a:solidFill>
                <a:latin typeface="Aptos Display" pitchFamily="34" charset="0"/>
                <a:ea typeface="Aptos Display" pitchFamily="34" charset="-122"/>
                <a:cs typeface="Aptos Display" pitchFamily="34" charset="-120"/>
              </a:rPr>
              <a:t>+10%</a:t>
            </a:r>
            <a:endParaRPr lang="en-US" sz="2800" dirty="0"/>
          </a:p>
        </p:txBody>
      </p:sp>
      <p:sp>
        <p:nvSpPr>
          <p:cNvPr id="14" name="Text 11"/>
          <p:cNvSpPr/>
          <p:nvPr/>
        </p:nvSpPr>
        <p:spPr>
          <a:xfrm>
            <a:off x="3602736" y="2825496"/>
            <a:ext cx="2221992" cy="457200"/>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reported robot travel efficiency</a:t>
            </a:r>
            <a:endParaRPr lang="en-US" sz="1000" dirty="0"/>
          </a:p>
        </p:txBody>
      </p:sp>
      <p:sp>
        <p:nvSpPr>
          <p:cNvPr id="15" name="Shape 12"/>
          <p:cNvSpPr/>
          <p:nvPr/>
        </p:nvSpPr>
        <p:spPr>
          <a:xfrm>
            <a:off x="6236208" y="2121408"/>
            <a:ext cx="2331720" cy="1207008"/>
          </a:xfrm>
          <a:prstGeom prst="roundRect">
            <a:avLst>
              <a:gd name="adj" fmla="val 7576"/>
            </a:avLst>
          </a:prstGeom>
          <a:solidFill>
            <a:srgbClr val="12213B">
              <a:alpha val="97000"/>
            </a:srgbClr>
          </a:solidFill>
          <a:ln w="10160">
            <a:solidFill>
              <a:srgbClr val="F59E0B">
                <a:alpha val="55000"/>
              </a:srgbClr>
            </a:solidFill>
            <a:prstDash val="solid"/>
          </a:ln>
        </p:spPr>
        <p:txBody>
          <a:bodyPr/>
          <a:lstStyle/>
          <a:p>
            <a:endParaRPr lang="en-US"/>
          </a:p>
        </p:txBody>
      </p:sp>
      <p:sp>
        <p:nvSpPr>
          <p:cNvPr id="16" name="Text 13"/>
          <p:cNvSpPr/>
          <p:nvPr/>
        </p:nvSpPr>
        <p:spPr>
          <a:xfrm>
            <a:off x="6364224" y="2267712"/>
            <a:ext cx="2075688" cy="420624"/>
          </a:xfrm>
          <a:prstGeom prst="rect">
            <a:avLst/>
          </a:prstGeom>
          <a:noFill/>
          <a:ln/>
        </p:spPr>
        <p:txBody>
          <a:bodyPr wrap="square" lIns="0" tIns="0" rIns="0" bIns="0" rtlCol="0" anchor="ctr">
            <a:normAutofit/>
          </a:bodyPr>
          <a:lstStyle/>
          <a:p>
            <a:pPr marL="0" indent="0">
              <a:buNone/>
            </a:pPr>
            <a:r>
              <a:rPr lang="en-US" sz="2800" b="1" dirty="0">
                <a:solidFill>
                  <a:srgbClr val="F59E0B"/>
                </a:solidFill>
                <a:latin typeface="Aptos Display" pitchFamily="34" charset="0"/>
                <a:ea typeface="Aptos Display" pitchFamily="34" charset="-122"/>
                <a:cs typeface="Aptos Display" pitchFamily="34" charset="-120"/>
              </a:rPr>
              <a:t>300+</a:t>
            </a:r>
            <a:endParaRPr lang="en-US" sz="2800" dirty="0"/>
          </a:p>
        </p:txBody>
      </p:sp>
      <p:sp>
        <p:nvSpPr>
          <p:cNvPr id="17" name="Text 14"/>
          <p:cNvSpPr/>
          <p:nvPr/>
        </p:nvSpPr>
        <p:spPr>
          <a:xfrm>
            <a:off x="6382512" y="2825496"/>
            <a:ext cx="2039112" cy="457200"/>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facilities in robot network</a:t>
            </a:r>
            <a:endParaRPr lang="en-US" sz="1000" dirty="0"/>
          </a:p>
        </p:txBody>
      </p:sp>
      <p:sp>
        <p:nvSpPr>
          <p:cNvPr id="18" name="Shape 15"/>
          <p:cNvSpPr/>
          <p:nvPr/>
        </p:nvSpPr>
        <p:spPr>
          <a:xfrm>
            <a:off x="8915400" y="2121408"/>
            <a:ext cx="2331720" cy="1207008"/>
          </a:xfrm>
          <a:prstGeom prst="roundRect">
            <a:avLst>
              <a:gd name="adj" fmla="val 7576"/>
            </a:avLst>
          </a:prstGeom>
          <a:solidFill>
            <a:srgbClr val="12213B">
              <a:alpha val="98000"/>
            </a:srgbClr>
          </a:solidFill>
          <a:ln w="10160">
            <a:solidFill>
              <a:srgbClr val="A78BFA">
                <a:alpha val="55000"/>
              </a:srgbClr>
            </a:solidFill>
            <a:prstDash val="solid"/>
          </a:ln>
        </p:spPr>
        <p:txBody>
          <a:bodyPr/>
          <a:lstStyle/>
          <a:p>
            <a:endParaRPr lang="en-US"/>
          </a:p>
        </p:txBody>
      </p:sp>
      <p:sp>
        <p:nvSpPr>
          <p:cNvPr id="19" name="Text 16"/>
          <p:cNvSpPr/>
          <p:nvPr/>
        </p:nvSpPr>
        <p:spPr>
          <a:xfrm>
            <a:off x="9162288" y="2322576"/>
            <a:ext cx="1828800" cy="201168"/>
          </a:xfrm>
          <a:prstGeom prst="rect">
            <a:avLst/>
          </a:prstGeom>
          <a:noFill/>
          <a:ln/>
        </p:spPr>
        <p:txBody>
          <a:bodyPr wrap="square" lIns="0" tIns="0" rIns="0" bIns="0" rtlCol="0" anchor="ctr"/>
          <a:lstStyle/>
          <a:p>
            <a:pPr marL="0" indent="0" algn="ctr">
              <a:buNone/>
            </a:pPr>
            <a:r>
              <a:rPr lang="en-US" sz="1000" b="1" dirty="0">
                <a:solidFill>
                  <a:srgbClr val="A78BFA"/>
                </a:solidFill>
                <a:latin typeface="Aptos" pitchFamily="34" charset="0"/>
                <a:ea typeface="Aptos" pitchFamily="34" charset="-122"/>
                <a:cs typeface="Aptos" pitchFamily="34" charset="-120"/>
              </a:rPr>
              <a:t>Core idea</a:t>
            </a:r>
            <a:endParaRPr lang="en-US" sz="1000" dirty="0"/>
          </a:p>
        </p:txBody>
      </p:sp>
      <p:sp>
        <p:nvSpPr>
          <p:cNvPr id="20" name="Text 17"/>
          <p:cNvSpPr/>
          <p:nvPr/>
        </p:nvSpPr>
        <p:spPr>
          <a:xfrm>
            <a:off x="9144000" y="2670048"/>
            <a:ext cx="1874520" cy="219456"/>
          </a:xfrm>
          <a:prstGeom prst="rect">
            <a:avLst/>
          </a:prstGeom>
          <a:noFill/>
          <a:ln/>
        </p:spPr>
        <p:txBody>
          <a:bodyPr wrap="square" lIns="0" tIns="0" rIns="0" bIns="0" rtlCol="0" anchor="ctr">
            <a:normAutofit/>
          </a:bodyPr>
          <a:lstStyle/>
          <a:p>
            <a:pPr marL="0" indent="0" algn="ctr">
              <a:buNone/>
            </a:pPr>
            <a:r>
              <a:rPr lang="en-US" sz="1420" b="1" dirty="0">
                <a:solidFill>
                  <a:srgbClr val="F8FAFC"/>
                </a:solidFill>
                <a:latin typeface="Aptos Display" pitchFamily="34" charset="0"/>
                <a:ea typeface="Aptos Display" pitchFamily="34" charset="-122"/>
                <a:cs typeface="Aptos Display" pitchFamily="34" charset="-120"/>
              </a:rPr>
              <a:t>traffic management for robots</a:t>
            </a:r>
            <a:endParaRPr lang="en-US" sz="1420" dirty="0"/>
          </a:p>
        </p:txBody>
      </p:sp>
      <p:sp>
        <p:nvSpPr>
          <p:cNvPr id="21" name="Shape 18"/>
          <p:cNvSpPr/>
          <p:nvPr/>
        </p:nvSpPr>
        <p:spPr>
          <a:xfrm>
            <a:off x="960120" y="4160520"/>
            <a:ext cx="2331720" cy="914400"/>
          </a:xfrm>
          <a:prstGeom prst="roundRect">
            <a:avLst>
              <a:gd name="adj" fmla="val 10000"/>
            </a:avLst>
          </a:prstGeom>
          <a:solidFill>
            <a:srgbClr val="07101F">
              <a:alpha val="92000"/>
            </a:srgbClr>
          </a:solidFill>
          <a:ln w="11430">
            <a:solidFill>
              <a:srgbClr val="31D8FF">
                <a:alpha val="62000"/>
              </a:srgbClr>
            </a:solidFill>
            <a:prstDash val="solid"/>
          </a:ln>
        </p:spPr>
        <p:txBody>
          <a:bodyPr/>
          <a:lstStyle/>
          <a:p>
            <a:endParaRPr lang="en-US"/>
          </a:p>
        </p:txBody>
      </p:sp>
      <p:sp>
        <p:nvSpPr>
          <p:cNvPr id="22" name="Text 19"/>
          <p:cNvSpPr/>
          <p:nvPr/>
        </p:nvSpPr>
        <p:spPr>
          <a:xfrm>
            <a:off x="1124712" y="4315968"/>
            <a:ext cx="1993392" cy="228600"/>
          </a:xfrm>
          <a:prstGeom prst="rect">
            <a:avLst/>
          </a:prstGeom>
          <a:noFill/>
          <a:ln/>
        </p:spPr>
        <p:txBody>
          <a:bodyPr wrap="square" lIns="0" tIns="0" rIns="0" bIns="0" rtlCol="0" anchor="ctr"/>
          <a:lstStyle/>
          <a:p>
            <a:pPr marL="0" indent="0" algn="ctr">
              <a:buNone/>
            </a:pPr>
            <a:r>
              <a:rPr lang="en-US" sz="1520" b="1" dirty="0">
                <a:solidFill>
                  <a:srgbClr val="F8FAFC"/>
                </a:solidFill>
                <a:latin typeface="Aptos Display" pitchFamily="34" charset="0"/>
                <a:ea typeface="Aptos Display" pitchFamily="34" charset="-122"/>
                <a:cs typeface="Aptos Display" pitchFamily="34" charset="-120"/>
              </a:rPr>
              <a:t>Observe</a:t>
            </a:r>
            <a:endParaRPr lang="en-US" sz="1520" dirty="0"/>
          </a:p>
        </p:txBody>
      </p:sp>
      <p:sp>
        <p:nvSpPr>
          <p:cNvPr id="23" name="Text 20"/>
          <p:cNvSpPr/>
          <p:nvPr/>
        </p:nvSpPr>
        <p:spPr>
          <a:xfrm>
            <a:off x="1179576" y="4626864"/>
            <a:ext cx="1874520" cy="256032"/>
          </a:xfrm>
          <a:prstGeom prst="rect">
            <a:avLst/>
          </a:prstGeom>
          <a:noFill/>
          <a:ln/>
        </p:spPr>
        <p:txBody>
          <a:bodyPr wrap="square" lIns="0" tIns="0" rIns="0" bIns="0" rtlCol="0" anchor="ctr">
            <a:normAutofit/>
          </a:bodyPr>
          <a:lstStyle/>
          <a:p>
            <a:pPr marL="0" indent="0" algn="ctr">
              <a:buNone/>
            </a:pPr>
            <a:r>
              <a:rPr lang="en-US" sz="970" dirty="0">
                <a:solidFill>
                  <a:srgbClr val="B6C2D5"/>
                </a:solidFill>
                <a:latin typeface="Aptos" pitchFamily="34" charset="0"/>
                <a:ea typeface="Aptos" pitchFamily="34" charset="-122"/>
                <a:cs typeface="Aptos" pitchFamily="34" charset="-120"/>
              </a:rPr>
              <a:t>inventory movement</a:t>
            </a:r>
            <a:endParaRPr lang="en-US" sz="970" dirty="0"/>
          </a:p>
          <a:p>
            <a:pPr marL="0" indent="0" algn="ctr">
              <a:buNone/>
            </a:pPr>
            <a:r>
              <a:rPr lang="en-US" sz="970" dirty="0">
                <a:solidFill>
                  <a:srgbClr val="B6C2D5"/>
                </a:solidFill>
                <a:latin typeface="Aptos" pitchFamily="34" charset="0"/>
                <a:ea typeface="Aptos" pitchFamily="34" charset="-122"/>
                <a:cs typeface="Aptos" pitchFamily="34" charset="-120"/>
              </a:rPr>
              <a:t>and robot state</a:t>
            </a:r>
            <a:endParaRPr lang="en-US" sz="970" dirty="0"/>
          </a:p>
        </p:txBody>
      </p:sp>
      <p:sp>
        <p:nvSpPr>
          <p:cNvPr id="24" name="Shape 21"/>
          <p:cNvSpPr/>
          <p:nvPr/>
        </p:nvSpPr>
        <p:spPr>
          <a:xfrm>
            <a:off x="3374136" y="4617720"/>
            <a:ext cx="265176" cy="0"/>
          </a:xfrm>
          <a:prstGeom prst="line">
            <a:avLst/>
          </a:prstGeom>
          <a:noFill/>
          <a:ln w="12700">
            <a:solidFill>
              <a:srgbClr val="25436C">
                <a:alpha val="90000"/>
              </a:srgbClr>
            </a:solidFill>
            <a:prstDash val="solid"/>
            <a:tailEnd type="triangle"/>
          </a:ln>
        </p:spPr>
        <p:txBody>
          <a:bodyPr/>
          <a:lstStyle/>
          <a:p>
            <a:endParaRPr lang="en-US"/>
          </a:p>
        </p:txBody>
      </p:sp>
      <p:sp>
        <p:nvSpPr>
          <p:cNvPr id="25" name="Shape 22"/>
          <p:cNvSpPr/>
          <p:nvPr/>
        </p:nvSpPr>
        <p:spPr>
          <a:xfrm>
            <a:off x="3657600" y="4160520"/>
            <a:ext cx="2331720" cy="914400"/>
          </a:xfrm>
          <a:prstGeom prst="roundRect">
            <a:avLst>
              <a:gd name="adj" fmla="val 10000"/>
            </a:avLst>
          </a:prstGeom>
          <a:solidFill>
            <a:srgbClr val="07101F">
              <a:alpha val="92000"/>
            </a:srgbClr>
          </a:solidFill>
          <a:ln w="11430">
            <a:solidFill>
              <a:srgbClr val="3B82F6">
                <a:alpha val="62000"/>
              </a:srgbClr>
            </a:solidFill>
            <a:prstDash val="solid"/>
          </a:ln>
        </p:spPr>
        <p:txBody>
          <a:bodyPr/>
          <a:lstStyle/>
          <a:p>
            <a:endParaRPr lang="en-US"/>
          </a:p>
        </p:txBody>
      </p:sp>
      <p:sp>
        <p:nvSpPr>
          <p:cNvPr id="26" name="Text 23"/>
          <p:cNvSpPr/>
          <p:nvPr/>
        </p:nvSpPr>
        <p:spPr>
          <a:xfrm>
            <a:off x="3822192" y="4315968"/>
            <a:ext cx="1993392" cy="228600"/>
          </a:xfrm>
          <a:prstGeom prst="rect">
            <a:avLst/>
          </a:prstGeom>
          <a:noFill/>
          <a:ln/>
        </p:spPr>
        <p:txBody>
          <a:bodyPr wrap="square" lIns="0" tIns="0" rIns="0" bIns="0" rtlCol="0" anchor="ctr"/>
          <a:lstStyle/>
          <a:p>
            <a:pPr marL="0" indent="0" algn="ctr">
              <a:buNone/>
            </a:pPr>
            <a:r>
              <a:rPr lang="en-US" sz="1520" b="1" dirty="0">
                <a:solidFill>
                  <a:srgbClr val="F8FAFC"/>
                </a:solidFill>
                <a:latin typeface="Aptos Display" pitchFamily="34" charset="0"/>
                <a:ea typeface="Aptos Display" pitchFamily="34" charset="-122"/>
                <a:cs typeface="Aptos Display" pitchFamily="34" charset="-120"/>
              </a:rPr>
              <a:t>Predict</a:t>
            </a:r>
            <a:endParaRPr lang="en-US" sz="1520" dirty="0"/>
          </a:p>
        </p:txBody>
      </p:sp>
      <p:sp>
        <p:nvSpPr>
          <p:cNvPr id="27" name="Text 24"/>
          <p:cNvSpPr/>
          <p:nvPr/>
        </p:nvSpPr>
        <p:spPr>
          <a:xfrm>
            <a:off x="3877056" y="4626864"/>
            <a:ext cx="1874520" cy="256032"/>
          </a:xfrm>
          <a:prstGeom prst="rect">
            <a:avLst/>
          </a:prstGeom>
          <a:noFill/>
          <a:ln/>
        </p:spPr>
        <p:txBody>
          <a:bodyPr wrap="square" lIns="0" tIns="0" rIns="0" bIns="0" rtlCol="0" anchor="ctr">
            <a:normAutofit/>
          </a:bodyPr>
          <a:lstStyle/>
          <a:p>
            <a:pPr marL="0" indent="0" algn="ctr">
              <a:buNone/>
            </a:pPr>
            <a:r>
              <a:rPr lang="en-US" sz="970" dirty="0">
                <a:solidFill>
                  <a:srgbClr val="B6C2D5"/>
                </a:solidFill>
                <a:latin typeface="Aptos" pitchFamily="34" charset="0"/>
                <a:ea typeface="Aptos" pitchFamily="34" charset="-122"/>
                <a:cs typeface="Aptos" pitchFamily="34" charset="-120"/>
              </a:rPr>
              <a:t>bottlenecks and</a:t>
            </a:r>
            <a:endParaRPr lang="en-US" sz="970" dirty="0"/>
          </a:p>
          <a:p>
            <a:pPr marL="0" indent="0" algn="ctr">
              <a:buNone/>
            </a:pPr>
            <a:r>
              <a:rPr lang="en-US" sz="970" dirty="0">
                <a:solidFill>
                  <a:srgbClr val="B6C2D5"/>
                </a:solidFill>
                <a:latin typeface="Aptos" pitchFamily="34" charset="0"/>
                <a:ea typeface="Aptos" pitchFamily="34" charset="-122"/>
                <a:cs typeface="Aptos" pitchFamily="34" charset="-120"/>
              </a:rPr>
              <a:t>travel delays</a:t>
            </a:r>
            <a:endParaRPr lang="en-US" sz="970" dirty="0"/>
          </a:p>
        </p:txBody>
      </p:sp>
      <p:sp>
        <p:nvSpPr>
          <p:cNvPr id="28" name="Shape 25"/>
          <p:cNvSpPr/>
          <p:nvPr/>
        </p:nvSpPr>
        <p:spPr>
          <a:xfrm>
            <a:off x="6071616" y="4617720"/>
            <a:ext cx="265176" cy="0"/>
          </a:xfrm>
          <a:prstGeom prst="line">
            <a:avLst/>
          </a:prstGeom>
          <a:noFill/>
          <a:ln w="12700">
            <a:solidFill>
              <a:srgbClr val="25436C">
                <a:alpha val="90000"/>
              </a:srgbClr>
            </a:solidFill>
            <a:prstDash val="solid"/>
            <a:tailEnd type="triangle"/>
          </a:ln>
        </p:spPr>
        <p:txBody>
          <a:bodyPr/>
          <a:lstStyle/>
          <a:p>
            <a:endParaRPr lang="en-US"/>
          </a:p>
        </p:txBody>
      </p:sp>
      <p:sp>
        <p:nvSpPr>
          <p:cNvPr id="29" name="Shape 26"/>
          <p:cNvSpPr/>
          <p:nvPr/>
        </p:nvSpPr>
        <p:spPr>
          <a:xfrm>
            <a:off x="6355080" y="4160520"/>
            <a:ext cx="2331720" cy="914400"/>
          </a:xfrm>
          <a:prstGeom prst="roundRect">
            <a:avLst>
              <a:gd name="adj" fmla="val 10000"/>
            </a:avLst>
          </a:prstGeom>
          <a:solidFill>
            <a:srgbClr val="07101F">
              <a:alpha val="92000"/>
            </a:srgbClr>
          </a:solidFill>
          <a:ln w="11430">
            <a:solidFill>
              <a:srgbClr val="F59E0B">
                <a:alpha val="62000"/>
              </a:srgbClr>
            </a:solidFill>
            <a:prstDash val="solid"/>
          </a:ln>
        </p:spPr>
        <p:txBody>
          <a:bodyPr/>
          <a:lstStyle/>
          <a:p>
            <a:endParaRPr lang="en-US"/>
          </a:p>
        </p:txBody>
      </p:sp>
      <p:sp>
        <p:nvSpPr>
          <p:cNvPr id="30" name="Text 27"/>
          <p:cNvSpPr/>
          <p:nvPr/>
        </p:nvSpPr>
        <p:spPr>
          <a:xfrm>
            <a:off x="6519672" y="4315968"/>
            <a:ext cx="1993392" cy="228600"/>
          </a:xfrm>
          <a:prstGeom prst="rect">
            <a:avLst/>
          </a:prstGeom>
          <a:noFill/>
          <a:ln/>
        </p:spPr>
        <p:txBody>
          <a:bodyPr wrap="square" lIns="0" tIns="0" rIns="0" bIns="0" rtlCol="0" anchor="ctr"/>
          <a:lstStyle/>
          <a:p>
            <a:pPr marL="0" indent="0" algn="ctr">
              <a:buNone/>
            </a:pPr>
            <a:r>
              <a:rPr lang="en-US" sz="1520" b="1" dirty="0">
                <a:solidFill>
                  <a:srgbClr val="F8FAFC"/>
                </a:solidFill>
                <a:latin typeface="Aptos Display" pitchFamily="34" charset="0"/>
                <a:ea typeface="Aptos Display" pitchFamily="34" charset="-122"/>
                <a:cs typeface="Aptos Display" pitchFamily="34" charset="-120"/>
              </a:rPr>
              <a:t>Optimize</a:t>
            </a:r>
            <a:endParaRPr lang="en-US" sz="1520" dirty="0"/>
          </a:p>
        </p:txBody>
      </p:sp>
      <p:sp>
        <p:nvSpPr>
          <p:cNvPr id="31" name="Text 28"/>
          <p:cNvSpPr/>
          <p:nvPr/>
        </p:nvSpPr>
        <p:spPr>
          <a:xfrm>
            <a:off x="6574536" y="4626864"/>
            <a:ext cx="1874520" cy="256032"/>
          </a:xfrm>
          <a:prstGeom prst="rect">
            <a:avLst/>
          </a:prstGeom>
          <a:noFill/>
          <a:ln/>
        </p:spPr>
        <p:txBody>
          <a:bodyPr wrap="square" lIns="0" tIns="0" rIns="0" bIns="0" rtlCol="0" anchor="ctr">
            <a:normAutofit/>
          </a:bodyPr>
          <a:lstStyle/>
          <a:p>
            <a:pPr marL="0" indent="0" algn="ctr">
              <a:buNone/>
            </a:pPr>
            <a:r>
              <a:rPr lang="en-US" sz="970" dirty="0">
                <a:solidFill>
                  <a:srgbClr val="B6C2D5"/>
                </a:solidFill>
                <a:latin typeface="Aptos" pitchFamily="34" charset="0"/>
                <a:ea typeface="Aptos" pitchFamily="34" charset="-122"/>
                <a:cs typeface="Aptos" pitchFamily="34" charset="-120"/>
              </a:rPr>
              <a:t>routes and</a:t>
            </a:r>
            <a:endParaRPr lang="en-US" sz="970" dirty="0"/>
          </a:p>
          <a:p>
            <a:pPr marL="0" indent="0" algn="ctr">
              <a:buNone/>
            </a:pPr>
            <a:r>
              <a:rPr lang="en-US" sz="970" dirty="0">
                <a:solidFill>
                  <a:srgbClr val="B6C2D5"/>
                </a:solidFill>
                <a:latin typeface="Aptos" pitchFamily="34" charset="0"/>
                <a:ea typeface="Aptos" pitchFamily="34" charset="-122"/>
                <a:cs typeface="Aptos" pitchFamily="34" charset="-120"/>
              </a:rPr>
              <a:t>fleet coordination</a:t>
            </a:r>
            <a:endParaRPr lang="en-US" sz="970" dirty="0"/>
          </a:p>
        </p:txBody>
      </p:sp>
      <p:sp>
        <p:nvSpPr>
          <p:cNvPr id="32" name="Shape 29"/>
          <p:cNvSpPr/>
          <p:nvPr/>
        </p:nvSpPr>
        <p:spPr>
          <a:xfrm>
            <a:off x="8769096" y="4617720"/>
            <a:ext cx="265176" cy="0"/>
          </a:xfrm>
          <a:prstGeom prst="line">
            <a:avLst/>
          </a:prstGeom>
          <a:noFill/>
          <a:ln w="12700">
            <a:solidFill>
              <a:srgbClr val="25436C">
                <a:alpha val="90000"/>
              </a:srgbClr>
            </a:solidFill>
            <a:prstDash val="solid"/>
            <a:tailEnd type="triangle"/>
          </a:ln>
        </p:spPr>
        <p:txBody>
          <a:bodyPr/>
          <a:lstStyle/>
          <a:p>
            <a:endParaRPr lang="en-US"/>
          </a:p>
        </p:txBody>
      </p:sp>
      <p:sp>
        <p:nvSpPr>
          <p:cNvPr id="33" name="Shape 30"/>
          <p:cNvSpPr/>
          <p:nvPr/>
        </p:nvSpPr>
        <p:spPr>
          <a:xfrm>
            <a:off x="9052560" y="4160520"/>
            <a:ext cx="2331720" cy="914400"/>
          </a:xfrm>
          <a:prstGeom prst="roundRect">
            <a:avLst>
              <a:gd name="adj" fmla="val 10000"/>
            </a:avLst>
          </a:prstGeom>
          <a:solidFill>
            <a:srgbClr val="07101F">
              <a:alpha val="92000"/>
            </a:srgbClr>
          </a:solidFill>
          <a:ln w="11430">
            <a:solidFill>
              <a:srgbClr val="22C55E">
                <a:alpha val="62000"/>
              </a:srgbClr>
            </a:solidFill>
            <a:prstDash val="solid"/>
          </a:ln>
        </p:spPr>
        <p:txBody>
          <a:bodyPr/>
          <a:lstStyle/>
          <a:p>
            <a:endParaRPr lang="en-US"/>
          </a:p>
        </p:txBody>
      </p:sp>
      <p:sp>
        <p:nvSpPr>
          <p:cNvPr id="34" name="Text 31"/>
          <p:cNvSpPr/>
          <p:nvPr/>
        </p:nvSpPr>
        <p:spPr>
          <a:xfrm>
            <a:off x="9217152" y="4315968"/>
            <a:ext cx="1993392" cy="228600"/>
          </a:xfrm>
          <a:prstGeom prst="rect">
            <a:avLst/>
          </a:prstGeom>
          <a:noFill/>
          <a:ln/>
        </p:spPr>
        <p:txBody>
          <a:bodyPr wrap="square" lIns="0" tIns="0" rIns="0" bIns="0" rtlCol="0" anchor="ctr"/>
          <a:lstStyle/>
          <a:p>
            <a:pPr marL="0" indent="0" algn="ctr">
              <a:buNone/>
            </a:pPr>
            <a:r>
              <a:rPr lang="en-US" sz="1520" b="1" dirty="0">
                <a:solidFill>
                  <a:srgbClr val="F8FAFC"/>
                </a:solidFill>
                <a:latin typeface="Aptos Display" pitchFamily="34" charset="0"/>
                <a:ea typeface="Aptos Display" pitchFamily="34" charset="-122"/>
                <a:cs typeface="Aptos Display" pitchFamily="34" charset="-120"/>
              </a:rPr>
              <a:t>Improve</a:t>
            </a:r>
            <a:endParaRPr lang="en-US" sz="1520" dirty="0"/>
          </a:p>
        </p:txBody>
      </p:sp>
      <p:sp>
        <p:nvSpPr>
          <p:cNvPr id="35" name="Text 32"/>
          <p:cNvSpPr/>
          <p:nvPr/>
        </p:nvSpPr>
        <p:spPr>
          <a:xfrm>
            <a:off x="9272016" y="4626864"/>
            <a:ext cx="1874520" cy="256032"/>
          </a:xfrm>
          <a:prstGeom prst="rect">
            <a:avLst/>
          </a:prstGeom>
          <a:noFill/>
          <a:ln/>
        </p:spPr>
        <p:txBody>
          <a:bodyPr wrap="square" lIns="0" tIns="0" rIns="0" bIns="0" rtlCol="0" anchor="ctr">
            <a:normAutofit/>
          </a:bodyPr>
          <a:lstStyle/>
          <a:p>
            <a:pPr marL="0" indent="0" algn="ctr">
              <a:buNone/>
            </a:pPr>
            <a:r>
              <a:rPr lang="en-US" sz="970" dirty="0">
                <a:solidFill>
                  <a:srgbClr val="B6C2D5"/>
                </a:solidFill>
                <a:latin typeface="Aptos" pitchFamily="34" charset="0"/>
                <a:ea typeface="Aptos" pitchFamily="34" charset="-122"/>
                <a:cs typeface="Aptos" pitchFamily="34" charset="-120"/>
              </a:rPr>
              <a:t>logs feed model</a:t>
            </a:r>
            <a:endParaRPr lang="en-US" sz="970" dirty="0"/>
          </a:p>
          <a:p>
            <a:pPr marL="0" indent="0" algn="ctr">
              <a:buNone/>
            </a:pPr>
            <a:r>
              <a:rPr lang="en-US" sz="970" dirty="0">
                <a:solidFill>
                  <a:srgbClr val="B6C2D5"/>
                </a:solidFill>
                <a:latin typeface="Aptos" pitchFamily="34" charset="0"/>
                <a:ea typeface="Aptos" pitchFamily="34" charset="-122"/>
                <a:cs typeface="Aptos" pitchFamily="34" charset="-120"/>
              </a:rPr>
              <a:t>updates</a:t>
            </a:r>
            <a:endParaRPr lang="en-US" sz="970" dirty="0"/>
          </a:p>
        </p:txBody>
      </p:sp>
      <p:sp>
        <p:nvSpPr>
          <p:cNvPr id="36" name="Shape 33"/>
          <p:cNvSpPr/>
          <p:nvPr/>
        </p:nvSpPr>
        <p:spPr>
          <a:xfrm>
            <a:off x="960120" y="5577840"/>
            <a:ext cx="10332720" cy="530352"/>
          </a:xfrm>
          <a:prstGeom prst="roundRect">
            <a:avLst>
              <a:gd name="adj" fmla="val 20690"/>
            </a:avLst>
          </a:prstGeom>
          <a:solidFill>
            <a:srgbClr val="07101F">
              <a:alpha val="92000"/>
            </a:srgbClr>
          </a:solidFill>
          <a:ln w="11430">
            <a:solidFill>
              <a:srgbClr val="F59E0B">
                <a:alpha val="55000"/>
              </a:srgbClr>
            </a:solidFill>
            <a:prstDash val="solid"/>
          </a:ln>
        </p:spPr>
        <p:txBody>
          <a:bodyPr/>
          <a:lstStyle/>
          <a:p>
            <a:endParaRPr lang="en-US"/>
          </a:p>
        </p:txBody>
      </p:sp>
      <p:sp>
        <p:nvSpPr>
          <p:cNvPr id="37" name="Shape 34"/>
          <p:cNvSpPr/>
          <p:nvPr/>
        </p:nvSpPr>
        <p:spPr>
          <a:xfrm>
            <a:off x="960120" y="5577840"/>
            <a:ext cx="64008" cy="530352"/>
          </a:xfrm>
          <a:prstGeom prst="rect">
            <a:avLst/>
          </a:prstGeom>
          <a:solidFill>
            <a:srgbClr val="F59E0B"/>
          </a:solidFill>
          <a:ln w="12700">
            <a:solidFill>
              <a:srgbClr val="F59E0B">
                <a:alpha val="0"/>
              </a:srgbClr>
            </a:solidFill>
            <a:prstDash val="solid"/>
          </a:ln>
        </p:spPr>
        <p:txBody>
          <a:bodyPr/>
          <a:lstStyle/>
          <a:p>
            <a:endParaRPr lang="en-US"/>
          </a:p>
        </p:txBody>
      </p:sp>
      <p:sp>
        <p:nvSpPr>
          <p:cNvPr id="38" name="Text 35"/>
          <p:cNvSpPr/>
          <p:nvPr/>
        </p:nvSpPr>
        <p:spPr>
          <a:xfrm>
            <a:off x="1124712" y="5687568"/>
            <a:ext cx="10040112" cy="347472"/>
          </a:xfrm>
          <a:prstGeom prst="rect">
            <a:avLst/>
          </a:prstGeom>
          <a:noFill/>
          <a:ln/>
        </p:spPr>
        <p:txBody>
          <a:bodyPr wrap="square" lIns="254" tIns="254" rIns="254" bIns="254" rtlCol="0" anchor="ctr">
            <a:normAutofit/>
          </a:bodyPr>
          <a:lstStyle/>
          <a:p>
            <a:pPr marL="0" indent="0">
              <a:buNone/>
            </a:pPr>
            <a:r>
              <a:rPr lang="en-US" sz="1380" dirty="0">
                <a:solidFill>
                  <a:srgbClr val="F8FAFC"/>
                </a:solidFill>
                <a:latin typeface="Aptos" pitchFamily="34" charset="0"/>
                <a:ea typeface="Aptos" pitchFamily="34" charset="-122"/>
                <a:cs typeface="Aptos" pitchFamily="34" charset="-120"/>
              </a:rPr>
              <a:t>Do not overread the metric: Amazon reports robot travel efficiency improvement, not a universal 10% improvement in all fulfillment outcomes.</a:t>
            </a:r>
            <a:endParaRPr lang="en-US" sz="1380" dirty="0"/>
          </a:p>
        </p:txBody>
      </p:sp>
      <p:sp>
        <p:nvSpPr>
          <p:cNvPr id="39" name="Text 36"/>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Source: Amazon, “AI foundation model to power its robotic fleet,” June 30, 2025.</a:t>
            </a:r>
            <a:endParaRPr lang="en-US" sz="760" dirty="0"/>
          </a:p>
        </p:txBody>
      </p:sp>
      <p:sp>
        <p:nvSpPr>
          <p:cNvPr id="40" name="Shape 37"/>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41" name="Text 38"/>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PHYSICAL AI CASE STUDY</a:t>
            </a:r>
            <a:endParaRPr lang="en-US" sz="780" dirty="0"/>
          </a:p>
        </p:txBody>
      </p:sp>
      <p:sp>
        <p:nvSpPr>
          <p:cNvPr id="42" name="Text 39"/>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25</a:t>
            </a:r>
            <a:endParaRPr lang="en-US" sz="8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26</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Tactile Physical AI: Vulcan</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Manipulation becomes harder when contact is expected, not avoided.</a:t>
            </a:r>
            <a:endParaRPr lang="en-US" sz="1450" dirty="0"/>
          </a:p>
        </p:txBody>
      </p:sp>
      <p:sp>
        <p:nvSpPr>
          <p:cNvPr id="7" name="Shape 5"/>
          <p:cNvSpPr/>
          <p:nvPr/>
        </p:nvSpPr>
        <p:spPr>
          <a:xfrm>
            <a:off x="6492240" y="1874520"/>
            <a:ext cx="4617720" cy="3337560"/>
          </a:xfrm>
          <a:prstGeom prst="roundRect">
            <a:avLst>
              <a:gd name="adj" fmla="val 4384"/>
            </a:avLst>
          </a:prstGeom>
          <a:solidFill>
            <a:srgbClr val="12213B"/>
          </a:solidFill>
          <a:ln w="11430">
            <a:solidFill>
              <a:srgbClr val="31D8FF">
                <a:alpha val="55000"/>
              </a:srgbClr>
            </a:solidFill>
            <a:prstDash val="solid"/>
          </a:ln>
        </p:spPr>
        <p:txBody>
          <a:bodyPr/>
          <a:lstStyle/>
          <a:p>
            <a:endParaRPr lang="en-US"/>
          </a:p>
        </p:txBody>
      </p:sp>
      <p:pic>
        <p:nvPicPr>
          <p:cNvPr id="8" name="Image 0" descr="/mnt/data/wide_industrial_warehouse_robotics_lab_scene_clos_batch_2.png"/>
          <p:cNvPicPr>
            <a:picLocks noChangeAspect="1"/>
          </p:cNvPicPr>
          <p:nvPr/>
        </p:nvPicPr>
        <p:blipFill>
          <a:blip r:embed="rId3"/>
          <a:srcRect l="10572" r="10572"/>
          <a:stretch/>
        </p:blipFill>
        <p:spPr>
          <a:xfrm>
            <a:off x="6565392" y="1947672"/>
            <a:ext cx="4471416" cy="3191256"/>
          </a:xfrm>
          <a:prstGeom prst="rect">
            <a:avLst/>
          </a:prstGeom>
        </p:spPr>
      </p:pic>
      <p:sp>
        <p:nvSpPr>
          <p:cNvPr id="9" name="Shape 6"/>
          <p:cNvSpPr/>
          <p:nvPr/>
        </p:nvSpPr>
        <p:spPr>
          <a:xfrm>
            <a:off x="868680" y="1965960"/>
            <a:ext cx="4956048" cy="640080"/>
          </a:xfrm>
          <a:prstGeom prst="roundRect">
            <a:avLst>
              <a:gd name="adj" fmla="val 14286"/>
            </a:avLst>
          </a:prstGeom>
          <a:solidFill>
            <a:srgbClr val="12213B"/>
          </a:solidFill>
          <a:ln w="10160">
            <a:solidFill>
              <a:srgbClr val="31D8FF">
                <a:alpha val="62000"/>
              </a:srgbClr>
            </a:solidFill>
            <a:prstDash val="solid"/>
          </a:ln>
        </p:spPr>
        <p:txBody>
          <a:bodyPr/>
          <a:lstStyle/>
          <a:p>
            <a:endParaRPr lang="en-US"/>
          </a:p>
        </p:txBody>
      </p:sp>
      <p:sp>
        <p:nvSpPr>
          <p:cNvPr id="10" name="Text 7"/>
          <p:cNvSpPr/>
          <p:nvPr/>
        </p:nvSpPr>
        <p:spPr>
          <a:xfrm>
            <a:off x="1097280" y="2093976"/>
            <a:ext cx="1051560" cy="219456"/>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Vision</a:t>
            </a:r>
            <a:endParaRPr lang="en-US" sz="1480" dirty="0"/>
          </a:p>
        </p:txBody>
      </p:sp>
      <p:sp>
        <p:nvSpPr>
          <p:cNvPr id="11" name="Text 8"/>
          <p:cNvSpPr/>
          <p:nvPr/>
        </p:nvSpPr>
        <p:spPr>
          <a:xfrm>
            <a:off x="2331720" y="2103120"/>
            <a:ext cx="3154680" cy="201168"/>
          </a:xfrm>
          <a:prstGeom prst="rect">
            <a:avLst/>
          </a:prstGeom>
          <a:noFill/>
          <a:ln/>
        </p:spPr>
        <p:txBody>
          <a:bodyPr wrap="square" lIns="0" tIns="0" rIns="0" bIns="0" rtlCol="0" anchor="ctr">
            <a:normAutofit/>
          </a:bodyPr>
          <a:lstStyle/>
          <a:p>
            <a:pPr marL="0" indent="0">
              <a:buNone/>
            </a:pPr>
            <a:r>
              <a:rPr lang="en-US" sz="1060" dirty="0">
                <a:solidFill>
                  <a:srgbClr val="B6C2D5"/>
                </a:solidFill>
                <a:latin typeface="Aptos" pitchFamily="34" charset="0"/>
                <a:ea typeface="Aptos" pitchFamily="34" charset="-122"/>
                <a:cs typeface="Aptos" pitchFamily="34" charset="-120"/>
              </a:rPr>
              <a:t>locate the item and the grasp region</a:t>
            </a:r>
            <a:endParaRPr lang="en-US" sz="1060" dirty="0"/>
          </a:p>
        </p:txBody>
      </p:sp>
      <p:sp>
        <p:nvSpPr>
          <p:cNvPr id="12" name="Shape 9"/>
          <p:cNvSpPr/>
          <p:nvPr/>
        </p:nvSpPr>
        <p:spPr>
          <a:xfrm>
            <a:off x="868680" y="2752344"/>
            <a:ext cx="4956048" cy="640080"/>
          </a:xfrm>
          <a:prstGeom prst="roundRect">
            <a:avLst>
              <a:gd name="adj" fmla="val 14286"/>
            </a:avLst>
          </a:prstGeom>
          <a:solidFill>
            <a:srgbClr val="12213B">
              <a:alpha val="96000"/>
            </a:srgbClr>
          </a:solidFill>
          <a:ln w="10160">
            <a:solidFill>
              <a:srgbClr val="3B82F6">
                <a:alpha val="62000"/>
              </a:srgbClr>
            </a:solidFill>
            <a:prstDash val="solid"/>
          </a:ln>
        </p:spPr>
        <p:txBody>
          <a:bodyPr/>
          <a:lstStyle/>
          <a:p>
            <a:endParaRPr lang="en-US"/>
          </a:p>
        </p:txBody>
      </p:sp>
      <p:sp>
        <p:nvSpPr>
          <p:cNvPr id="13" name="Text 10"/>
          <p:cNvSpPr/>
          <p:nvPr/>
        </p:nvSpPr>
        <p:spPr>
          <a:xfrm>
            <a:off x="1097280" y="2880360"/>
            <a:ext cx="1051560" cy="219456"/>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Touch</a:t>
            </a:r>
            <a:endParaRPr lang="en-US" sz="1480" dirty="0"/>
          </a:p>
        </p:txBody>
      </p:sp>
      <p:sp>
        <p:nvSpPr>
          <p:cNvPr id="14" name="Text 11"/>
          <p:cNvSpPr/>
          <p:nvPr/>
        </p:nvSpPr>
        <p:spPr>
          <a:xfrm>
            <a:off x="2331720" y="2889504"/>
            <a:ext cx="3154680" cy="201168"/>
          </a:xfrm>
          <a:prstGeom prst="rect">
            <a:avLst/>
          </a:prstGeom>
          <a:noFill/>
          <a:ln/>
        </p:spPr>
        <p:txBody>
          <a:bodyPr wrap="square" lIns="0" tIns="0" rIns="0" bIns="0" rtlCol="0" anchor="ctr">
            <a:normAutofit/>
          </a:bodyPr>
          <a:lstStyle/>
          <a:p>
            <a:pPr marL="0" indent="0">
              <a:buNone/>
            </a:pPr>
            <a:r>
              <a:rPr lang="en-US" sz="1060" dirty="0">
                <a:solidFill>
                  <a:srgbClr val="B6C2D5"/>
                </a:solidFill>
                <a:latin typeface="Aptos" pitchFamily="34" charset="0"/>
                <a:ea typeface="Aptos" pitchFamily="34" charset="-122"/>
                <a:cs typeface="Aptos" pitchFamily="34" charset="-120"/>
              </a:rPr>
              <a:t>measure contact force and torque</a:t>
            </a:r>
            <a:endParaRPr lang="en-US" sz="1060" dirty="0"/>
          </a:p>
        </p:txBody>
      </p:sp>
      <p:sp>
        <p:nvSpPr>
          <p:cNvPr id="15" name="Shape 12"/>
          <p:cNvSpPr/>
          <p:nvPr/>
        </p:nvSpPr>
        <p:spPr>
          <a:xfrm>
            <a:off x="868680" y="3538728"/>
            <a:ext cx="4956048" cy="640080"/>
          </a:xfrm>
          <a:prstGeom prst="roundRect">
            <a:avLst>
              <a:gd name="adj" fmla="val 14286"/>
            </a:avLst>
          </a:prstGeom>
          <a:solidFill>
            <a:srgbClr val="12213B"/>
          </a:solidFill>
          <a:ln w="10160">
            <a:solidFill>
              <a:srgbClr val="F59E0B">
                <a:alpha val="62000"/>
              </a:srgbClr>
            </a:solidFill>
            <a:prstDash val="solid"/>
          </a:ln>
        </p:spPr>
        <p:txBody>
          <a:bodyPr/>
          <a:lstStyle/>
          <a:p>
            <a:endParaRPr lang="en-US"/>
          </a:p>
        </p:txBody>
      </p:sp>
      <p:sp>
        <p:nvSpPr>
          <p:cNvPr id="16" name="Text 13"/>
          <p:cNvSpPr/>
          <p:nvPr/>
        </p:nvSpPr>
        <p:spPr>
          <a:xfrm>
            <a:off x="1097280" y="3666744"/>
            <a:ext cx="1051560" cy="219456"/>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Control</a:t>
            </a:r>
            <a:endParaRPr lang="en-US" sz="1480" dirty="0"/>
          </a:p>
        </p:txBody>
      </p:sp>
      <p:sp>
        <p:nvSpPr>
          <p:cNvPr id="17" name="Text 14"/>
          <p:cNvSpPr/>
          <p:nvPr/>
        </p:nvSpPr>
        <p:spPr>
          <a:xfrm>
            <a:off x="2331720" y="3675888"/>
            <a:ext cx="3154680" cy="201168"/>
          </a:xfrm>
          <a:prstGeom prst="rect">
            <a:avLst/>
          </a:prstGeom>
          <a:noFill/>
          <a:ln/>
        </p:spPr>
        <p:txBody>
          <a:bodyPr wrap="square" lIns="0" tIns="0" rIns="0" bIns="0" rtlCol="0" anchor="ctr">
            <a:normAutofit/>
          </a:bodyPr>
          <a:lstStyle/>
          <a:p>
            <a:pPr marL="0" indent="0">
              <a:buNone/>
            </a:pPr>
            <a:r>
              <a:rPr lang="en-US" sz="1060" dirty="0">
                <a:solidFill>
                  <a:srgbClr val="B6C2D5"/>
                </a:solidFill>
                <a:latin typeface="Aptos" pitchFamily="34" charset="0"/>
                <a:ea typeface="Aptos" pitchFamily="34" charset="-122"/>
                <a:cs typeface="Aptos" pitchFamily="34" charset="-120"/>
              </a:rPr>
              <a:t>move, slide, back off, or replan</a:t>
            </a:r>
            <a:endParaRPr lang="en-US" sz="1060" dirty="0"/>
          </a:p>
        </p:txBody>
      </p:sp>
      <p:sp>
        <p:nvSpPr>
          <p:cNvPr id="18" name="Shape 15"/>
          <p:cNvSpPr/>
          <p:nvPr/>
        </p:nvSpPr>
        <p:spPr>
          <a:xfrm>
            <a:off x="868680" y="4325112"/>
            <a:ext cx="4956048" cy="640080"/>
          </a:xfrm>
          <a:prstGeom prst="roundRect">
            <a:avLst>
              <a:gd name="adj" fmla="val 14286"/>
            </a:avLst>
          </a:prstGeom>
          <a:solidFill>
            <a:srgbClr val="12213B">
              <a:alpha val="96000"/>
            </a:srgbClr>
          </a:solidFill>
          <a:ln w="10160">
            <a:solidFill>
              <a:srgbClr val="22C55E">
                <a:alpha val="62000"/>
              </a:srgbClr>
            </a:solidFill>
            <a:prstDash val="solid"/>
          </a:ln>
        </p:spPr>
        <p:txBody>
          <a:bodyPr/>
          <a:lstStyle/>
          <a:p>
            <a:endParaRPr lang="en-US"/>
          </a:p>
        </p:txBody>
      </p:sp>
      <p:sp>
        <p:nvSpPr>
          <p:cNvPr id="19" name="Text 16"/>
          <p:cNvSpPr/>
          <p:nvPr/>
        </p:nvSpPr>
        <p:spPr>
          <a:xfrm>
            <a:off x="1097280" y="4453128"/>
            <a:ext cx="1051560" cy="219456"/>
          </a:xfrm>
          <a:prstGeom prst="rect">
            <a:avLst/>
          </a:prstGeom>
          <a:noFill/>
          <a:ln/>
        </p:spPr>
        <p:txBody>
          <a:bodyPr wrap="square" lIns="0" tIns="0" rIns="0" bIns="0" rtlCol="0" anchor="ctr">
            <a:normAutofit/>
          </a:bodyPr>
          <a:lstStyle/>
          <a:p>
            <a:pPr marL="0" indent="0">
              <a:buNone/>
            </a:pPr>
            <a:r>
              <a:rPr lang="en-US" sz="1480" b="1" dirty="0">
                <a:solidFill>
                  <a:srgbClr val="F8FAFC"/>
                </a:solidFill>
                <a:latin typeface="Aptos Display" pitchFamily="34" charset="0"/>
                <a:ea typeface="Aptos Display" pitchFamily="34" charset="-122"/>
                <a:cs typeface="Aptos Display" pitchFamily="34" charset="-120"/>
              </a:rPr>
              <a:t>Handoff</a:t>
            </a:r>
            <a:endParaRPr lang="en-US" sz="1480" dirty="0"/>
          </a:p>
        </p:txBody>
      </p:sp>
      <p:sp>
        <p:nvSpPr>
          <p:cNvPr id="20" name="Text 17"/>
          <p:cNvSpPr/>
          <p:nvPr/>
        </p:nvSpPr>
        <p:spPr>
          <a:xfrm>
            <a:off x="2331720" y="4462272"/>
            <a:ext cx="3154680" cy="201168"/>
          </a:xfrm>
          <a:prstGeom prst="rect">
            <a:avLst/>
          </a:prstGeom>
          <a:noFill/>
          <a:ln/>
        </p:spPr>
        <p:txBody>
          <a:bodyPr wrap="square" lIns="0" tIns="0" rIns="0" bIns="0" rtlCol="0" anchor="ctr">
            <a:normAutofit/>
          </a:bodyPr>
          <a:lstStyle/>
          <a:p>
            <a:pPr marL="0" indent="0">
              <a:buNone/>
            </a:pPr>
            <a:r>
              <a:rPr lang="en-US" sz="1060" dirty="0">
                <a:solidFill>
                  <a:srgbClr val="B6C2D5"/>
                </a:solidFill>
                <a:latin typeface="Aptos" pitchFamily="34" charset="0"/>
                <a:ea typeface="Aptos" pitchFamily="34" charset="-122"/>
                <a:cs typeface="Aptos" pitchFamily="34" charset="-120"/>
              </a:rPr>
              <a:t>ask a human when the item is unsuitable</a:t>
            </a:r>
            <a:endParaRPr lang="en-US" sz="1060" dirty="0"/>
          </a:p>
        </p:txBody>
      </p:sp>
      <p:sp>
        <p:nvSpPr>
          <p:cNvPr id="21" name="Shape 18"/>
          <p:cNvSpPr/>
          <p:nvPr/>
        </p:nvSpPr>
        <p:spPr>
          <a:xfrm>
            <a:off x="896112" y="5138928"/>
            <a:ext cx="10195560" cy="585216"/>
          </a:xfrm>
          <a:prstGeom prst="roundRect">
            <a:avLst>
              <a:gd name="adj" fmla="val 18750"/>
            </a:avLst>
          </a:prstGeom>
          <a:solidFill>
            <a:srgbClr val="0F1C33"/>
          </a:solidFill>
          <a:ln w="11430">
            <a:solidFill>
              <a:srgbClr val="31D8FF">
                <a:alpha val="55000"/>
              </a:srgbClr>
            </a:solidFill>
            <a:prstDash val="solid"/>
          </a:ln>
        </p:spPr>
        <p:txBody>
          <a:bodyPr/>
          <a:lstStyle/>
          <a:p>
            <a:endParaRPr lang="en-US"/>
          </a:p>
        </p:txBody>
      </p:sp>
      <p:sp>
        <p:nvSpPr>
          <p:cNvPr id="22" name="Shape 19"/>
          <p:cNvSpPr/>
          <p:nvPr/>
        </p:nvSpPr>
        <p:spPr>
          <a:xfrm>
            <a:off x="896112" y="5138928"/>
            <a:ext cx="64008" cy="585216"/>
          </a:xfrm>
          <a:prstGeom prst="rect">
            <a:avLst/>
          </a:prstGeom>
          <a:solidFill>
            <a:srgbClr val="31D8FF"/>
          </a:solidFill>
          <a:ln w="12700">
            <a:solidFill>
              <a:srgbClr val="31D8FF">
                <a:alpha val="0"/>
              </a:srgbClr>
            </a:solidFill>
            <a:prstDash val="solid"/>
          </a:ln>
        </p:spPr>
        <p:txBody>
          <a:bodyPr/>
          <a:lstStyle/>
          <a:p>
            <a:endParaRPr lang="en-US"/>
          </a:p>
        </p:txBody>
      </p:sp>
      <p:sp>
        <p:nvSpPr>
          <p:cNvPr id="23" name="Text 20"/>
          <p:cNvSpPr/>
          <p:nvPr/>
        </p:nvSpPr>
        <p:spPr>
          <a:xfrm>
            <a:off x="1060704" y="5248656"/>
            <a:ext cx="9902952" cy="402336"/>
          </a:xfrm>
          <a:prstGeom prst="rect">
            <a:avLst/>
          </a:prstGeom>
          <a:noFill/>
          <a:ln/>
        </p:spPr>
        <p:txBody>
          <a:bodyPr wrap="square" lIns="254" tIns="254" rIns="254" bIns="254" rtlCol="0" anchor="ctr">
            <a:normAutofit/>
          </a:bodyPr>
          <a:lstStyle/>
          <a:p>
            <a:pPr marL="0" indent="0">
              <a:buNone/>
            </a:pPr>
            <a:r>
              <a:rPr lang="en-US" sz="1540" dirty="0">
                <a:solidFill>
                  <a:srgbClr val="F8FAFC"/>
                </a:solidFill>
                <a:latin typeface="Aptos" pitchFamily="34" charset="0"/>
                <a:ea typeface="Aptos" pitchFamily="34" charset="-122"/>
                <a:cs typeface="Aptos" pitchFamily="34" charset="-120"/>
              </a:rPr>
              <a:t>Case insight: touch changes the policy. The robot can use contact as information, instead of treating contact only as a fault.</a:t>
            </a:r>
            <a:endParaRPr lang="en-US" sz="1540" dirty="0"/>
          </a:p>
        </p:txBody>
      </p:sp>
      <p:sp>
        <p:nvSpPr>
          <p:cNvPr id="24" name="Text 21"/>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Sources: Amazon Vulcan launch; Amazon Science technical explainer on six-axis force/torque sensing.</a:t>
            </a:r>
            <a:endParaRPr lang="en-US" sz="760" dirty="0"/>
          </a:p>
        </p:txBody>
      </p:sp>
      <p:sp>
        <p:nvSpPr>
          <p:cNvPr id="25" name="Shape 22"/>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6" name="Text 23"/>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PHYSICAL AI CASE STUDY</a:t>
            </a:r>
            <a:endParaRPr lang="en-US" sz="780" dirty="0"/>
          </a:p>
        </p:txBody>
      </p:sp>
      <p:sp>
        <p:nvSpPr>
          <p:cNvPr id="27" name="Text 24"/>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26</a:t>
            </a:r>
            <a:endParaRPr lang="en-US" sz="8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mnt/data/a_wide_high_resolution_cinematic_industrial_ware_batch_1.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01F">
              <a:alpha val="55000"/>
            </a:srgbClr>
          </a:solidFill>
          <a:ln w="12700">
            <a:solidFill>
              <a:srgbClr val="07101F">
                <a:alpha val="0"/>
              </a:srgbClr>
            </a:solidFill>
            <a:prstDash val="solid"/>
          </a:ln>
        </p:spPr>
        <p:txBody>
          <a:bodyPr/>
          <a:lstStyle/>
          <a:p>
            <a:endParaRPr lang="en-US"/>
          </a:p>
        </p:txBody>
      </p:sp>
      <p:sp>
        <p:nvSpPr>
          <p:cNvPr id="4" name="Shape 1"/>
          <p:cNvSpPr/>
          <p:nvPr/>
        </p:nvSpPr>
        <p:spPr>
          <a:xfrm>
            <a:off x="0" y="0"/>
            <a:ext cx="12191695" cy="6858000"/>
          </a:xfrm>
          <a:prstGeom prst="rect">
            <a:avLst/>
          </a:prstGeom>
          <a:solidFill>
            <a:srgbClr val="07101F">
              <a:alpha val="58000"/>
            </a:srgbClr>
          </a:solidFill>
          <a:ln w="12700">
            <a:solidFill>
              <a:srgbClr val="07101F">
                <a:alpha val="0"/>
              </a:srgbClr>
            </a:solidFill>
            <a:prstDash val="solid"/>
          </a:ln>
        </p:spPr>
        <p:txBody>
          <a:bodyPr/>
          <a:lstStyle/>
          <a:p>
            <a:endParaRPr lang="en-US"/>
          </a:p>
        </p:txBody>
      </p:sp>
      <p:sp>
        <p:nvSpPr>
          <p:cNvPr id="5" name="Text 2"/>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27</a:t>
            </a:r>
            <a:endParaRPr lang="en-US" sz="950" dirty="0"/>
          </a:p>
        </p:txBody>
      </p:sp>
      <p:sp>
        <p:nvSpPr>
          <p:cNvPr id="6" name="Text 3"/>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Workflow integration: AI plus robotics plus layout</a:t>
            </a:r>
            <a:endParaRPr lang="en-US" sz="3100" dirty="0"/>
          </a:p>
        </p:txBody>
      </p:sp>
      <p:sp>
        <p:nvSpPr>
          <p:cNvPr id="7" name="Shape 4"/>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8" name="Text 5"/>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The site design matters as much as the robot model.</a:t>
            </a:r>
            <a:endParaRPr lang="en-US" sz="1450" dirty="0"/>
          </a:p>
        </p:txBody>
      </p:sp>
      <p:sp>
        <p:nvSpPr>
          <p:cNvPr id="9" name="Shape 6"/>
          <p:cNvSpPr/>
          <p:nvPr/>
        </p:nvSpPr>
        <p:spPr>
          <a:xfrm>
            <a:off x="868680" y="2011680"/>
            <a:ext cx="2423160" cy="1097280"/>
          </a:xfrm>
          <a:prstGeom prst="roundRect">
            <a:avLst>
              <a:gd name="adj" fmla="val 8333"/>
            </a:avLst>
          </a:prstGeom>
          <a:solidFill>
            <a:srgbClr val="12213B">
              <a:alpha val="97000"/>
            </a:srgbClr>
          </a:solidFill>
          <a:ln w="10160">
            <a:solidFill>
              <a:srgbClr val="31D8FF">
                <a:alpha val="55000"/>
              </a:srgbClr>
            </a:solidFill>
            <a:prstDash val="solid"/>
          </a:ln>
        </p:spPr>
        <p:txBody>
          <a:bodyPr/>
          <a:lstStyle/>
          <a:p>
            <a:endParaRPr lang="en-US"/>
          </a:p>
        </p:txBody>
      </p:sp>
      <p:sp>
        <p:nvSpPr>
          <p:cNvPr id="10" name="Text 7"/>
          <p:cNvSpPr/>
          <p:nvPr/>
        </p:nvSpPr>
        <p:spPr>
          <a:xfrm>
            <a:off x="996696" y="2157984"/>
            <a:ext cx="2167128" cy="420624"/>
          </a:xfrm>
          <a:prstGeom prst="rect">
            <a:avLst/>
          </a:prstGeom>
          <a:noFill/>
          <a:ln/>
        </p:spPr>
        <p:txBody>
          <a:bodyPr wrap="square" lIns="0" tIns="0" rIns="0" bIns="0" rtlCol="0" anchor="ctr">
            <a:normAutofit/>
          </a:bodyPr>
          <a:lstStyle/>
          <a:p>
            <a:pPr marL="0" indent="0">
              <a:buNone/>
            </a:pPr>
            <a:r>
              <a:rPr lang="en-US" sz="2800" b="1" dirty="0">
                <a:solidFill>
                  <a:srgbClr val="31D8FF"/>
                </a:solidFill>
                <a:latin typeface="Aptos Display" pitchFamily="34" charset="0"/>
                <a:ea typeface="Aptos Display" pitchFamily="34" charset="-122"/>
                <a:cs typeface="Aptos Display" pitchFamily="34" charset="-120"/>
              </a:rPr>
              <a:t>3M+</a:t>
            </a:r>
            <a:endParaRPr lang="en-US" sz="2800" dirty="0"/>
          </a:p>
        </p:txBody>
      </p:sp>
      <p:sp>
        <p:nvSpPr>
          <p:cNvPr id="11" name="Text 8"/>
          <p:cNvSpPr/>
          <p:nvPr/>
        </p:nvSpPr>
        <p:spPr>
          <a:xfrm>
            <a:off x="1014984" y="2715768"/>
            <a:ext cx="2130552" cy="347472"/>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square feet in Shreveport site</a:t>
            </a:r>
            <a:endParaRPr lang="en-US" sz="1000" dirty="0"/>
          </a:p>
        </p:txBody>
      </p:sp>
      <p:sp>
        <p:nvSpPr>
          <p:cNvPr id="12" name="Shape 9"/>
          <p:cNvSpPr/>
          <p:nvPr/>
        </p:nvSpPr>
        <p:spPr>
          <a:xfrm>
            <a:off x="3547872" y="2011680"/>
            <a:ext cx="2423160" cy="1097280"/>
          </a:xfrm>
          <a:prstGeom prst="roundRect">
            <a:avLst>
              <a:gd name="adj" fmla="val 8333"/>
            </a:avLst>
          </a:prstGeom>
          <a:solidFill>
            <a:srgbClr val="12213B">
              <a:alpha val="97000"/>
            </a:srgbClr>
          </a:solidFill>
          <a:ln w="10160">
            <a:solidFill>
              <a:srgbClr val="22C55E">
                <a:alpha val="55000"/>
              </a:srgbClr>
            </a:solidFill>
            <a:prstDash val="solid"/>
          </a:ln>
        </p:spPr>
        <p:txBody>
          <a:bodyPr/>
          <a:lstStyle/>
          <a:p>
            <a:endParaRPr lang="en-US"/>
          </a:p>
        </p:txBody>
      </p:sp>
      <p:sp>
        <p:nvSpPr>
          <p:cNvPr id="13" name="Text 10"/>
          <p:cNvSpPr/>
          <p:nvPr/>
        </p:nvSpPr>
        <p:spPr>
          <a:xfrm>
            <a:off x="3675888" y="2157984"/>
            <a:ext cx="2167128" cy="420624"/>
          </a:xfrm>
          <a:prstGeom prst="rect">
            <a:avLst/>
          </a:prstGeom>
          <a:noFill/>
          <a:ln/>
        </p:spPr>
        <p:txBody>
          <a:bodyPr wrap="square" lIns="0" tIns="0" rIns="0" bIns="0" rtlCol="0" anchor="ctr">
            <a:normAutofit/>
          </a:bodyPr>
          <a:lstStyle/>
          <a:p>
            <a:pPr marL="0" indent="0">
              <a:buNone/>
            </a:pPr>
            <a:r>
              <a:rPr lang="en-US" sz="2800" b="1" dirty="0">
                <a:solidFill>
                  <a:srgbClr val="22C55E"/>
                </a:solidFill>
                <a:latin typeface="Aptos Display" pitchFamily="34" charset="0"/>
                <a:ea typeface="Aptos Display" pitchFamily="34" charset="-122"/>
                <a:cs typeface="Aptos Display" pitchFamily="34" charset="-120"/>
              </a:rPr>
              <a:t>30M+</a:t>
            </a:r>
            <a:endParaRPr lang="en-US" sz="2800" dirty="0"/>
          </a:p>
        </p:txBody>
      </p:sp>
      <p:sp>
        <p:nvSpPr>
          <p:cNvPr id="14" name="Text 11"/>
          <p:cNvSpPr/>
          <p:nvPr/>
        </p:nvSpPr>
        <p:spPr>
          <a:xfrm>
            <a:off x="3694176" y="2715768"/>
            <a:ext cx="2130552" cy="347472"/>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items supported by Sequoia</a:t>
            </a:r>
            <a:endParaRPr lang="en-US" sz="1000" dirty="0"/>
          </a:p>
        </p:txBody>
      </p:sp>
      <p:sp>
        <p:nvSpPr>
          <p:cNvPr id="15" name="Shape 12"/>
          <p:cNvSpPr/>
          <p:nvPr/>
        </p:nvSpPr>
        <p:spPr>
          <a:xfrm>
            <a:off x="6236208" y="2011680"/>
            <a:ext cx="2423160" cy="1097280"/>
          </a:xfrm>
          <a:prstGeom prst="roundRect">
            <a:avLst>
              <a:gd name="adj" fmla="val 8333"/>
            </a:avLst>
          </a:prstGeom>
          <a:solidFill>
            <a:srgbClr val="12213B">
              <a:alpha val="97000"/>
            </a:srgbClr>
          </a:solidFill>
          <a:ln w="10160">
            <a:solidFill>
              <a:srgbClr val="F59E0B">
                <a:alpha val="55000"/>
              </a:srgbClr>
            </a:solidFill>
            <a:prstDash val="solid"/>
          </a:ln>
        </p:spPr>
        <p:txBody>
          <a:bodyPr/>
          <a:lstStyle/>
          <a:p>
            <a:endParaRPr lang="en-US"/>
          </a:p>
        </p:txBody>
      </p:sp>
      <p:sp>
        <p:nvSpPr>
          <p:cNvPr id="16" name="Text 13"/>
          <p:cNvSpPr/>
          <p:nvPr/>
        </p:nvSpPr>
        <p:spPr>
          <a:xfrm>
            <a:off x="6364224" y="2157984"/>
            <a:ext cx="2167128" cy="420624"/>
          </a:xfrm>
          <a:prstGeom prst="rect">
            <a:avLst/>
          </a:prstGeom>
          <a:noFill/>
          <a:ln/>
        </p:spPr>
        <p:txBody>
          <a:bodyPr wrap="square" lIns="0" tIns="0" rIns="0" bIns="0" rtlCol="0" anchor="ctr">
            <a:normAutofit/>
          </a:bodyPr>
          <a:lstStyle/>
          <a:p>
            <a:pPr marL="0" indent="0">
              <a:buNone/>
            </a:pPr>
            <a:r>
              <a:rPr lang="en-US" sz="2800" b="1" dirty="0">
                <a:solidFill>
                  <a:srgbClr val="F59E0B"/>
                </a:solidFill>
                <a:latin typeface="Aptos Display" pitchFamily="34" charset="0"/>
                <a:ea typeface="Aptos Display" pitchFamily="34" charset="-122"/>
                <a:cs typeface="Aptos Display" pitchFamily="34" charset="-120"/>
              </a:rPr>
              <a:t>25%</a:t>
            </a:r>
            <a:endParaRPr lang="en-US" sz="2800" dirty="0"/>
          </a:p>
        </p:txBody>
      </p:sp>
      <p:sp>
        <p:nvSpPr>
          <p:cNvPr id="17" name="Text 14"/>
          <p:cNvSpPr/>
          <p:nvPr/>
        </p:nvSpPr>
        <p:spPr>
          <a:xfrm>
            <a:off x="6382512" y="2715768"/>
            <a:ext cx="2130552" cy="347472"/>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reported processing-time reduction</a:t>
            </a:r>
            <a:endParaRPr lang="en-US" sz="1000" dirty="0"/>
          </a:p>
        </p:txBody>
      </p:sp>
      <p:sp>
        <p:nvSpPr>
          <p:cNvPr id="18" name="Shape 15"/>
          <p:cNvSpPr/>
          <p:nvPr/>
        </p:nvSpPr>
        <p:spPr>
          <a:xfrm>
            <a:off x="8915400" y="2011680"/>
            <a:ext cx="2286000" cy="1097280"/>
          </a:xfrm>
          <a:prstGeom prst="roundRect">
            <a:avLst>
              <a:gd name="adj" fmla="val 8333"/>
            </a:avLst>
          </a:prstGeom>
          <a:solidFill>
            <a:srgbClr val="12213B">
              <a:alpha val="97000"/>
            </a:srgbClr>
          </a:solidFill>
          <a:ln w="10160">
            <a:solidFill>
              <a:srgbClr val="A78BFA">
                <a:alpha val="55000"/>
              </a:srgbClr>
            </a:solidFill>
            <a:prstDash val="solid"/>
          </a:ln>
        </p:spPr>
        <p:txBody>
          <a:bodyPr/>
          <a:lstStyle/>
          <a:p>
            <a:endParaRPr lang="en-US"/>
          </a:p>
        </p:txBody>
      </p:sp>
      <p:sp>
        <p:nvSpPr>
          <p:cNvPr id="19" name="Text 16"/>
          <p:cNvSpPr/>
          <p:nvPr/>
        </p:nvSpPr>
        <p:spPr>
          <a:xfrm>
            <a:off x="9043416" y="2157984"/>
            <a:ext cx="2029968" cy="420624"/>
          </a:xfrm>
          <a:prstGeom prst="rect">
            <a:avLst/>
          </a:prstGeom>
          <a:noFill/>
          <a:ln/>
        </p:spPr>
        <p:txBody>
          <a:bodyPr wrap="square" lIns="0" tIns="0" rIns="0" bIns="0" rtlCol="0" anchor="ctr">
            <a:normAutofit/>
          </a:bodyPr>
          <a:lstStyle/>
          <a:p>
            <a:pPr marL="0" indent="0">
              <a:buNone/>
            </a:pPr>
            <a:r>
              <a:rPr lang="en-US" sz="2800" b="1" dirty="0">
                <a:solidFill>
                  <a:srgbClr val="A78BFA"/>
                </a:solidFill>
                <a:latin typeface="Aptos Display" pitchFamily="34" charset="0"/>
                <a:ea typeface="Aptos Display" pitchFamily="34" charset="-122"/>
                <a:cs typeface="Aptos Display" pitchFamily="34" charset="-120"/>
              </a:rPr>
              <a:t>25%</a:t>
            </a:r>
            <a:endParaRPr lang="en-US" sz="2800" dirty="0"/>
          </a:p>
        </p:txBody>
      </p:sp>
      <p:sp>
        <p:nvSpPr>
          <p:cNvPr id="20" name="Text 17"/>
          <p:cNvSpPr/>
          <p:nvPr/>
        </p:nvSpPr>
        <p:spPr>
          <a:xfrm>
            <a:off x="9061704" y="2715768"/>
            <a:ext cx="1993392" cy="347472"/>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targeted cost-to-serve improvement</a:t>
            </a:r>
            <a:endParaRPr lang="en-US" sz="1000" dirty="0"/>
          </a:p>
        </p:txBody>
      </p:sp>
      <p:sp>
        <p:nvSpPr>
          <p:cNvPr id="21" name="Shape 18"/>
          <p:cNvSpPr/>
          <p:nvPr/>
        </p:nvSpPr>
        <p:spPr>
          <a:xfrm>
            <a:off x="969264" y="4160520"/>
            <a:ext cx="1481328" cy="566928"/>
          </a:xfrm>
          <a:prstGeom prst="roundRect">
            <a:avLst>
              <a:gd name="adj" fmla="val 16129"/>
            </a:avLst>
          </a:prstGeom>
          <a:solidFill>
            <a:srgbClr val="07101F">
              <a:alpha val="92000"/>
            </a:srgbClr>
          </a:solidFill>
          <a:ln w="11430">
            <a:solidFill>
              <a:srgbClr val="31D8FF">
                <a:alpha val="65000"/>
              </a:srgbClr>
            </a:solidFill>
            <a:prstDash val="solid"/>
          </a:ln>
        </p:spPr>
        <p:txBody>
          <a:bodyPr/>
          <a:lstStyle/>
          <a:p>
            <a:endParaRPr lang="en-US"/>
          </a:p>
        </p:txBody>
      </p:sp>
      <p:sp>
        <p:nvSpPr>
          <p:cNvPr id="22" name="Text 19"/>
          <p:cNvSpPr/>
          <p:nvPr/>
        </p:nvSpPr>
        <p:spPr>
          <a:xfrm>
            <a:off x="1078992" y="4334256"/>
            <a:ext cx="1261872" cy="155448"/>
          </a:xfrm>
          <a:prstGeom prst="rect">
            <a:avLst/>
          </a:prstGeom>
          <a:noFill/>
          <a:ln/>
        </p:spPr>
        <p:txBody>
          <a:bodyPr wrap="square" lIns="0" tIns="0" rIns="0" bIns="0" rtlCol="0" anchor="ctr">
            <a:normAutofit/>
          </a:bodyPr>
          <a:lstStyle/>
          <a:p>
            <a:pPr marL="0" indent="0" algn="ctr">
              <a:buNone/>
            </a:pPr>
            <a:r>
              <a:rPr lang="en-US" sz="1130" b="1" dirty="0">
                <a:solidFill>
                  <a:srgbClr val="F8FAFC"/>
                </a:solidFill>
                <a:latin typeface="Aptos Display" pitchFamily="34" charset="0"/>
                <a:ea typeface="Aptos Display" pitchFamily="34" charset="-122"/>
                <a:cs typeface="Aptos Display" pitchFamily="34" charset="-120"/>
              </a:rPr>
              <a:t>Store</a:t>
            </a:r>
            <a:endParaRPr lang="en-US" sz="1130" dirty="0"/>
          </a:p>
        </p:txBody>
      </p:sp>
      <p:sp>
        <p:nvSpPr>
          <p:cNvPr id="23" name="Shape 20"/>
          <p:cNvSpPr/>
          <p:nvPr/>
        </p:nvSpPr>
        <p:spPr>
          <a:xfrm>
            <a:off x="2523744" y="4443984"/>
            <a:ext cx="292608" cy="0"/>
          </a:xfrm>
          <a:prstGeom prst="line">
            <a:avLst/>
          </a:prstGeom>
          <a:noFill/>
          <a:ln w="12700">
            <a:solidFill>
              <a:srgbClr val="25436C">
                <a:alpha val="90000"/>
              </a:srgbClr>
            </a:solidFill>
            <a:prstDash val="solid"/>
            <a:tailEnd type="triangle"/>
          </a:ln>
        </p:spPr>
        <p:txBody>
          <a:bodyPr/>
          <a:lstStyle/>
          <a:p>
            <a:endParaRPr lang="en-US"/>
          </a:p>
        </p:txBody>
      </p:sp>
      <p:sp>
        <p:nvSpPr>
          <p:cNvPr id="24" name="Shape 21"/>
          <p:cNvSpPr/>
          <p:nvPr/>
        </p:nvSpPr>
        <p:spPr>
          <a:xfrm>
            <a:off x="2816352" y="4160520"/>
            <a:ext cx="1481328" cy="566928"/>
          </a:xfrm>
          <a:prstGeom prst="roundRect">
            <a:avLst>
              <a:gd name="adj" fmla="val 16129"/>
            </a:avLst>
          </a:prstGeom>
          <a:solidFill>
            <a:srgbClr val="07101F">
              <a:alpha val="92000"/>
            </a:srgbClr>
          </a:solidFill>
          <a:ln w="11430">
            <a:solidFill>
              <a:srgbClr val="3B82F6">
                <a:alpha val="65000"/>
              </a:srgbClr>
            </a:solidFill>
            <a:prstDash val="solid"/>
          </a:ln>
        </p:spPr>
        <p:txBody>
          <a:bodyPr/>
          <a:lstStyle/>
          <a:p>
            <a:endParaRPr lang="en-US"/>
          </a:p>
        </p:txBody>
      </p:sp>
      <p:sp>
        <p:nvSpPr>
          <p:cNvPr id="25" name="Text 22"/>
          <p:cNvSpPr/>
          <p:nvPr/>
        </p:nvSpPr>
        <p:spPr>
          <a:xfrm>
            <a:off x="2926080" y="4334256"/>
            <a:ext cx="1261872" cy="155448"/>
          </a:xfrm>
          <a:prstGeom prst="rect">
            <a:avLst/>
          </a:prstGeom>
          <a:noFill/>
          <a:ln/>
        </p:spPr>
        <p:txBody>
          <a:bodyPr wrap="square" lIns="0" tIns="0" rIns="0" bIns="0" rtlCol="0" anchor="ctr">
            <a:normAutofit/>
          </a:bodyPr>
          <a:lstStyle/>
          <a:p>
            <a:pPr marL="0" indent="0" algn="ctr">
              <a:buNone/>
            </a:pPr>
            <a:r>
              <a:rPr lang="en-US" sz="1130" b="1" dirty="0">
                <a:solidFill>
                  <a:srgbClr val="F8FAFC"/>
                </a:solidFill>
                <a:latin typeface="Aptos Display" pitchFamily="34" charset="0"/>
                <a:ea typeface="Aptos Display" pitchFamily="34" charset="-122"/>
                <a:cs typeface="Aptos Display" pitchFamily="34" charset="-120"/>
              </a:rPr>
              <a:t>Bring pods</a:t>
            </a:r>
            <a:endParaRPr lang="en-US" sz="1130" dirty="0"/>
          </a:p>
        </p:txBody>
      </p:sp>
      <p:sp>
        <p:nvSpPr>
          <p:cNvPr id="26" name="Shape 23"/>
          <p:cNvSpPr/>
          <p:nvPr/>
        </p:nvSpPr>
        <p:spPr>
          <a:xfrm>
            <a:off x="4370832" y="4443984"/>
            <a:ext cx="292608" cy="0"/>
          </a:xfrm>
          <a:prstGeom prst="line">
            <a:avLst/>
          </a:prstGeom>
          <a:noFill/>
          <a:ln w="12700">
            <a:solidFill>
              <a:srgbClr val="25436C">
                <a:alpha val="90000"/>
              </a:srgbClr>
            </a:solidFill>
            <a:prstDash val="solid"/>
            <a:tailEnd type="triangle"/>
          </a:ln>
        </p:spPr>
        <p:txBody>
          <a:bodyPr/>
          <a:lstStyle/>
          <a:p>
            <a:endParaRPr lang="en-US"/>
          </a:p>
        </p:txBody>
      </p:sp>
      <p:sp>
        <p:nvSpPr>
          <p:cNvPr id="27" name="Shape 24"/>
          <p:cNvSpPr/>
          <p:nvPr/>
        </p:nvSpPr>
        <p:spPr>
          <a:xfrm>
            <a:off x="4663440" y="4160520"/>
            <a:ext cx="1481328" cy="566928"/>
          </a:xfrm>
          <a:prstGeom prst="roundRect">
            <a:avLst>
              <a:gd name="adj" fmla="val 16129"/>
            </a:avLst>
          </a:prstGeom>
          <a:solidFill>
            <a:srgbClr val="07101F">
              <a:alpha val="92000"/>
            </a:srgbClr>
          </a:solidFill>
          <a:ln w="11430">
            <a:solidFill>
              <a:srgbClr val="F59E0B">
                <a:alpha val="65000"/>
              </a:srgbClr>
            </a:solidFill>
            <a:prstDash val="solid"/>
          </a:ln>
        </p:spPr>
        <p:txBody>
          <a:bodyPr/>
          <a:lstStyle/>
          <a:p>
            <a:endParaRPr lang="en-US"/>
          </a:p>
        </p:txBody>
      </p:sp>
      <p:sp>
        <p:nvSpPr>
          <p:cNvPr id="28" name="Text 25"/>
          <p:cNvSpPr/>
          <p:nvPr/>
        </p:nvSpPr>
        <p:spPr>
          <a:xfrm>
            <a:off x="4773168" y="4334256"/>
            <a:ext cx="1261872" cy="155448"/>
          </a:xfrm>
          <a:prstGeom prst="rect">
            <a:avLst/>
          </a:prstGeom>
          <a:noFill/>
          <a:ln/>
        </p:spPr>
        <p:txBody>
          <a:bodyPr wrap="square" lIns="0" tIns="0" rIns="0" bIns="0" rtlCol="0" anchor="ctr">
            <a:normAutofit/>
          </a:bodyPr>
          <a:lstStyle/>
          <a:p>
            <a:pPr marL="0" indent="0" algn="ctr">
              <a:buNone/>
            </a:pPr>
            <a:r>
              <a:rPr lang="en-US" sz="1130" b="1" dirty="0">
                <a:solidFill>
                  <a:srgbClr val="F8FAFC"/>
                </a:solidFill>
                <a:latin typeface="Aptos Display" pitchFamily="34" charset="0"/>
                <a:ea typeface="Aptos Display" pitchFamily="34" charset="-122"/>
                <a:cs typeface="Aptos Display" pitchFamily="34" charset="-120"/>
              </a:rPr>
              <a:t>Pick/stow</a:t>
            </a:r>
            <a:endParaRPr lang="en-US" sz="1130" dirty="0"/>
          </a:p>
        </p:txBody>
      </p:sp>
      <p:sp>
        <p:nvSpPr>
          <p:cNvPr id="29" name="Shape 26"/>
          <p:cNvSpPr/>
          <p:nvPr/>
        </p:nvSpPr>
        <p:spPr>
          <a:xfrm>
            <a:off x="6217920" y="4443984"/>
            <a:ext cx="292608" cy="0"/>
          </a:xfrm>
          <a:prstGeom prst="line">
            <a:avLst/>
          </a:prstGeom>
          <a:noFill/>
          <a:ln w="12700">
            <a:solidFill>
              <a:srgbClr val="25436C">
                <a:alpha val="90000"/>
              </a:srgbClr>
            </a:solidFill>
            <a:prstDash val="solid"/>
            <a:tailEnd type="triangle"/>
          </a:ln>
        </p:spPr>
        <p:txBody>
          <a:bodyPr/>
          <a:lstStyle/>
          <a:p>
            <a:endParaRPr lang="en-US"/>
          </a:p>
        </p:txBody>
      </p:sp>
      <p:sp>
        <p:nvSpPr>
          <p:cNvPr id="30" name="Shape 27"/>
          <p:cNvSpPr/>
          <p:nvPr/>
        </p:nvSpPr>
        <p:spPr>
          <a:xfrm>
            <a:off x="6510528" y="4160520"/>
            <a:ext cx="1481328" cy="566928"/>
          </a:xfrm>
          <a:prstGeom prst="roundRect">
            <a:avLst>
              <a:gd name="adj" fmla="val 16129"/>
            </a:avLst>
          </a:prstGeom>
          <a:solidFill>
            <a:srgbClr val="07101F">
              <a:alpha val="92000"/>
            </a:srgbClr>
          </a:solidFill>
          <a:ln w="11430">
            <a:solidFill>
              <a:srgbClr val="A78BFA">
                <a:alpha val="65000"/>
              </a:srgbClr>
            </a:solidFill>
            <a:prstDash val="solid"/>
          </a:ln>
        </p:spPr>
        <p:txBody>
          <a:bodyPr/>
          <a:lstStyle/>
          <a:p>
            <a:endParaRPr lang="en-US"/>
          </a:p>
        </p:txBody>
      </p:sp>
      <p:sp>
        <p:nvSpPr>
          <p:cNvPr id="31" name="Text 28"/>
          <p:cNvSpPr/>
          <p:nvPr/>
        </p:nvSpPr>
        <p:spPr>
          <a:xfrm>
            <a:off x="6620256" y="4334256"/>
            <a:ext cx="1261872" cy="155448"/>
          </a:xfrm>
          <a:prstGeom prst="rect">
            <a:avLst/>
          </a:prstGeom>
          <a:noFill/>
          <a:ln/>
        </p:spPr>
        <p:txBody>
          <a:bodyPr wrap="square" lIns="0" tIns="0" rIns="0" bIns="0" rtlCol="0" anchor="ctr">
            <a:normAutofit/>
          </a:bodyPr>
          <a:lstStyle/>
          <a:p>
            <a:pPr marL="0" indent="0" algn="ctr">
              <a:buNone/>
            </a:pPr>
            <a:r>
              <a:rPr lang="en-US" sz="1130" b="1" dirty="0">
                <a:solidFill>
                  <a:srgbClr val="F8FAFC"/>
                </a:solidFill>
                <a:latin typeface="Aptos Display" pitchFamily="34" charset="0"/>
                <a:ea typeface="Aptos Display" pitchFamily="34" charset="-122"/>
                <a:cs typeface="Aptos Display" pitchFamily="34" charset="-120"/>
              </a:rPr>
              <a:t>Sort</a:t>
            </a:r>
            <a:endParaRPr lang="en-US" sz="1130" dirty="0"/>
          </a:p>
        </p:txBody>
      </p:sp>
      <p:sp>
        <p:nvSpPr>
          <p:cNvPr id="32" name="Shape 29"/>
          <p:cNvSpPr/>
          <p:nvPr/>
        </p:nvSpPr>
        <p:spPr>
          <a:xfrm>
            <a:off x="8065008" y="4443984"/>
            <a:ext cx="292608" cy="0"/>
          </a:xfrm>
          <a:prstGeom prst="line">
            <a:avLst/>
          </a:prstGeom>
          <a:noFill/>
          <a:ln w="12700">
            <a:solidFill>
              <a:srgbClr val="25436C">
                <a:alpha val="90000"/>
              </a:srgbClr>
            </a:solidFill>
            <a:prstDash val="solid"/>
            <a:tailEnd type="triangle"/>
          </a:ln>
        </p:spPr>
        <p:txBody>
          <a:bodyPr/>
          <a:lstStyle/>
          <a:p>
            <a:endParaRPr lang="en-US"/>
          </a:p>
        </p:txBody>
      </p:sp>
      <p:sp>
        <p:nvSpPr>
          <p:cNvPr id="33" name="Shape 30"/>
          <p:cNvSpPr/>
          <p:nvPr/>
        </p:nvSpPr>
        <p:spPr>
          <a:xfrm>
            <a:off x="8357616" y="4160520"/>
            <a:ext cx="1481328" cy="566928"/>
          </a:xfrm>
          <a:prstGeom prst="roundRect">
            <a:avLst>
              <a:gd name="adj" fmla="val 16129"/>
            </a:avLst>
          </a:prstGeom>
          <a:solidFill>
            <a:srgbClr val="07101F">
              <a:alpha val="92000"/>
            </a:srgbClr>
          </a:solidFill>
          <a:ln w="11430">
            <a:solidFill>
              <a:srgbClr val="22C55E">
                <a:alpha val="65000"/>
              </a:srgbClr>
            </a:solidFill>
            <a:prstDash val="solid"/>
          </a:ln>
        </p:spPr>
        <p:txBody>
          <a:bodyPr/>
          <a:lstStyle/>
          <a:p>
            <a:endParaRPr lang="en-US"/>
          </a:p>
        </p:txBody>
      </p:sp>
      <p:sp>
        <p:nvSpPr>
          <p:cNvPr id="34" name="Text 31"/>
          <p:cNvSpPr/>
          <p:nvPr/>
        </p:nvSpPr>
        <p:spPr>
          <a:xfrm>
            <a:off x="8467344" y="4334256"/>
            <a:ext cx="1261872" cy="155448"/>
          </a:xfrm>
          <a:prstGeom prst="rect">
            <a:avLst/>
          </a:prstGeom>
          <a:noFill/>
          <a:ln/>
        </p:spPr>
        <p:txBody>
          <a:bodyPr wrap="square" lIns="0" tIns="0" rIns="0" bIns="0" rtlCol="0" anchor="ctr">
            <a:normAutofit/>
          </a:bodyPr>
          <a:lstStyle/>
          <a:p>
            <a:pPr marL="0" indent="0" algn="ctr">
              <a:buNone/>
            </a:pPr>
            <a:r>
              <a:rPr lang="en-US" sz="1130" b="1" dirty="0">
                <a:solidFill>
                  <a:srgbClr val="F8FAFC"/>
                </a:solidFill>
                <a:latin typeface="Aptos Display" pitchFamily="34" charset="0"/>
                <a:ea typeface="Aptos Display" pitchFamily="34" charset="-122"/>
                <a:cs typeface="Aptos Display" pitchFamily="34" charset="-120"/>
              </a:rPr>
              <a:t>Pack</a:t>
            </a:r>
            <a:endParaRPr lang="en-US" sz="1130" dirty="0"/>
          </a:p>
        </p:txBody>
      </p:sp>
      <p:sp>
        <p:nvSpPr>
          <p:cNvPr id="35" name="Shape 32"/>
          <p:cNvSpPr/>
          <p:nvPr/>
        </p:nvSpPr>
        <p:spPr>
          <a:xfrm>
            <a:off x="9912096" y="4443984"/>
            <a:ext cx="292608" cy="0"/>
          </a:xfrm>
          <a:prstGeom prst="line">
            <a:avLst/>
          </a:prstGeom>
          <a:noFill/>
          <a:ln w="12700">
            <a:solidFill>
              <a:srgbClr val="25436C">
                <a:alpha val="90000"/>
              </a:srgbClr>
            </a:solidFill>
            <a:prstDash val="solid"/>
            <a:tailEnd type="triangle"/>
          </a:ln>
        </p:spPr>
        <p:txBody>
          <a:bodyPr/>
          <a:lstStyle/>
          <a:p>
            <a:endParaRPr lang="en-US"/>
          </a:p>
        </p:txBody>
      </p:sp>
      <p:sp>
        <p:nvSpPr>
          <p:cNvPr id="36" name="Shape 33"/>
          <p:cNvSpPr/>
          <p:nvPr/>
        </p:nvSpPr>
        <p:spPr>
          <a:xfrm>
            <a:off x="10204704" y="4160520"/>
            <a:ext cx="1481328" cy="566928"/>
          </a:xfrm>
          <a:prstGeom prst="roundRect">
            <a:avLst>
              <a:gd name="adj" fmla="val 16129"/>
            </a:avLst>
          </a:prstGeom>
          <a:solidFill>
            <a:srgbClr val="07101F">
              <a:alpha val="92000"/>
            </a:srgbClr>
          </a:solidFill>
          <a:ln w="11430">
            <a:solidFill>
              <a:srgbClr val="31D8FF">
                <a:alpha val="65000"/>
              </a:srgbClr>
            </a:solidFill>
            <a:prstDash val="solid"/>
          </a:ln>
        </p:spPr>
        <p:txBody>
          <a:bodyPr/>
          <a:lstStyle/>
          <a:p>
            <a:endParaRPr lang="en-US"/>
          </a:p>
        </p:txBody>
      </p:sp>
      <p:sp>
        <p:nvSpPr>
          <p:cNvPr id="37" name="Text 34"/>
          <p:cNvSpPr/>
          <p:nvPr/>
        </p:nvSpPr>
        <p:spPr>
          <a:xfrm>
            <a:off x="10314432" y="4334256"/>
            <a:ext cx="1261872" cy="155448"/>
          </a:xfrm>
          <a:prstGeom prst="rect">
            <a:avLst/>
          </a:prstGeom>
          <a:noFill/>
          <a:ln/>
        </p:spPr>
        <p:txBody>
          <a:bodyPr wrap="square" lIns="0" tIns="0" rIns="0" bIns="0" rtlCol="0" anchor="ctr">
            <a:normAutofit/>
          </a:bodyPr>
          <a:lstStyle/>
          <a:p>
            <a:pPr marL="0" indent="0" algn="ctr">
              <a:buNone/>
            </a:pPr>
            <a:r>
              <a:rPr lang="en-US" sz="1130" b="1" dirty="0">
                <a:solidFill>
                  <a:srgbClr val="F8FAFC"/>
                </a:solidFill>
                <a:latin typeface="Aptos Display" pitchFamily="34" charset="0"/>
                <a:ea typeface="Aptos Display" pitchFamily="34" charset="-122"/>
                <a:cs typeface="Aptos Display" pitchFamily="34" charset="-120"/>
              </a:rPr>
              <a:t>Ship</a:t>
            </a:r>
            <a:endParaRPr lang="en-US" sz="1130" dirty="0"/>
          </a:p>
        </p:txBody>
      </p:sp>
      <p:sp>
        <p:nvSpPr>
          <p:cNvPr id="38" name="Shape 35"/>
          <p:cNvSpPr/>
          <p:nvPr/>
        </p:nvSpPr>
        <p:spPr>
          <a:xfrm>
            <a:off x="896112" y="5358384"/>
            <a:ext cx="10332720" cy="566928"/>
          </a:xfrm>
          <a:prstGeom prst="roundRect">
            <a:avLst>
              <a:gd name="adj" fmla="val 19355"/>
            </a:avLst>
          </a:prstGeom>
          <a:solidFill>
            <a:srgbClr val="07101F">
              <a:alpha val="92000"/>
            </a:srgbClr>
          </a:solidFill>
          <a:ln w="11430">
            <a:solidFill>
              <a:srgbClr val="31D8FF">
                <a:alpha val="55000"/>
              </a:srgbClr>
            </a:solidFill>
            <a:prstDash val="solid"/>
          </a:ln>
        </p:spPr>
        <p:txBody>
          <a:bodyPr/>
          <a:lstStyle/>
          <a:p>
            <a:endParaRPr lang="en-US"/>
          </a:p>
        </p:txBody>
      </p:sp>
      <p:sp>
        <p:nvSpPr>
          <p:cNvPr id="39" name="Shape 36"/>
          <p:cNvSpPr/>
          <p:nvPr/>
        </p:nvSpPr>
        <p:spPr>
          <a:xfrm>
            <a:off x="896112" y="5358384"/>
            <a:ext cx="64008" cy="566928"/>
          </a:xfrm>
          <a:prstGeom prst="rect">
            <a:avLst/>
          </a:prstGeom>
          <a:solidFill>
            <a:srgbClr val="31D8FF"/>
          </a:solidFill>
          <a:ln w="12700">
            <a:solidFill>
              <a:srgbClr val="31D8FF">
                <a:alpha val="0"/>
              </a:srgbClr>
            </a:solidFill>
            <a:prstDash val="solid"/>
          </a:ln>
        </p:spPr>
        <p:txBody>
          <a:bodyPr/>
          <a:lstStyle/>
          <a:p>
            <a:endParaRPr lang="en-US"/>
          </a:p>
        </p:txBody>
      </p:sp>
      <p:sp>
        <p:nvSpPr>
          <p:cNvPr id="40" name="Text 37"/>
          <p:cNvSpPr/>
          <p:nvPr/>
        </p:nvSpPr>
        <p:spPr>
          <a:xfrm>
            <a:off x="1060704" y="5468112"/>
            <a:ext cx="10040112" cy="384048"/>
          </a:xfrm>
          <a:prstGeom prst="rect">
            <a:avLst/>
          </a:prstGeom>
          <a:noFill/>
          <a:ln/>
        </p:spPr>
        <p:txBody>
          <a:bodyPr wrap="square" lIns="254" tIns="254" rIns="254" bIns="254" rtlCol="0" anchor="ctr">
            <a:normAutofit/>
          </a:bodyPr>
          <a:lstStyle/>
          <a:p>
            <a:pPr marL="0" indent="0">
              <a:buNone/>
            </a:pPr>
            <a:r>
              <a:rPr lang="en-US" sz="1460" dirty="0">
                <a:solidFill>
                  <a:srgbClr val="F8FAFC"/>
                </a:solidFill>
                <a:latin typeface="Aptos" pitchFamily="34" charset="0"/>
                <a:ea typeface="Aptos" pitchFamily="34" charset="-122"/>
                <a:cs typeface="Aptos" pitchFamily="34" charset="-120"/>
              </a:rPr>
              <a:t>Physical AI deployment often succeeds through co-design: robot capability, building layout, workstation ergonomics, telemetry, and exception handling.</a:t>
            </a:r>
            <a:endParaRPr lang="en-US" sz="1460" dirty="0"/>
          </a:p>
        </p:txBody>
      </p:sp>
      <p:sp>
        <p:nvSpPr>
          <p:cNvPr id="41" name="Text 38"/>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Source: Amazon, next-generation fulfillment center update, October 2024.</a:t>
            </a:r>
            <a:endParaRPr lang="en-US" sz="760" dirty="0"/>
          </a:p>
        </p:txBody>
      </p:sp>
      <p:sp>
        <p:nvSpPr>
          <p:cNvPr id="42" name="Shape 39"/>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43" name="Text 40"/>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PHYSICAL AI CASE STUDY</a:t>
            </a:r>
            <a:endParaRPr lang="en-US" sz="780" dirty="0"/>
          </a:p>
        </p:txBody>
      </p:sp>
      <p:sp>
        <p:nvSpPr>
          <p:cNvPr id="44" name="Text 41"/>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27</a:t>
            </a:r>
            <a:endParaRPr lang="en-US" sz="8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28</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Human-in-the-loop safety model</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Physical AI at scale still depends on designed handoffs, training, and clear operating boundaries.</a:t>
            </a:r>
            <a:endParaRPr lang="en-US" sz="1450" dirty="0"/>
          </a:p>
        </p:txBody>
      </p:sp>
      <p:sp>
        <p:nvSpPr>
          <p:cNvPr id="7" name="Shape 5"/>
          <p:cNvSpPr/>
          <p:nvPr/>
        </p:nvSpPr>
        <p:spPr>
          <a:xfrm>
            <a:off x="868680" y="1965960"/>
            <a:ext cx="5074920" cy="3063240"/>
          </a:xfrm>
          <a:prstGeom prst="roundRect">
            <a:avLst>
              <a:gd name="adj" fmla="val 4776"/>
            </a:avLst>
          </a:prstGeom>
          <a:solidFill>
            <a:srgbClr val="12213B"/>
          </a:solidFill>
          <a:ln w="11430">
            <a:solidFill>
              <a:srgbClr val="22C55E">
                <a:alpha val="65000"/>
              </a:srgbClr>
            </a:solidFill>
            <a:prstDash val="solid"/>
          </a:ln>
        </p:spPr>
        <p:txBody>
          <a:bodyPr/>
          <a:lstStyle/>
          <a:p>
            <a:endParaRPr lang="en-US"/>
          </a:p>
        </p:txBody>
      </p:sp>
      <p:sp>
        <p:nvSpPr>
          <p:cNvPr id="8" name="Text 6"/>
          <p:cNvSpPr/>
          <p:nvPr/>
        </p:nvSpPr>
        <p:spPr>
          <a:xfrm>
            <a:off x="1143000" y="2221992"/>
            <a:ext cx="4480560" cy="274320"/>
          </a:xfrm>
          <a:prstGeom prst="rect">
            <a:avLst/>
          </a:prstGeom>
          <a:noFill/>
          <a:ln/>
        </p:spPr>
        <p:txBody>
          <a:bodyPr wrap="square" lIns="0" tIns="0" rIns="0" bIns="0" rtlCol="0" anchor="ctr"/>
          <a:lstStyle/>
          <a:p>
            <a:pPr marL="0" indent="0" algn="ctr">
              <a:buNone/>
            </a:pPr>
            <a:r>
              <a:rPr lang="en-US" sz="1950" b="1" dirty="0">
                <a:solidFill>
                  <a:srgbClr val="F8FAFC"/>
                </a:solidFill>
                <a:latin typeface="Aptos Display" pitchFamily="34" charset="0"/>
                <a:ea typeface="Aptos Display" pitchFamily="34" charset="-122"/>
                <a:cs typeface="Aptos Display" pitchFamily="34" charset="-120"/>
              </a:rPr>
              <a:t>Operational controls</a:t>
            </a:r>
            <a:endParaRPr lang="en-US" sz="1950" dirty="0"/>
          </a:p>
        </p:txBody>
      </p:sp>
      <p:sp>
        <p:nvSpPr>
          <p:cNvPr id="9" name="Text 7"/>
          <p:cNvSpPr/>
          <p:nvPr/>
        </p:nvSpPr>
        <p:spPr>
          <a:xfrm>
            <a:off x="1188720" y="2798064"/>
            <a:ext cx="1417320" cy="201168"/>
          </a:xfrm>
          <a:prstGeom prst="rect">
            <a:avLst/>
          </a:prstGeom>
          <a:noFill/>
          <a:ln/>
        </p:spPr>
        <p:txBody>
          <a:bodyPr wrap="square" lIns="0" tIns="0" rIns="0" bIns="0" rtlCol="0" anchor="ctr">
            <a:normAutofit/>
          </a:bodyPr>
          <a:lstStyle/>
          <a:p>
            <a:pPr marL="0" indent="0">
              <a:buNone/>
            </a:pPr>
            <a:r>
              <a:rPr lang="en-US" sz="1250" b="1" dirty="0">
                <a:solidFill>
                  <a:srgbClr val="31D8FF"/>
                </a:solidFill>
                <a:latin typeface="Aptos Display" pitchFamily="34" charset="0"/>
                <a:ea typeface="Aptos Display" pitchFamily="34" charset="-122"/>
                <a:cs typeface="Aptos Display" pitchFamily="34" charset="-120"/>
              </a:rPr>
              <a:t>Operating domain</a:t>
            </a:r>
            <a:endParaRPr lang="en-US" sz="1250" dirty="0"/>
          </a:p>
        </p:txBody>
      </p:sp>
      <p:sp>
        <p:nvSpPr>
          <p:cNvPr id="10" name="Text 8"/>
          <p:cNvSpPr/>
          <p:nvPr/>
        </p:nvSpPr>
        <p:spPr>
          <a:xfrm>
            <a:off x="2697480" y="2798064"/>
            <a:ext cx="2880360" cy="201168"/>
          </a:xfrm>
          <a:prstGeom prst="rect">
            <a:avLst/>
          </a:prstGeom>
          <a:noFill/>
          <a:ln/>
        </p:spPr>
        <p:txBody>
          <a:bodyPr wrap="square" lIns="0" tIns="0" rIns="0" bIns="0" rtlCol="0" anchor="ctr">
            <a:normAutofit/>
          </a:bodyPr>
          <a:lstStyle/>
          <a:p>
            <a:pPr marL="0" indent="0">
              <a:buNone/>
            </a:pPr>
            <a:r>
              <a:rPr lang="en-US" sz="1000" dirty="0">
                <a:solidFill>
                  <a:srgbClr val="B6C2D5"/>
                </a:solidFill>
                <a:latin typeface="Aptos" pitchFamily="34" charset="0"/>
                <a:ea typeface="Aptos" pitchFamily="34" charset="-122"/>
                <a:cs typeface="Aptos" pitchFamily="34" charset="-120"/>
              </a:rPr>
              <a:t>bounded warehouse areas, stations, pods, and procedures</a:t>
            </a:r>
            <a:endParaRPr lang="en-US" sz="1000" dirty="0"/>
          </a:p>
        </p:txBody>
      </p:sp>
      <p:sp>
        <p:nvSpPr>
          <p:cNvPr id="11" name="Text 9"/>
          <p:cNvSpPr/>
          <p:nvPr/>
        </p:nvSpPr>
        <p:spPr>
          <a:xfrm>
            <a:off x="1188720" y="3300984"/>
            <a:ext cx="1417320" cy="201168"/>
          </a:xfrm>
          <a:prstGeom prst="rect">
            <a:avLst/>
          </a:prstGeom>
          <a:noFill/>
          <a:ln/>
        </p:spPr>
        <p:txBody>
          <a:bodyPr wrap="square" lIns="0" tIns="0" rIns="0" bIns="0" rtlCol="0" anchor="ctr">
            <a:normAutofit/>
          </a:bodyPr>
          <a:lstStyle/>
          <a:p>
            <a:pPr marL="0" indent="0">
              <a:buNone/>
            </a:pPr>
            <a:r>
              <a:rPr lang="en-US" sz="1250" b="1" dirty="0">
                <a:solidFill>
                  <a:srgbClr val="3B82F6"/>
                </a:solidFill>
                <a:latin typeface="Aptos Display" pitchFamily="34" charset="0"/>
                <a:ea typeface="Aptos Display" pitchFamily="34" charset="-122"/>
                <a:cs typeface="Aptos Display" pitchFamily="34" charset="-120"/>
              </a:rPr>
              <a:t>Exception handoff</a:t>
            </a:r>
            <a:endParaRPr lang="en-US" sz="1250" dirty="0"/>
          </a:p>
        </p:txBody>
      </p:sp>
      <p:sp>
        <p:nvSpPr>
          <p:cNvPr id="12" name="Text 10"/>
          <p:cNvSpPr/>
          <p:nvPr/>
        </p:nvSpPr>
        <p:spPr>
          <a:xfrm>
            <a:off x="2697480" y="3300984"/>
            <a:ext cx="2880360" cy="201168"/>
          </a:xfrm>
          <a:prstGeom prst="rect">
            <a:avLst/>
          </a:prstGeom>
          <a:noFill/>
          <a:ln/>
        </p:spPr>
        <p:txBody>
          <a:bodyPr wrap="square" lIns="0" tIns="0" rIns="0" bIns="0" rtlCol="0" anchor="ctr">
            <a:normAutofit/>
          </a:bodyPr>
          <a:lstStyle/>
          <a:p>
            <a:pPr marL="0" indent="0">
              <a:buNone/>
            </a:pPr>
            <a:r>
              <a:rPr lang="en-US" sz="1000" dirty="0">
                <a:solidFill>
                  <a:srgbClr val="B6C2D5"/>
                </a:solidFill>
                <a:latin typeface="Aptos" pitchFamily="34" charset="0"/>
                <a:ea typeface="Aptos" pitchFamily="34" charset="-122"/>
                <a:cs typeface="Aptos" pitchFamily="34" charset="-120"/>
              </a:rPr>
              <a:t>robot asks for human help when confidence or feasibility is low</a:t>
            </a:r>
            <a:endParaRPr lang="en-US" sz="1000" dirty="0"/>
          </a:p>
        </p:txBody>
      </p:sp>
      <p:sp>
        <p:nvSpPr>
          <p:cNvPr id="13" name="Text 11"/>
          <p:cNvSpPr/>
          <p:nvPr/>
        </p:nvSpPr>
        <p:spPr>
          <a:xfrm>
            <a:off x="1188720" y="3803904"/>
            <a:ext cx="1417320" cy="201168"/>
          </a:xfrm>
          <a:prstGeom prst="rect">
            <a:avLst/>
          </a:prstGeom>
          <a:noFill/>
          <a:ln/>
        </p:spPr>
        <p:txBody>
          <a:bodyPr wrap="square" lIns="0" tIns="0" rIns="0" bIns="0" rtlCol="0" anchor="ctr">
            <a:normAutofit/>
          </a:bodyPr>
          <a:lstStyle/>
          <a:p>
            <a:pPr marL="0" indent="0">
              <a:buNone/>
            </a:pPr>
            <a:r>
              <a:rPr lang="en-US" sz="1250" b="1" dirty="0">
                <a:solidFill>
                  <a:srgbClr val="F59E0B"/>
                </a:solidFill>
                <a:latin typeface="Aptos Display" pitchFamily="34" charset="0"/>
                <a:ea typeface="Aptos Display" pitchFamily="34" charset="-122"/>
                <a:cs typeface="Aptos Display" pitchFamily="34" charset="-120"/>
              </a:rPr>
              <a:t>Ergonomics</a:t>
            </a:r>
            <a:endParaRPr lang="en-US" sz="1250" dirty="0"/>
          </a:p>
        </p:txBody>
      </p:sp>
      <p:sp>
        <p:nvSpPr>
          <p:cNvPr id="14" name="Text 12"/>
          <p:cNvSpPr/>
          <p:nvPr/>
        </p:nvSpPr>
        <p:spPr>
          <a:xfrm>
            <a:off x="2697480" y="3803904"/>
            <a:ext cx="2880360" cy="201168"/>
          </a:xfrm>
          <a:prstGeom prst="rect">
            <a:avLst/>
          </a:prstGeom>
          <a:noFill/>
          <a:ln/>
        </p:spPr>
        <p:txBody>
          <a:bodyPr wrap="square" lIns="0" tIns="0" rIns="0" bIns="0" rtlCol="0" anchor="ctr">
            <a:normAutofit/>
          </a:bodyPr>
          <a:lstStyle/>
          <a:p>
            <a:pPr marL="0" indent="0">
              <a:buNone/>
            </a:pPr>
            <a:r>
              <a:rPr lang="en-US" sz="1000" dirty="0">
                <a:solidFill>
                  <a:srgbClr val="B6C2D5"/>
                </a:solidFill>
                <a:latin typeface="Aptos" pitchFamily="34" charset="0"/>
                <a:ea typeface="Aptos" pitchFamily="34" charset="-122"/>
                <a:cs typeface="Aptos" pitchFamily="34" charset="-120"/>
              </a:rPr>
              <a:t>robots bring work into safer reach zones where possible</a:t>
            </a:r>
            <a:endParaRPr lang="en-US" sz="1000" dirty="0"/>
          </a:p>
        </p:txBody>
      </p:sp>
      <p:sp>
        <p:nvSpPr>
          <p:cNvPr id="15" name="Text 13"/>
          <p:cNvSpPr/>
          <p:nvPr/>
        </p:nvSpPr>
        <p:spPr>
          <a:xfrm>
            <a:off x="1188720" y="4306824"/>
            <a:ext cx="1417320" cy="201168"/>
          </a:xfrm>
          <a:prstGeom prst="rect">
            <a:avLst/>
          </a:prstGeom>
          <a:noFill/>
          <a:ln/>
        </p:spPr>
        <p:txBody>
          <a:bodyPr wrap="square" lIns="0" tIns="0" rIns="0" bIns="0" rtlCol="0" anchor="ctr">
            <a:normAutofit/>
          </a:bodyPr>
          <a:lstStyle/>
          <a:p>
            <a:pPr marL="0" indent="0">
              <a:buNone/>
            </a:pPr>
            <a:r>
              <a:rPr lang="en-US" sz="1250" b="1" dirty="0">
                <a:solidFill>
                  <a:srgbClr val="22C55E"/>
                </a:solidFill>
                <a:latin typeface="Aptos Display" pitchFamily="34" charset="0"/>
                <a:ea typeface="Aptos Display" pitchFamily="34" charset="-122"/>
                <a:cs typeface="Aptos Display" pitchFamily="34" charset="-120"/>
              </a:rPr>
              <a:t>Monitoring</a:t>
            </a:r>
            <a:endParaRPr lang="en-US" sz="1250" dirty="0"/>
          </a:p>
        </p:txBody>
      </p:sp>
      <p:sp>
        <p:nvSpPr>
          <p:cNvPr id="16" name="Text 14"/>
          <p:cNvSpPr/>
          <p:nvPr/>
        </p:nvSpPr>
        <p:spPr>
          <a:xfrm>
            <a:off x="2697480" y="4306824"/>
            <a:ext cx="2880360" cy="201168"/>
          </a:xfrm>
          <a:prstGeom prst="rect">
            <a:avLst/>
          </a:prstGeom>
          <a:noFill/>
          <a:ln/>
        </p:spPr>
        <p:txBody>
          <a:bodyPr wrap="square" lIns="0" tIns="0" rIns="0" bIns="0" rtlCol="0" anchor="ctr">
            <a:normAutofit/>
          </a:bodyPr>
          <a:lstStyle/>
          <a:p>
            <a:pPr marL="0" indent="0">
              <a:buNone/>
            </a:pPr>
            <a:r>
              <a:rPr lang="en-US" sz="1000" dirty="0">
                <a:solidFill>
                  <a:srgbClr val="B6C2D5"/>
                </a:solidFill>
                <a:latin typeface="Aptos" pitchFamily="34" charset="0"/>
                <a:ea typeface="Aptos" pitchFamily="34" charset="-122"/>
                <a:cs typeface="Aptos" pitchFamily="34" charset="-120"/>
              </a:rPr>
              <a:t>logs expose delays, near-misses, failures, and maintenance needs</a:t>
            </a:r>
            <a:endParaRPr lang="en-US" sz="1000" dirty="0"/>
          </a:p>
        </p:txBody>
      </p:sp>
      <p:sp>
        <p:nvSpPr>
          <p:cNvPr id="17" name="Shape 15"/>
          <p:cNvSpPr/>
          <p:nvPr/>
        </p:nvSpPr>
        <p:spPr>
          <a:xfrm>
            <a:off x="6263640" y="1965960"/>
            <a:ext cx="4800600" cy="3063240"/>
          </a:xfrm>
          <a:prstGeom prst="roundRect">
            <a:avLst>
              <a:gd name="adj" fmla="val 4776"/>
            </a:avLst>
          </a:prstGeom>
          <a:solidFill>
            <a:srgbClr val="12213B"/>
          </a:solidFill>
          <a:ln w="11430">
            <a:solidFill>
              <a:srgbClr val="31D8FF">
                <a:alpha val="65000"/>
              </a:srgbClr>
            </a:solidFill>
            <a:prstDash val="solid"/>
          </a:ln>
        </p:spPr>
        <p:txBody>
          <a:bodyPr/>
          <a:lstStyle/>
          <a:p>
            <a:endParaRPr lang="en-US"/>
          </a:p>
        </p:txBody>
      </p:sp>
      <p:sp>
        <p:nvSpPr>
          <p:cNvPr id="18" name="Text 16"/>
          <p:cNvSpPr/>
          <p:nvPr/>
        </p:nvSpPr>
        <p:spPr>
          <a:xfrm>
            <a:off x="6537960" y="2221992"/>
            <a:ext cx="4251960" cy="274320"/>
          </a:xfrm>
          <a:prstGeom prst="rect">
            <a:avLst/>
          </a:prstGeom>
          <a:noFill/>
          <a:ln/>
        </p:spPr>
        <p:txBody>
          <a:bodyPr wrap="square" lIns="0" tIns="0" rIns="0" bIns="0" rtlCol="0" anchor="ctr"/>
          <a:lstStyle/>
          <a:p>
            <a:pPr marL="0" indent="0" algn="ctr">
              <a:buNone/>
            </a:pPr>
            <a:r>
              <a:rPr lang="en-US" sz="1950" b="1" dirty="0">
                <a:solidFill>
                  <a:srgbClr val="F8FAFC"/>
                </a:solidFill>
                <a:latin typeface="Aptos Display" pitchFamily="34" charset="0"/>
                <a:ea typeface="Aptos Display" pitchFamily="34" charset="-122"/>
                <a:cs typeface="Aptos Display" pitchFamily="34" charset="-120"/>
              </a:rPr>
              <a:t>Workforce design</a:t>
            </a:r>
            <a:endParaRPr lang="en-US" sz="1950" dirty="0"/>
          </a:p>
        </p:txBody>
      </p:sp>
      <p:sp>
        <p:nvSpPr>
          <p:cNvPr id="19" name="Shape 17"/>
          <p:cNvSpPr/>
          <p:nvPr/>
        </p:nvSpPr>
        <p:spPr>
          <a:xfrm>
            <a:off x="6693408" y="2788920"/>
            <a:ext cx="1920240" cy="1078992"/>
          </a:xfrm>
          <a:prstGeom prst="roundRect">
            <a:avLst>
              <a:gd name="adj" fmla="val 8475"/>
            </a:avLst>
          </a:prstGeom>
          <a:solidFill>
            <a:srgbClr val="12213B">
              <a:alpha val="97000"/>
            </a:srgbClr>
          </a:solidFill>
          <a:ln w="10160">
            <a:solidFill>
              <a:srgbClr val="31D8FF">
                <a:alpha val="55000"/>
              </a:srgbClr>
            </a:solidFill>
            <a:prstDash val="solid"/>
          </a:ln>
        </p:spPr>
        <p:txBody>
          <a:bodyPr/>
          <a:lstStyle/>
          <a:p>
            <a:endParaRPr lang="en-US"/>
          </a:p>
        </p:txBody>
      </p:sp>
      <p:sp>
        <p:nvSpPr>
          <p:cNvPr id="20" name="Text 18"/>
          <p:cNvSpPr/>
          <p:nvPr/>
        </p:nvSpPr>
        <p:spPr>
          <a:xfrm>
            <a:off x="6821424" y="2935224"/>
            <a:ext cx="1664208" cy="420624"/>
          </a:xfrm>
          <a:prstGeom prst="rect">
            <a:avLst/>
          </a:prstGeom>
          <a:noFill/>
          <a:ln/>
        </p:spPr>
        <p:txBody>
          <a:bodyPr wrap="square" lIns="0" tIns="0" rIns="0" bIns="0" rtlCol="0" anchor="ctr">
            <a:normAutofit/>
          </a:bodyPr>
          <a:lstStyle/>
          <a:p>
            <a:pPr marL="0" indent="0">
              <a:buNone/>
            </a:pPr>
            <a:r>
              <a:rPr lang="en-US" sz="2800" b="1" dirty="0">
                <a:solidFill>
                  <a:srgbClr val="31D8FF"/>
                </a:solidFill>
                <a:latin typeface="Aptos Display" pitchFamily="34" charset="0"/>
                <a:ea typeface="Aptos Display" pitchFamily="34" charset="-122"/>
                <a:cs typeface="Aptos Display" pitchFamily="34" charset="-120"/>
              </a:rPr>
              <a:t>700k+</a:t>
            </a:r>
            <a:endParaRPr lang="en-US" sz="2800" dirty="0"/>
          </a:p>
        </p:txBody>
      </p:sp>
      <p:sp>
        <p:nvSpPr>
          <p:cNvPr id="21" name="Text 19"/>
          <p:cNvSpPr/>
          <p:nvPr/>
        </p:nvSpPr>
        <p:spPr>
          <a:xfrm>
            <a:off x="6839712" y="3493008"/>
            <a:ext cx="1627632" cy="329184"/>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employees upskilled</a:t>
            </a:r>
            <a:endParaRPr lang="en-US" sz="1000" dirty="0"/>
          </a:p>
        </p:txBody>
      </p:sp>
      <p:sp>
        <p:nvSpPr>
          <p:cNvPr id="22" name="Shape 20"/>
          <p:cNvSpPr/>
          <p:nvPr/>
        </p:nvSpPr>
        <p:spPr>
          <a:xfrm>
            <a:off x="8796528" y="2788920"/>
            <a:ext cx="1874520" cy="1078992"/>
          </a:xfrm>
          <a:prstGeom prst="roundRect">
            <a:avLst>
              <a:gd name="adj" fmla="val 8475"/>
            </a:avLst>
          </a:prstGeom>
          <a:solidFill>
            <a:srgbClr val="12213B">
              <a:alpha val="97000"/>
            </a:srgbClr>
          </a:solidFill>
          <a:ln w="10160">
            <a:solidFill>
              <a:srgbClr val="22C55E">
                <a:alpha val="55000"/>
              </a:srgbClr>
            </a:solidFill>
            <a:prstDash val="solid"/>
          </a:ln>
        </p:spPr>
        <p:txBody>
          <a:bodyPr/>
          <a:lstStyle/>
          <a:p>
            <a:endParaRPr lang="en-US"/>
          </a:p>
        </p:txBody>
      </p:sp>
      <p:sp>
        <p:nvSpPr>
          <p:cNvPr id="23" name="Text 21"/>
          <p:cNvSpPr/>
          <p:nvPr/>
        </p:nvSpPr>
        <p:spPr>
          <a:xfrm>
            <a:off x="8924544" y="2935224"/>
            <a:ext cx="1618488" cy="420624"/>
          </a:xfrm>
          <a:prstGeom prst="rect">
            <a:avLst/>
          </a:prstGeom>
          <a:noFill/>
          <a:ln/>
        </p:spPr>
        <p:txBody>
          <a:bodyPr wrap="square" lIns="0" tIns="0" rIns="0" bIns="0" rtlCol="0" anchor="ctr">
            <a:normAutofit/>
          </a:bodyPr>
          <a:lstStyle/>
          <a:p>
            <a:pPr marL="0" indent="0">
              <a:buNone/>
            </a:pPr>
            <a:r>
              <a:rPr lang="en-US" sz="2800" b="1" dirty="0">
                <a:solidFill>
                  <a:srgbClr val="22C55E"/>
                </a:solidFill>
                <a:latin typeface="Aptos Display" pitchFamily="34" charset="0"/>
                <a:ea typeface="Aptos Display" pitchFamily="34" charset="-122"/>
                <a:cs typeface="Aptos Display" pitchFamily="34" charset="-120"/>
              </a:rPr>
              <a:t>30%</a:t>
            </a:r>
            <a:endParaRPr lang="en-US" sz="2800" dirty="0"/>
          </a:p>
        </p:txBody>
      </p:sp>
      <p:sp>
        <p:nvSpPr>
          <p:cNvPr id="24" name="Text 22"/>
          <p:cNvSpPr/>
          <p:nvPr/>
        </p:nvSpPr>
        <p:spPr>
          <a:xfrm>
            <a:off x="8942832" y="3493008"/>
            <a:ext cx="1581912" cy="329184"/>
          </a:xfrm>
          <a:prstGeom prst="rect">
            <a:avLst/>
          </a:prstGeom>
          <a:noFill/>
          <a:ln/>
        </p:spPr>
        <p:txBody>
          <a:bodyPr wrap="square" lIns="0" tIns="0" rIns="0" bIns="0" rtlCol="0" anchor="ctr">
            <a:normAutofit/>
          </a:bodyPr>
          <a:lstStyle/>
          <a:p>
            <a:pPr marL="0" indent="0">
              <a:buNone/>
            </a:pPr>
            <a:r>
              <a:rPr lang="en-US" sz="1000" dirty="0">
                <a:solidFill>
                  <a:srgbClr val="F8FAFC"/>
                </a:solidFill>
                <a:latin typeface="Aptos" pitchFamily="34" charset="0"/>
                <a:ea typeface="Aptos" pitchFamily="34" charset="-122"/>
                <a:cs typeface="Aptos" pitchFamily="34" charset="-120"/>
              </a:rPr>
              <a:t>more technical support roles in advanced sites</a:t>
            </a:r>
            <a:endParaRPr lang="en-US" sz="1000" dirty="0"/>
          </a:p>
        </p:txBody>
      </p:sp>
      <p:sp>
        <p:nvSpPr>
          <p:cNvPr id="25" name="Text 23"/>
          <p:cNvSpPr/>
          <p:nvPr/>
        </p:nvSpPr>
        <p:spPr>
          <a:xfrm>
            <a:off x="6675120" y="4261104"/>
            <a:ext cx="4059936" cy="274320"/>
          </a:xfrm>
          <a:prstGeom prst="rect">
            <a:avLst/>
          </a:prstGeom>
          <a:noFill/>
          <a:ln/>
        </p:spPr>
        <p:txBody>
          <a:bodyPr wrap="square" lIns="0" tIns="0" rIns="0" bIns="0" rtlCol="0" anchor="ctr">
            <a:normAutofit/>
          </a:bodyPr>
          <a:lstStyle/>
          <a:p>
            <a:pPr marL="0" indent="0" algn="ctr">
              <a:buNone/>
            </a:pPr>
            <a:r>
              <a:rPr lang="en-US" sz="1080" dirty="0">
                <a:solidFill>
                  <a:srgbClr val="B6C2D5"/>
                </a:solidFill>
                <a:latin typeface="Aptos" pitchFamily="34" charset="0"/>
                <a:ea typeface="Aptos" pitchFamily="34" charset="-122"/>
                <a:cs typeface="Aptos" pitchFamily="34" charset="-120"/>
              </a:rPr>
              <a:t>Use this critically: workforce benefits depend on implementation, job design, transparency, and local labor conditions.</a:t>
            </a:r>
            <a:endParaRPr lang="en-US" sz="1080" dirty="0"/>
          </a:p>
        </p:txBody>
      </p:sp>
      <p:sp>
        <p:nvSpPr>
          <p:cNvPr id="26" name="Shape 24"/>
          <p:cNvSpPr/>
          <p:nvPr/>
        </p:nvSpPr>
        <p:spPr>
          <a:xfrm>
            <a:off x="932688" y="5413248"/>
            <a:ext cx="10149840" cy="603504"/>
          </a:xfrm>
          <a:prstGeom prst="roundRect">
            <a:avLst>
              <a:gd name="adj" fmla="val 18182"/>
            </a:avLst>
          </a:prstGeom>
          <a:solidFill>
            <a:srgbClr val="0F1C33"/>
          </a:solidFill>
          <a:ln w="11430">
            <a:solidFill>
              <a:srgbClr val="F59E0B">
                <a:alpha val="55000"/>
              </a:srgbClr>
            </a:solidFill>
            <a:prstDash val="solid"/>
          </a:ln>
        </p:spPr>
        <p:txBody>
          <a:bodyPr/>
          <a:lstStyle/>
          <a:p>
            <a:endParaRPr lang="en-US"/>
          </a:p>
        </p:txBody>
      </p:sp>
      <p:sp>
        <p:nvSpPr>
          <p:cNvPr id="27" name="Shape 25"/>
          <p:cNvSpPr/>
          <p:nvPr/>
        </p:nvSpPr>
        <p:spPr>
          <a:xfrm>
            <a:off x="932688" y="5413248"/>
            <a:ext cx="64008" cy="603504"/>
          </a:xfrm>
          <a:prstGeom prst="rect">
            <a:avLst/>
          </a:prstGeom>
          <a:solidFill>
            <a:srgbClr val="F59E0B"/>
          </a:solidFill>
          <a:ln w="12700">
            <a:solidFill>
              <a:srgbClr val="F59E0B">
                <a:alpha val="0"/>
              </a:srgbClr>
            </a:solidFill>
            <a:prstDash val="solid"/>
          </a:ln>
        </p:spPr>
        <p:txBody>
          <a:bodyPr/>
          <a:lstStyle/>
          <a:p>
            <a:endParaRPr lang="en-US"/>
          </a:p>
        </p:txBody>
      </p:sp>
      <p:sp>
        <p:nvSpPr>
          <p:cNvPr id="28" name="Text 26"/>
          <p:cNvSpPr/>
          <p:nvPr/>
        </p:nvSpPr>
        <p:spPr>
          <a:xfrm>
            <a:off x="1097280" y="5522976"/>
            <a:ext cx="9857232" cy="420624"/>
          </a:xfrm>
          <a:prstGeom prst="rect">
            <a:avLst/>
          </a:prstGeom>
          <a:noFill/>
          <a:ln/>
        </p:spPr>
        <p:txBody>
          <a:bodyPr wrap="square" lIns="254" tIns="254" rIns="254" bIns="254" rtlCol="0" anchor="ctr">
            <a:normAutofit/>
          </a:bodyPr>
          <a:lstStyle/>
          <a:p>
            <a:pPr marL="0" indent="0">
              <a:buNone/>
            </a:pPr>
            <a:r>
              <a:rPr lang="en-US" sz="1420" dirty="0">
                <a:solidFill>
                  <a:srgbClr val="F8FAFC"/>
                </a:solidFill>
                <a:latin typeface="Aptos" pitchFamily="34" charset="0"/>
                <a:ea typeface="Aptos" pitchFamily="34" charset="-122"/>
                <a:cs typeface="Aptos" pitchFamily="34" charset="-120"/>
              </a:rPr>
              <a:t>Safety is not only collision avoidance. It includes ergonomic risk, exception handling, training, maintenance, and governance of software updates.</a:t>
            </a:r>
            <a:endParaRPr lang="en-US" sz="1420" dirty="0"/>
          </a:p>
        </p:txBody>
      </p:sp>
      <p:sp>
        <p:nvSpPr>
          <p:cNvPr id="29" name="Text 27"/>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Sources: Amazon DeepFleet launch; Amazon next-generation fulfillment center update.</a:t>
            </a:r>
            <a:endParaRPr lang="en-US" sz="760" dirty="0"/>
          </a:p>
        </p:txBody>
      </p:sp>
      <p:sp>
        <p:nvSpPr>
          <p:cNvPr id="30" name="Shape 28"/>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1" name="Text 29"/>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PHYSICAL AI CASE STUDY</a:t>
            </a:r>
            <a:endParaRPr lang="en-US" sz="780" dirty="0"/>
          </a:p>
        </p:txBody>
      </p:sp>
      <p:sp>
        <p:nvSpPr>
          <p:cNvPr id="32" name="Text 30"/>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28</a:t>
            </a:r>
            <a:endParaRPr lang="en-US" sz="8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29</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Reported outcomes — and what to question</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A good case study includes both evidence and limits.</a:t>
            </a:r>
            <a:endParaRPr lang="en-US" sz="1450" dirty="0"/>
          </a:p>
        </p:txBody>
      </p:sp>
      <p:sp>
        <p:nvSpPr>
          <p:cNvPr id="7" name="Shape 5"/>
          <p:cNvSpPr/>
          <p:nvPr/>
        </p:nvSpPr>
        <p:spPr>
          <a:xfrm>
            <a:off x="868680" y="1938528"/>
            <a:ext cx="4983480" cy="3383280"/>
          </a:xfrm>
          <a:prstGeom prst="roundRect">
            <a:avLst>
              <a:gd name="adj" fmla="val 4324"/>
            </a:avLst>
          </a:prstGeom>
          <a:solidFill>
            <a:srgbClr val="12213B"/>
          </a:solidFill>
          <a:ln w="12700">
            <a:solidFill>
              <a:srgbClr val="22C55E">
                <a:alpha val="65000"/>
              </a:srgbClr>
            </a:solidFill>
            <a:prstDash val="solid"/>
          </a:ln>
        </p:spPr>
        <p:txBody>
          <a:bodyPr/>
          <a:lstStyle/>
          <a:p>
            <a:endParaRPr lang="en-US"/>
          </a:p>
        </p:txBody>
      </p:sp>
      <p:sp>
        <p:nvSpPr>
          <p:cNvPr id="8" name="Text 6"/>
          <p:cNvSpPr/>
          <p:nvPr/>
        </p:nvSpPr>
        <p:spPr>
          <a:xfrm>
            <a:off x="1170432" y="2212848"/>
            <a:ext cx="4370832" cy="292608"/>
          </a:xfrm>
          <a:prstGeom prst="rect">
            <a:avLst/>
          </a:prstGeom>
          <a:noFill/>
          <a:ln/>
        </p:spPr>
        <p:txBody>
          <a:bodyPr wrap="square" lIns="0" tIns="0" rIns="0" bIns="0" rtlCol="0" anchor="ctr"/>
          <a:lstStyle/>
          <a:p>
            <a:pPr marL="0" indent="0" algn="ctr">
              <a:buNone/>
            </a:pPr>
            <a:r>
              <a:rPr lang="en-US" sz="2000" b="1" dirty="0">
                <a:solidFill>
                  <a:srgbClr val="F8FAFC"/>
                </a:solidFill>
                <a:latin typeface="Aptos Display" pitchFamily="34" charset="0"/>
                <a:ea typeface="Aptos Display" pitchFamily="34" charset="-122"/>
                <a:cs typeface="Aptos Display" pitchFamily="34" charset="-120"/>
              </a:rPr>
              <a:t>Reported by Amazon</a:t>
            </a:r>
            <a:endParaRPr lang="en-US" sz="2000" dirty="0"/>
          </a:p>
        </p:txBody>
      </p:sp>
      <p:sp>
        <p:nvSpPr>
          <p:cNvPr id="9" name="Text 7"/>
          <p:cNvSpPr/>
          <p:nvPr/>
        </p:nvSpPr>
        <p:spPr>
          <a:xfrm>
            <a:off x="1143000" y="2788920"/>
            <a:ext cx="1417320" cy="182880"/>
          </a:xfrm>
          <a:prstGeom prst="rect">
            <a:avLst/>
          </a:prstGeom>
          <a:noFill/>
          <a:ln/>
        </p:spPr>
        <p:txBody>
          <a:bodyPr wrap="square" lIns="0" tIns="0" rIns="0" bIns="0" rtlCol="0" anchor="ctr"/>
          <a:lstStyle/>
          <a:p>
            <a:pPr marL="0" indent="0">
              <a:buNone/>
            </a:pPr>
            <a:r>
              <a:rPr lang="en-US" sz="1240" b="1" dirty="0">
                <a:solidFill>
                  <a:srgbClr val="31D8FF"/>
                </a:solidFill>
                <a:latin typeface="Aptos Display" pitchFamily="34" charset="0"/>
                <a:ea typeface="Aptos Display" pitchFamily="34" charset="-122"/>
                <a:cs typeface="Aptos Display" pitchFamily="34" charset="-120"/>
              </a:rPr>
              <a:t>Scale</a:t>
            </a:r>
            <a:endParaRPr lang="en-US" sz="1240" dirty="0"/>
          </a:p>
        </p:txBody>
      </p:sp>
      <p:sp>
        <p:nvSpPr>
          <p:cNvPr id="10" name="Text 8"/>
          <p:cNvSpPr/>
          <p:nvPr/>
        </p:nvSpPr>
        <p:spPr>
          <a:xfrm>
            <a:off x="2633472" y="2788920"/>
            <a:ext cx="2834640" cy="201168"/>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more than 1 million robots deployed</a:t>
            </a:r>
            <a:endParaRPr lang="en-US" sz="1020" dirty="0"/>
          </a:p>
        </p:txBody>
      </p:sp>
      <p:sp>
        <p:nvSpPr>
          <p:cNvPr id="11" name="Text 9"/>
          <p:cNvSpPr/>
          <p:nvPr/>
        </p:nvSpPr>
        <p:spPr>
          <a:xfrm>
            <a:off x="1143000" y="3300984"/>
            <a:ext cx="1417320" cy="182880"/>
          </a:xfrm>
          <a:prstGeom prst="rect">
            <a:avLst/>
          </a:prstGeom>
          <a:noFill/>
          <a:ln/>
        </p:spPr>
        <p:txBody>
          <a:bodyPr wrap="square" lIns="0" tIns="0" rIns="0" bIns="0" rtlCol="0" anchor="ctr"/>
          <a:lstStyle/>
          <a:p>
            <a:pPr marL="0" indent="0">
              <a:buNone/>
            </a:pPr>
            <a:r>
              <a:rPr lang="en-US" sz="1240" b="1" dirty="0">
                <a:solidFill>
                  <a:srgbClr val="3B82F6"/>
                </a:solidFill>
                <a:latin typeface="Aptos Display" pitchFamily="34" charset="0"/>
                <a:ea typeface="Aptos Display" pitchFamily="34" charset="-122"/>
                <a:cs typeface="Aptos Display" pitchFamily="34" charset="-120"/>
              </a:rPr>
              <a:t>Fleet efficiency</a:t>
            </a:r>
            <a:endParaRPr lang="en-US" sz="1240" dirty="0"/>
          </a:p>
        </p:txBody>
      </p:sp>
      <p:sp>
        <p:nvSpPr>
          <p:cNvPr id="12" name="Text 10"/>
          <p:cNvSpPr/>
          <p:nvPr/>
        </p:nvSpPr>
        <p:spPr>
          <a:xfrm>
            <a:off x="2633472" y="3300984"/>
            <a:ext cx="2834640" cy="201168"/>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DeepFleet targets 10% better robot travel efficiency</a:t>
            </a:r>
            <a:endParaRPr lang="en-US" sz="1020" dirty="0"/>
          </a:p>
        </p:txBody>
      </p:sp>
      <p:sp>
        <p:nvSpPr>
          <p:cNvPr id="13" name="Text 11"/>
          <p:cNvSpPr/>
          <p:nvPr/>
        </p:nvSpPr>
        <p:spPr>
          <a:xfrm>
            <a:off x="1143000" y="3813048"/>
            <a:ext cx="1417320" cy="182880"/>
          </a:xfrm>
          <a:prstGeom prst="rect">
            <a:avLst/>
          </a:prstGeom>
          <a:noFill/>
          <a:ln/>
        </p:spPr>
        <p:txBody>
          <a:bodyPr wrap="square" lIns="0" tIns="0" rIns="0" bIns="0" rtlCol="0" anchor="ctr"/>
          <a:lstStyle/>
          <a:p>
            <a:pPr marL="0" indent="0">
              <a:buNone/>
            </a:pPr>
            <a:r>
              <a:rPr lang="en-US" sz="1240" b="1" dirty="0">
                <a:solidFill>
                  <a:srgbClr val="F59E0B"/>
                </a:solidFill>
                <a:latin typeface="Aptos Display" pitchFamily="34" charset="0"/>
                <a:ea typeface="Aptos Display" pitchFamily="34" charset="-122"/>
                <a:cs typeface="Aptos Display" pitchFamily="34" charset="-120"/>
              </a:rPr>
              <a:t>Site throughput</a:t>
            </a:r>
            <a:endParaRPr lang="en-US" sz="1240" dirty="0"/>
          </a:p>
        </p:txBody>
      </p:sp>
      <p:sp>
        <p:nvSpPr>
          <p:cNvPr id="14" name="Text 12"/>
          <p:cNvSpPr/>
          <p:nvPr/>
        </p:nvSpPr>
        <p:spPr>
          <a:xfrm>
            <a:off x="2633472" y="3813048"/>
            <a:ext cx="2834640" cy="201168"/>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up to 25% lower fulfillment processing time in next-gen sites</a:t>
            </a:r>
            <a:endParaRPr lang="en-US" sz="1020" dirty="0"/>
          </a:p>
        </p:txBody>
      </p:sp>
      <p:sp>
        <p:nvSpPr>
          <p:cNvPr id="15" name="Text 13"/>
          <p:cNvSpPr/>
          <p:nvPr/>
        </p:nvSpPr>
        <p:spPr>
          <a:xfrm>
            <a:off x="1143000" y="4325112"/>
            <a:ext cx="1417320" cy="182880"/>
          </a:xfrm>
          <a:prstGeom prst="rect">
            <a:avLst/>
          </a:prstGeom>
          <a:noFill/>
          <a:ln/>
        </p:spPr>
        <p:txBody>
          <a:bodyPr wrap="square" lIns="0" tIns="0" rIns="0" bIns="0" rtlCol="0" anchor="ctr"/>
          <a:lstStyle/>
          <a:p>
            <a:pPr marL="0" indent="0">
              <a:buNone/>
            </a:pPr>
            <a:r>
              <a:rPr lang="en-US" sz="1240" b="1" dirty="0">
                <a:solidFill>
                  <a:srgbClr val="22C55E"/>
                </a:solidFill>
                <a:latin typeface="Aptos Display" pitchFamily="34" charset="0"/>
                <a:ea typeface="Aptos Display" pitchFamily="34" charset="-122"/>
                <a:cs typeface="Aptos Display" pitchFamily="34" charset="-120"/>
              </a:rPr>
              <a:t>Human workflow</a:t>
            </a:r>
            <a:endParaRPr lang="en-US" sz="1240" dirty="0"/>
          </a:p>
        </p:txBody>
      </p:sp>
      <p:sp>
        <p:nvSpPr>
          <p:cNvPr id="16" name="Text 14"/>
          <p:cNvSpPr/>
          <p:nvPr/>
        </p:nvSpPr>
        <p:spPr>
          <a:xfrm>
            <a:off x="2633472" y="4325112"/>
            <a:ext cx="2834640" cy="201168"/>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ergonomic workstations and more technical support roles</a:t>
            </a:r>
            <a:endParaRPr lang="en-US" sz="1020" dirty="0"/>
          </a:p>
        </p:txBody>
      </p:sp>
      <p:sp>
        <p:nvSpPr>
          <p:cNvPr id="17" name="Shape 15"/>
          <p:cNvSpPr/>
          <p:nvPr/>
        </p:nvSpPr>
        <p:spPr>
          <a:xfrm>
            <a:off x="6263640" y="1938528"/>
            <a:ext cx="4983480" cy="3383280"/>
          </a:xfrm>
          <a:prstGeom prst="roundRect">
            <a:avLst>
              <a:gd name="adj" fmla="val 4324"/>
            </a:avLst>
          </a:prstGeom>
          <a:solidFill>
            <a:srgbClr val="12213B"/>
          </a:solidFill>
          <a:ln w="12700">
            <a:solidFill>
              <a:srgbClr val="F59E0B">
                <a:alpha val="65000"/>
              </a:srgbClr>
            </a:solidFill>
            <a:prstDash val="solid"/>
          </a:ln>
        </p:spPr>
        <p:txBody>
          <a:bodyPr/>
          <a:lstStyle/>
          <a:p>
            <a:endParaRPr lang="en-US"/>
          </a:p>
        </p:txBody>
      </p:sp>
      <p:sp>
        <p:nvSpPr>
          <p:cNvPr id="18" name="Text 16"/>
          <p:cNvSpPr/>
          <p:nvPr/>
        </p:nvSpPr>
        <p:spPr>
          <a:xfrm>
            <a:off x="6565392" y="2212848"/>
            <a:ext cx="4370832" cy="292608"/>
          </a:xfrm>
          <a:prstGeom prst="rect">
            <a:avLst/>
          </a:prstGeom>
          <a:noFill/>
          <a:ln/>
        </p:spPr>
        <p:txBody>
          <a:bodyPr wrap="square" lIns="0" tIns="0" rIns="0" bIns="0" rtlCol="0" anchor="ctr"/>
          <a:lstStyle/>
          <a:p>
            <a:pPr marL="0" indent="0" algn="ctr">
              <a:buNone/>
            </a:pPr>
            <a:r>
              <a:rPr lang="en-US" sz="2000" b="1" dirty="0">
                <a:solidFill>
                  <a:srgbClr val="F8FAFC"/>
                </a:solidFill>
                <a:latin typeface="Aptos Display" pitchFamily="34" charset="0"/>
                <a:ea typeface="Aptos Display" pitchFamily="34" charset="-122"/>
                <a:cs typeface="Aptos Display" pitchFamily="34" charset="-120"/>
              </a:rPr>
              <a:t>Critical reading</a:t>
            </a:r>
            <a:endParaRPr lang="en-US" sz="2000" dirty="0"/>
          </a:p>
        </p:txBody>
      </p:sp>
      <p:sp>
        <p:nvSpPr>
          <p:cNvPr id="19" name="Text 17"/>
          <p:cNvSpPr/>
          <p:nvPr/>
        </p:nvSpPr>
        <p:spPr>
          <a:xfrm>
            <a:off x="6537960" y="2788920"/>
            <a:ext cx="1417320" cy="182880"/>
          </a:xfrm>
          <a:prstGeom prst="rect">
            <a:avLst/>
          </a:prstGeom>
          <a:noFill/>
          <a:ln/>
        </p:spPr>
        <p:txBody>
          <a:bodyPr wrap="square" lIns="0" tIns="0" rIns="0" bIns="0" rtlCol="0" anchor="ctr">
            <a:normAutofit/>
          </a:bodyPr>
          <a:lstStyle/>
          <a:p>
            <a:pPr marL="0" indent="0">
              <a:buNone/>
            </a:pPr>
            <a:r>
              <a:rPr lang="en-US" sz="1240" b="1" dirty="0">
                <a:solidFill>
                  <a:srgbClr val="31D8FF"/>
                </a:solidFill>
                <a:latin typeface="Aptos Display" pitchFamily="34" charset="0"/>
                <a:ea typeface="Aptos Display" pitchFamily="34" charset="-122"/>
                <a:cs typeface="Aptos Display" pitchFamily="34" charset="-120"/>
              </a:rPr>
              <a:t>Metric scope</a:t>
            </a:r>
            <a:endParaRPr lang="en-US" sz="1240" dirty="0"/>
          </a:p>
        </p:txBody>
      </p:sp>
      <p:sp>
        <p:nvSpPr>
          <p:cNvPr id="20" name="Text 18"/>
          <p:cNvSpPr/>
          <p:nvPr/>
        </p:nvSpPr>
        <p:spPr>
          <a:xfrm>
            <a:off x="8028432" y="2788920"/>
            <a:ext cx="2816352" cy="201168"/>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robot travel efficiency is not total order-cycle efficiency</a:t>
            </a:r>
            <a:endParaRPr lang="en-US" sz="1020" dirty="0"/>
          </a:p>
        </p:txBody>
      </p:sp>
      <p:sp>
        <p:nvSpPr>
          <p:cNvPr id="21" name="Text 19"/>
          <p:cNvSpPr/>
          <p:nvPr/>
        </p:nvSpPr>
        <p:spPr>
          <a:xfrm>
            <a:off x="6537960" y="3300984"/>
            <a:ext cx="1417320" cy="182880"/>
          </a:xfrm>
          <a:prstGeom prst="rect">
            <a:avLst/>
          </a:prstGeom>
          <a:noFill/>
          <a:ln/>
        </p:spPr>
        <p:txBody>
          <a:bodyPr wrap="square" lIns="0" tIns="0" rIns="0" bIns="0" rtlCol="0" anchor="ctr">
            <a:normAutofit/>
          </a:bodyPr>
          <a:lstStyle/>
          <a:p>
            <a:pPr marL="0" indent="0">
              <a:buNone/>
            </a:pPr>
            <a:r>
              <a:rPr lang="en-US" sz="1240" b="1" dirty="0">
                <a:solidFill>
                  <a:srgbClr val="3B82F6"/>
                </a:solidFill>
                <a:latin typeface="Aptos Display" pitchFamily="34" charset="0"/>
                <a:ea typeface="Aptos Display" pitchFamily="34" charset="-122"/>
                <a:cs typeface="Aptos Display" pitchFamily="34" charset="-120"/>
              </a:rPr>
              <a:t>Evidence</a:t>
            </a:r>
            <a:endParaRPr lang="en-US" sz="1240" dirty="0"/>
          </a:p>
        </p:txBody>
      </p:sp>
      <p:sp>
        <p:nvSpPr>
          <p:cNvPr id="22" name="Text 20"/>
          <p:cNvSpPr/>
          <p:nvPr/>
        </p:nvSpPr>
        <p:spPr>
          <a:xfrm>
            <a:off x="8028432" y="3300984"/>
            <a:ext cx="2816352" cy="201168"/>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most published figures are company-reported</a:t>
            </a:r>
            <a:endParaRPr lang="en-US" sz="1020" dirty="0"/>
          </a:p>
        </p:txBody>
      </p:sp>
      <p:sp>
        <p:nvSpPr>
          <p:cNvPr id="23" name="Text 21"/>
          <p:cNvSpPr/>
          <p:nvPr/>
        </p:nvSpPr>
        <p:spPr>
          <a:xfrm>
            <a:off x="6537960" y="3813048"/>
            <a:ext cx="1417320" cy="182880"/>
          </a:xfrm>
          <a:prstGeom prst="rect">
            <a:avLst/>
          </a:prstGeom>
          <a:noFill/>
          <a:ln/>
        </p:spPr>
        <p:txBody>
          <a:bodyPr wrap="square" lIns="0" tIns="0" rIns="0" bIns="0" rtlCol="0" anchor="ctr">
            <a:normAutofit/>
          </a:bodyPr>
          <a:lstStyle/>
          <a:p>
            <a:pPr marL="0" indent="0">
              <a:buNone/>
            </a:pPr>
            <a:r>
              <a:rPr lang="en-US" sz="1240" b="1" dirty="0">
                <a:solidFill>
                  <a:srgbClr val="F59E0B"/>
                </a:solidFill>
                <a:latin typeface="Aptos Display" pitchFamily="34" charset="0"/>
                <a:ea typeface="Aptos Display" pitchFamily="34" charset="-122"/>
                <a:cs typeface="Aptos Display" pitchFamily="34" charset="-120"/>
              </a:rPr>
              <a:t>Transferability</a:t>
            </a:r>
            <a:endParaRPr lang="en-US" sz="1240" dirty="0"/>
          </a:p>
        </p:txBody>
      </p:sp>
      <p:sp>
        <p:nvSpPr>
          <p:cNvPr id="24" name="Text 22"/>
          <p:cNvSpPr/>
          <p:nvPr/>
        </p:nvSpPr>
        <p:spPr>
          <a:xfrm>
            <a:off x="8028432" y="3813048"/>
            <a:ext cx="2816352" cy="201168"/>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warehouse logistics is more bounded than homes, hospitals, or roads</a:t>
            </a:r>
            <a:endParaRPr lang="en-US" sz="1020" dirty="0"/>
          </a:p>
        </p:txBody>
      </p:sp>
      <p:sp>
        <p:nvSpPr>
          <p:cNvPr id="25" name="Text 23"/>
          <p:cNvSpPr/>
          <p:nvPr/>
        </p:nvSpPr>
        <p:spPr>
          <a:xfrm>
            <a:off x="6537960" y="4325112"/>
            <a:ext cx="1417320" cy="182880"/>
          </a:xfrm>
          <a:prstGeom prst="rect">
            <a:avLst/>
          </a:prstGeom>
          <a:noFill/>
          <a:ln/>
        </p:spPr>
        <p:txBody>
          <a:bodyPr wrap="square" lIns="0" tIns="0" rIns="0" bIns="0" rtlCol="0" anchor="ctr">
            <a:normAutofit/>
          </a:bodyPr>
          <a:lstStyle/>
          <a:p>
            <a:pPr marL="0" indent="0">
              <a:buNone/>
            </a:pPr>
            <a:r>
              <a:rPr lang="en-US" sz="1240" b="1" dirty="0">
                <a:solidFill>
                  <a:srgbClr val="22C55E"/>
                </a:solidFill>
                <a:latin typeface="Aptos Display" pitchFamily="34" charset="0"/>
                <a:ea typeface="Aptos Display" pitchFamily="34" charset="-122"/>
                <a:cs typeface="Aptos Display" pitchFamily="34" charset="-120"/>
              </a:rPr>
              <a:t>Governance</a:t>
            </a:r>
            <a:endParaRPr lang="en-US" sz="1240" dirty="0"/>
          </a:p>
        </p:txBody>
      </p:sp>
      <p:sp>
        <p:nvSpPr>
          <p:cNvPr id="26" name="Text 24"/>
          <p:cNvSpPr/>
          <p:nvPr/>
        </p:nvSpPr>
        <p:spPr>
          <a:xfrm>
            <a:off x="8028432" y="4325112"/>
            <a:ext cx="2816352" cy="201168"/>
          </a:xfrm>
          <a:prstGeom prst="rect">
            <a:avLst/>
          </a:prstGeom>
          <a:noFill/>
          <a:ln/>
        </p:spPr>
        <p:txBody>
          <a:bodyPr wrap="square" lIns="0" tIns="0" rIns="0" bIns="0" rtlCol="0" anchor="ctr">
            <a:normAutofit/>
          </a:bodyPr>
          <a:lstStyle/>
          <a:p>
            <a:pPr marL="0" indent="0">
              <a:buNone/>
            </a:pPr>
            <a:r>
              <a:rPr lang="en-US" sz="1020" dirty="0">
                <a:solidFill>
                  <a:srgbClr val="B6C2D5"/>
                </a:solidFill>
                <a:latin typeface="Aptos" pitchFamily="34" charset="0"/>
                <a:ea typeface="Aptos" pitchFamily="34" charset="-122"/>
                <a:cs typeface="Aptos" pitchFamily="34" charset="-120"/>
              </a:rPr>
              <a:t>software updates can change behavior after validation</a:t>
            </a:r>
            <a:endParaRPr lang="en-US" sz="1020" dirty="0"/>
          </a:p>
        </p:txBody>
      </p:sp>
      <p:sp>
        <p:nvSpPr>
          <p:cNvPr id="27" name="Shape 25"/>
          <p:cNvSpPr/>
          <p:nvPr/>
        </p:nvSpPr>
        <p:spPr>
          <a:xfrm>
            <a:off x="932688" y="5596128"/>
            <a:ext cx="10149840" cy="457200"/>
          </a:xfrm>
          <a:prstGeom prst="roundRect">
            <a:avLst>
              <a:gd name="adj" fmla="val 24000"/>
            </a:avLst>
          </a:prstGeom>
          <a:solidFill>
            <a:srgbClr val="0F1C33"/>
          </a:solidFill>
          <a:ln w="11430">
            <a:solidFill>
              <a:srgbClr val="31D8FF">
                <a:alpha val="55000"/>
              </a:srgbClr>
            </a:solidFill>
            <a:prstDash val="solid"/>
          </a:ln>
        </p:spPr>
        <p:txBody>
          <a:bodyPr/>
          <a:lstStyle/>
          <a:p>
            <a:endParaRPr lang="en-US"/>
          </a:p>
        </p:txBody>
      </p:sp>
      <p:sp>
        <p:nvSpPr>
          <p:cNvPr id="28" name="Shape 26"/>
          <p:cNvSpPr/>
          <p:nvPr/>
        </p:nvSpPr>
        <p:spPr>
          <a:xfrm>
            <a:off x="932688" y="5596128"/>
            <a:ext cx="64008" cy="457200"/>
          </a:xfrm>
          <a:prstGeom prst="rect">
            <a:avLst/>
          </a:prstGeom>
          <a:solidFill>
            <a:srgbClr val="31D8FF"/>
          </a:solidFill>
          <a:ln w="12700">
            <a:solidFill>
              <a:srgbClr val="31D8FF">
                <a:alpha val="0"/>
              </a:srgbClr>
            </a:solidFill>
            <a:prstDash val="solid"/>
          </a:ln>
        </p:spPr>
        <p:txBody>
          <a:bodyPr/>
          <a:lstStyle/>
          <a:p>
            <a:endParaRPr lang="en-US"/>
          </a:p>
        </p:txBody>
      </p:sp>
      <p:sp>
        <p:nvSpPr>
          <p:cNvPr id="29" name="Text 27"/>
          <p:cNvSpPr/>
          <p:nvPr/>
        </p:nvSpPr>
        <p:spPr>
          <a:xfrm>
            <a:off x="1097280" y="5705856"/>
            <a:ext cx="9857232" cy="274320"/>
          </a:xfrm>
          <a:prstGeom prst="rect">
            <a:avLst/>
          </a:prstGeom>
          <a:noFill/>
          <a:ln/>
        </p:spPr>
        <p:txBody>
          <a:bodyPr wrap="square" lIns="254" tIns="254" rIns="254" bIns="254" rtlCol="0" anchor="ctr">
            <a:normAutofit/>
          </a:bodyPr>
          <a:lstStyle/>
          <a:p>
            <a:pPr marL="0" indent="0">
              <a:buNone/>
            </a:pPr>
            <a:r>
              <a:rPr lang="en-US" sz="1480" dirty="0">
                <a:solidFill>
                  <a:srgbClr val="F8FAFC"/>
                </a:solidFill>
                <a:latin typeface="Aptos" pitchFamily="34" charset="0"/>
                <a:ea typeface="Aptos" pitchFamily="34" charset="-122"/>
                <a:cs typeface="Aptos" pitchFamily="34" charset="-120"/>
              </a:rPr>
              <a:t>Case-study discipline: separate operational claims, independent evidence, and design lessons.</a:t>
            </a:r>
            <a:endParaRPr lang="en-US" sz="1480" dirty="0"/>
          </a:p>
        </p:txBody>
      </p:sp>
      <p:sp>
        <p:nvSpPr>
          <p:cNvPr id="30" name="Text 28"/>
          <p:cNvSpPr/>
          <p:nvPr/>
        </p:nvSpPr>
        <p:spPr>
          <a:xfrm>
            <a:off x="658368" y="6163056"/>
            <a:ext cx="10789920" cy="201168"/>
          </a:xfrm>
          <a:prstGeom prst="rect">
            <a:avLst/>
          </a:prstGeom>
          <a:noFill/>
          <a:ln/>
        </p:spPr>
        <p:txBody>
          <a:bodyPr wrap="square" lIns="0" tIns="0" rIns="0" bIns="0" rtlCol="0" anchor="ctr">
            <a:normAutofit/>
          </a:bodyPr>
          <a:lstStyle/>
          <a:p>
            <a:pPr marL="0" indent="0">
              <a:buNone/>
            </a:pPr>
            <a:r>
              <a:rPr lang="en-US" sz="760" dirty="0">
                <a:solidFill>
                  <a:srgbClr val="8391A8"/>
                </a:solidFill>
                <a:latin typeface="Aptos" pitchFamily="34" charset="0"/>
                <a:ea typeface="Aptos" pitchFamily="34" charset="-122"/>
                <a:cs typeface="Aptos" pitchFamily="34" charset="-120"/>
              </a:rPr>
              <a:t>Sources: Amazon Robotics/Operations updates; interpretation is based on scope of the reported metrics.</a:t>
            </a:r>
            <a:endParaRPr lang="en-US" sz="760" dirty="0"/>
          </a:p>
        </p:txBody>
      </p:sp>
      <p:sp>
        <p:nvSpPr>
          <p:cNvPr id="31" name="Shape 29"/>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2" name="Text 30"/>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PHYSICAL AI CASE STUDY</a:t>
            </a:r>
            <a:endParaRPr lang="en-US" sz="780" dirty="0"/>
          </a:p>
        </p:txBody>
      </p:sp>
      <p:sp>
        <p:nvSpPr>
          <p:cNvPr id="33" name="Text 31"/>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29</a:t>
            </a:r>
            <a:endParaRPr lang="en-US" sz="8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30</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Transferable design lessons</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What another organization can borrow from the case without copying Amazon’s scale.</a:t>
            </a:r>
            <a:endParaRPr lang="en-US" sz="1450" dirty="0"/>
          </a:p>
        </p:txBody>
      </p:sp>
      <p:sp>
        <p:nvSpPr>
          <p:cNvPr id="7" name="Shape 5"/>
          <p:cNvSpPr/>
          <p:nvPr/>
        </p:nvSpPr>
        <p:spPr>
          <a:xfrm>
            <a:off x="868680" y="1947672"/>
            <a:ext cx="10241280" cy="658368"/>
          </a:xfrm>
          <a:prstGeom prst="roundRect">
            <a:avLst>
              <a:gd name="adj" fmla="val 13889"/>
            </a:avLst>
          </a:prstGeom>
          <a:solidFill>
            <a:srgbClr val="12213B"/>
          </a:solidFill>
          <a:ln w="10160">
            <a:solidFill>
              <a:srgbClr val="31D8FF">
                <a:alpha val="62000"/>
              </a:srgbClr>
            </a:solidFill>
            <a:prstDash val="solid"/>
          </a:ln>
        </p:spPr>
        <p:txBody>
          <a:bodyPr/>
          <a:lstStyle/>
          <a:p>
            <a:endParaRPr lang="en-US"/>
          </a:p>
        </p:txBody>
      </p:sp>
      <p:sp>
        <p:nvSpPr>
          <p:cNvPr id="8" name="Shape 6"/>
          <p:cNvSpPr/>
          <p:nvPr/>
        </p:nvSpPr>
        <p:spPr>
          <a:xfrm>
            <a:off x="1078992" y="2112264"/>
            <a:ext cx="329184" cy="329184"/>
          </a:xfrm>
          <a:prstGeom prst="ellipse">
            <a:avLst/>
          </a:prstGeom>
          <a:solidFill>
            <a:srgbClr val="31D8FF"/>
          </a:solidFill>
          <a:ln w="12700">
            <a:solidFill>
              <a:srgbClr val="31D8FF">
                <a:alpha val="0"/>
              </a:srgbClr>
            </a:solidFill>
            <a:prstDash val="solid"/>
          </a:ln>
        </p:spPr>
        <p:txBody>
          <a:bodyPr/>
          <a:lstStyle/>
          <a:p>
            <a:endParaRPr lang="en-US"/>
          </a:p>
        </p:txBody>
      </p:sp>
      <p:sp>
        <p:nvSpPr>
          <p:cNvPr id="9" name="Text 7"/>
          <p:cNvSpPr/>
          <p:nvPr/>
        </p:nvSpPr>
        <p:spPr>
          <a:xfrm>
            <a:off x="1078992" y="2176272"/>
            <a:ext cx="329184" cy="118872"/>
          </a:xfrm>
          <a:prstGeom prst="rect">
            <a:avLst/>
          </a:prstGeom>
          <a:noFill/>
          <a:ln/>
        </p:spPr>
        <p:txBody>
          <a:bodyPr wrap="square" lIns="0" tIns="0" rIns="0" bIns="0" rtlCol="0" anchor="ctr"/>
          <a:lstStyle/>
          <a:p>
            <a:pPr marL="0" indent="0" algn="ctr">
              <a:buNone/>
            </a:pPr>
            <a:r>
              <a:rPr lang="en-US" sz="850" b="1" dirty="0">
                <a:solidFill>
                  <a:srgbClr val="07101F"/>
                </a:solidFill>
                <a:latin typeface="Aptos Display" pitchFamily="34" charset="0"/>
                <a:ea typeface="Aptos Display" pitchFamily="34" charset="-122"/>
                <a:cs typeface="Aptos Display" pitchFamily="34" charset="-120"/>
              </a:rPr>
              <a:t>1</a:t>
            </a:r>
            <a:endParaRPr lang="en-US" sz="850" dirty="0"/>
          </a:p>
        </p:txBody>
      </p:sp>
      <p:sp>
        <p:nvSpPr>
          <p:cNvPr id="10" name="Text 8"/>
          <p:cNvSpPr/>
          <p:nvPr/>
        </p:nvSpPr>
        <p:spPr>
          <a:xfrm>
            <a:off x="1600200" y="2075688"/>
            <a:ext cx="2606040" cy="210312"/>
          </a:xfrm>
          <a:prstGeom prst="rect">
            <a:avLst/>
          </a:prstGeom>
          <a:noFill/>
          <a:ln/>
        </p:spPr>
        <p:txBody>
          <a:bodyPr wrap="square" lIns="0" tIns="0" rIns="0" bIns="0" rtlCol="0" anchor="ctr">
            <a:normAutofit/>
          </a:bodyPr>
          <a:lstStyle/>
          <a:p>
            <a:pPr marL="0" indent="0">
              <a:buNone/>
            </a:pPr>
            <a:r>
              <a:rPr lang="en-US" sz="1440" b="1" dirty="0">
                <a:solidFill>
                  <a:srgbClr val="F8FAFC"/>
                </a:solidFill>
                <a:latin typeface="Aptos Display" pitchFamily="34" charset="0"/>
                <a:ea typeface="Aptos Display" pitchFamily="34" charset="-122"/>
                <a:cs typeface="Aptos Display" pitchFamily="34" charset="-120"/>
              </a:rPr>
              <a:t>Bound the operating domain</a:t>
            </a:r>
            <a:endParaRPr lang="en-US" sz="1440" dirty="0"/>
          </a:p>
        </p:txBody>
      </p:sp>
      <p:sp>
        <p:nvSpPr>
          <p:cNvPr id="11" name="Text 9"/>
          <p:cNvSpPr/>
          <p:nvPr/>
        </p:nvSpPr>
        <p:spPr>
          <a:xfrm>
            <a:off x="4407408" y="2075688"/>
            <a:ext cx="6245352" cy="219456"/>
          </a:xfrm>
          <a:prstGeom prst="rect">
            <a:avLst/>
          </a:prstGeom>
          <a:noFill/>
          <a:ln/>
        </p:spPr>
        <p:txBody>
          <a:bodyPr wrap="square" lIns="0" tIns="0" rIns="0" bIns="0" rtlCol="0" anchor="ctr">
            <a:normAutofit/>
          </a:bodyPr>
          <a:lstStyle/>
          <a:p>
            <a:pPr marL="0" indent="0">
              <a:buNone/>
            </a:pPr>
            <a:r>
              <a:rPr lang="en-US" sz="1060" dirty="0">
                <a:solidFill>
                  <a:srgbClr val="B6C2D5"/>
                </a:solidFill>
                <a:latin typeface="Aptos" pitchFamily="34" charset="0"/>
                <a:ea typeface="Aptos" pitchFamily="34" charset="-122"/>
                <a:cs typeface="Aptos" pitchFamily="34" charset="-120"/>
              </a:rPr>
              <a:t>Define where the robot may operate, what objects it can handle, and when it must stop.</a:t>
            </a:r>
            <a:endParaRPr lang="en-US" sz="1060" dirty="0"/>
          </a:p>
        </p:txBody>
      </p:sp>
      <p:sp>
        <p:nvSpPr>
          <p:cNvPr id="12" name="Shape 10"/>
          <p:cNvSpPr/>
          <p:nvPr/>
        </p:nvSpPr>
        <p:spPr>
          <a:xfrm>
            <a:off x="868680" y="2752344"/>
            <a:ext cx="10241280" cy="658368"/>
          </a:xfrm>
          <a:prstGeom prst="roundRect">
            <a:avLst>
              <a:gd name="adj" fmla="val 13889"/>
            </a:avLst>
          </a:prstGeom>
          <a:solidFill>
            <a:srgbClr val="12213B">
              <a:alpha val="96000"/>
            </a:srgbClr>
          </a:solidFill>
          <a:ln w="10160">
            <a:solidFill>
              <a:srgbClr val="3B82F6">
                <a:alpha val="62000"/>
              </a:srgbClr>
            </a:solidFill>
            <a:prstDash val="solid"/>
          </a:ln>
        </p:spPr>
        <p:txBody>
          <a:bodyPr/>
          <a:lstStyle/>
          <a:p>
            <a:endParaRPr lang="en-US"/>
          </a:p>
        </p:txBody>
      </p:sp>
      <p:sp>
        <p:nvSpPr>
          <p:cNvPr id="13" name="Shape 11"/>
          <p:cNvSpPr/>
          <p:nvPr/>
        </p:nvSpPr>
        <p:spPr>
          <a:xfrm>
            <a:off x="1078992" y="2916936"/>
            <a:ext cx="329184" cy="329184"/>
          </a:xfrm>
          <a:prstGeom prst="ellipse">
            <a:avLst/>
          </a:prstGeom>
          <a:solidFill>
            <a:srgbClr val="3B82F6"/>
          </a:solidFill>
          <a:ln w="12700">
            <a:solidFill>
              <a:srgbClr val="3B82F6">
                <a:alpha val="0"/>
              </a:srgbClr>
            </a:solidFill>
            <a:prstDash val="solid"/>
          </a:ln>
        </p:spPr>
        <p:txBody>
          <a:bodyPr/>
          <a:lstStyle/>
          <a:p>
            <a:endParaRPr lang="en-US"/>
          </a:p>
        </p:txBody>
      </p:sp>
      <p:sp>
        <p:nvSpPr>
          <p:cNvPr id="14" name="Text 12"/>
          <p:cNvSpPr/>
          <p:nvPr/>
        </p:nvSpPr>
        <p:spPr>
          <a:xfrm>
            <a:off x="1078992" y="2980944"/>
            <a:ext cx="329184" cy="118872"/>
          </a:xfrm>
          <a:prstGeom prst="rect">
            <a:avLst/>
          </a:prstGeom>
          <a:noFill/>
          <a:ln/>
        </p:spPr>
        <p:txBody>
          <a:bodyPr wrap="square" lIns="0" tIns="0" rIns="0" bIns="0" rtlCol="0" anchor="ctr"/>
          <a:lstStyle/>
          <a:p>
            <a:pPr marL="0" indent="0" algn="ctr">
              <a:buNone/>
            </a:pPr>
            <a:r>
              <a:rPr lang="en-US" sz="850" b="1" dirty="0">
                <a:solidFill>
                  <a:srgbClr val="07101F"/>
                </a:solidFill>
                <a:latin typeface="Aptos Display" pitchFamily="34" charset="0"/>
                <a:ea typeface="Aptos Display" pitchFamily="34" charset="-122"/>
                <a:cs typeface="Aptos Display" pitchFamily="34" charset="-120"/>
              </a:rPr>
              <a:t>2</a:t>
            </a:r>
            <a:endParaRPr lang="en-US" sz="850" dirty="0"/>
          </a:p>
        </p:txBody>
      </p:sp>
      <p:sp>
        <p:nvSpPr>
          <p:cNvPr id="15" name="Text 13"/>
          <p:cNvSpPr/>
          <p:nvPr/>
        </p:nvSpPr>
        <p:spPr>
          <a:xfrm>
            <a:off x="1600200" y="2880360"/>
            <a:ext cx="2606040" cy="210312"/>
          </a:xfrm>
          <a:prstGeom prst="rect">
            <a:avLst/>
          </a:prstGeom>
          <a:noFill/>
          <a:ln/>
        </p:spPr>
        <p:txBody>
          <a:bodyPr wrap="square" lIns="0" tIns="0" rIns="0" bIns="0" rtlCol="0" anchor="ctr">
            <a:normAutofit/>
          </a:bodyPr>
          <a:lstStyle/>
          <a:p>
            <a:pPr marL="0" indent="0">
              <a:buNone/>
            </a:pPr>
            <a:r>
              <a:rPr lang="en-US" sz="1440" b="1" dirty="0">
                <a:solidFill>
                  <a:srgbClr val="F8FAFC"/>
                </a:solidFill>
                <a:latin typeface="Aptos Display" pitchFamily="34" charset="0"/>
                <a:ea typeface="Aptos Display" pitchFamily="34" charset="-122"/>
                <a:cs typeface="Aptos Display" pitchFamily="34" charset="-120"/>
              </a:rPr>
              <a:t>Instrument before scaling</a:t>
            </a:r>
            <a:endParaRPr lang="en-US" sz="1440" dirty="0"/>
          </a:p>
        </p:txBody>
      </p:sp>
      <p:sp>
        <p:nvSpPr>
          <p:cNvPr id="16" name="Text 14"/>
          <p:cNvSpPr/>
          <p:nvPr/>
        </p:nvSpPr>
        <p:spPr>
          <a:xfrm>
            <a:off x="4407408" y="2880360"/>
            <a:ext cx="6245352" cy="219456"/>
          </a:xfrm>
          <a:prstGeom prst="rect">
            <a:avLst/>
          </a:prstGeom>
          <a:noFill/>
          <a:ln/>
        </p:spPr>
        <p:txBody>
          <a:bodyPr wrap="square" lIns="0" tIns="0" rIns="0" bIns="0" rtlCol="0" anchor="ctr">
            <a:normAutofit/>
          </a:bodyPr>
          <a:lstStyle/>
          <a:p>
            <a:pPr marL="0" indent="0">
              <a:buNone/>
            </a:pPr>
            <a:r>
              <a:rPr lang="en-US" sz="1060" dirty="0">
                <a:solidFill>
                  <a:srgbClr val="B6C2D5"/>
                </a:solidFill>
                <a:latin typeface="Aptos" pitchFamily="34" charset="0"/>
                <a:ea typeface="Aptos" pitchFamily="34" charset="-122"/>
                <a:cs typeface="Aptos" pitchFamily="34" charset="-120"/>
              </a:rPr>
              <a:t>Capture task state, robot state, failure modes, and human interventions from day one.</a:t>
            </a:r>
            <a:endParaRPr lang="en-US" sz="1060" dirty="0"/>
          </a:p>
        </p:txBody>
      </p:sp>
      <p:sp>
        <p:nvSpPr>
          <p:cNvPr id="17" name="Shape 15"/>
          <p:cNvSpPr/>
          <p:nvPr/>
        </p:nvSpPr>
        <p:spPr>
          <a:xfrm>
            <a:off x="868680" y="3557016"/>
            <a:ext cx="10241280" cy="658368"/>
          </a:xfrm>
          <a:prstGeom prst="roundRect">
            <a:avLst>
              <a:gd name="adj" fmla="val 13889"/>
            </a:avLst>
          </a:prstGeom>
          <a:solidFill>
            <a:srgbClr val="12213B"/>
          </a:solidFill>
          <a:ln w="10160">
            <a:solidFill>
              <a:srgbClr val="F59E0B">
                <a:alpha val="62000"/>
              </a:srgbClr>
            </a:solidFill>
            <a:prstDash val="solid"/>
          </a:ln>
        </p:spPr>
        <p:txBody>
          <a:bodyPr/>
          <a:lstStyle/>
          <a:p>
            <a:endParaRPr lang="en-US"/>
          </a:p>
        </p:txBody>
      </p:sp>
      <p:sp>
        <p:nvSpPr>
          <p:cNvPr id="18" name="Shape 16"/>
          <p:cNvSpPr/>
          <p:nvPr/>
        </p:nvSpPr>
        <p:spPr>
          <a:xfrm>
            <a:off x="1078992" y="3721608"/>
            <a:ext cx="329184" cy="329184"/>
          </a:xfrm>
          <a:prstGeom prst="ellipse">
            <a:avLst/>
          </a:prstGeom>
          <a:solidFill>
            <a:srgbClr val="F59E0B"/>
          </a:solidFill>
          <a:ln w="12700">
            <a:solidFill>
              <a:srgbClr val="F59E0B">
                <a:alpha val="0"/>
              </a:srgbClr>
            </a:solidFill>
            <a:prstDash val="solid"/>
          </a:ln>
        </p:spPr>
        <p:txBody>
          <a:bodyPr/>
          <a:lstStyle/>
          <a:p>
            <a:endParaRPr lang="en-US"/>
          </a:p>
        </p:txBody>
      </p:sp>
      <p:sp>
        <p:nvSpPr>
          <p:cNvPr id="19" name="Text 17"/>
          <p:cNvSpPr/>
          <p:nvPr/>
        </p:nvSpPr>
        <p:spPr>
          <a:xfrm>
            <a:off x="1078992" y="3785616"/>
            <a:ext cx="329184" cy="118872"/>
          </a:xfrm>
          <a:prstGeom prst="rect">
            <a:avLst/>
          </a:prstGeom>
          <a:noFill/>
          <a:ln/>
        </p:spPr>
        <p:txBody>
          <a:bodyPr wrap="square" lIns="0" tIns="0" rIns="0" bIns="0" rtlCol="0" anchor="ctr"/>
          <a:lstStyle/>
          <a:p>
            <a:pPr marL="0" indent="0" algn="ctr">
              <a:buNone/>
            </a:pPr>
            <a:r>
              <a:rPr lang="en-US" sz="850" b="1" dirty="0">
                <a:solidFill>
                  <a:srgbClr val="07101F"/>
                </a:solidFill>
                <a:latin typeface="Aptos Display" pitchFamily="34" charset="0"/>
                <a:ea typeface="Aptos Display" pitchFamily="34" charset="-122"/>
                <a:cs typeface="Aptos Display" pitchFamily="34" charset="-120"/>
              </a:rPr>
              <a:t>3</a:t>
            </a:r>
            <a:endParaRPr lang="en-US" sz="850" dirty="0"/>
          </a:p>
        </p:txBody>
      </p:sp>
      <p:sp>
        <p:nvSpPr>
          <p:cNvPr id="20" name="Text 18"/>
          <p:cNvSpPr/>
          <p:nvPr/>
        </p:nvSpPr>
        <p:spPr>
          <a:xfrm>
            <a:off x="1600200" y="3685032"/>
            <a:ext cx="2606040" cy="210312"/>
          </a:xfrm>
          <a:prstGeom prst="rect">
            <a:avLst/>
          </a:prstGeom>
          <a:noFill/>
          <a:ln/>
        </p:spPr>
        <p:txBody>
          <a:bodyPr wrap="square" lIns="0" tIns="0" rIns="0" bIns="0" rtlCol="0" anchor="ctr">
            <a:normAutofit/>
          </a:bodyPr>
          <a:lstStyle/>
          <a:p>
            <a:pPr marL="0" indent="0">
              <a:buNone/>
            </a:pPr>
            <a:r>
              <a:rPr lang="en-US" sz="1440" b="1" dirty="0">
                <a:solidFill>
                  <a:srgbClr val="F8FAFC"/>
                </a:solidFill>
                <a:latin typeface="Aptos Display" pitchFamily="34" charset="0"/>
                <a:ea typeface="Aptos Display" pitchFamily="34" charset="-122"/>
                <a:cs typeface="Aptos Display" pitchFamily="34" charset="-120"/>
              </a:rPr>
              <a:t>Use a hybrid stack</a:t>
            </a:r>
            <a:endParaRPr lang="en-US" sz="1440" dirty="0"/>
          </a:p>
        </p:txBody>
      </p:sp>
      <p:sp>
        <p:nvSpPr>
          <p:cNvPr id="21" name="Text 19"/>
          <p:cNvSpPr/>
          <p:nvPr/>
        </p:nvSpPr>
        <p:spPr>
          <a:xfrm>
            <a:off x="4407408" y="3685032"/>
            <a:ext cx="6245352" cy="219456"/>
          </a:xfrm>
          <a:prstGeom prst="rect">
            <a:avLst/>
          </a:prstGeom>
          <a:noFill/>
          <a:ln/>
        </p:spPr>
        <p:txBody>
          <a:bodyPr wrap="square" lIns="0" tIns="0" rIns="0" bIns="0" rtlCol="0" anchor="ctr">
            <a:normAutofit/>
          </a:bodyPr>
          <a:lstStyle/>
          <a:p>
            <a:pPr marL="0" indent="0">
              <a:buNone/>
            </a:pPr>
            <a:r>
              <a:rPr lang="en-US" sz="1060" dirty="0">
                <a:solidFill>
                  <a:srgbClr val="B6C2D5"/>
                </a:solidFill>
                <a:latin typeface="Aptos" pitchFamily="34" charset="0"/>
                <a:ea typeface="Aptos" pitchFamily="34" charset="-122"/>
                <a:cs typeface="Aptos" pitchFamily="34" charset="-120"/>
              </a:rPr>
              <a:t>Combine learned models with controls, safety monitors, routing rules, and human escalation.</a:t>
            </a:r>
            <a:endParaRPr lang="en-US" sz="1060" dirty="0"/>
          </a:p>
        </p:txBody>
      </p:sp>
      <p:sp>
        <p:nvSpPr>
          <p:cNvPr id="22" name="Shape 20"/>
          <p:cNvSpPr/>
          <p:nvPr/>
        </p:nvSpPr>
        <p:spPr>
          <a:xfrm>
            <a:off x="868680" y="4361688"/>
            <a:ext cx="10241280" cy="658368"/>
          </a:xfrm>
          <a:prstGeom prst="roundRect">
            <a:avLst>
              <a:gd name="adj" fmla="val 13889"/>
            </a:avLst>
          </a:prstGeom>
          <a:solidFill>
            <a:srgbClr val="12213B">
              <a:alpha val="96000"/>
            </a:srgbClr>
          </a:solidFill>
          <a:ln w="10160">
            <a:solidFill>
              <a:srgbClr val="22C55E">
                <a:alpha val="62000"/>
              </a:srgbClr>
            </a:solidFill>
            <a:prstDash val="solid"/>
          </a:ln>
        </p:spPr>
        <p:txBody>
          <a:bodyPr/>
          <a:lstStyle/>
          <a:p>
            <a:endParaRPr lang="en-US"/>
          </a:p>
        </p:txBody>
      </p:sp>
      <p:sp>
        <p:nvSpPr>
          <p:cNvPr id="23" name="Shape 21"/>
          <p:cNvSpPr/>
          <p:nvPr/>
        </p:nvSpPr>
        <p:spPr>
          <a:xfrm>
            <a:off x="1078992" y="4526280"/>
            <a:ext cx="329184" cy="329184"/>
          </a:xfrm>
          <a:prstGeom prst="ellipse">
            <a:avLst/>
          </a:prstGeom>
          <a:solidFill>
            <a:srgbClr val="22C55E"/>
          </a:solidFill>
          <a:ln w="12700">
            <a:solidFill>
              <a:srgbClr val="22C55E">
                <a:alpha val="0"/>
              </a:srgbClr>
            </a:solidFill>
            <a:prstDash val="solid"/>
          </a:ln>
        </p:spPr>
        <p:txBody>
          <a:bodyPr/>
          <a:lstStyle/>
          <a:p>
            <a:endParaRPr lang="en-US"/>
          </a:p>
        </p:txBody>
      </p:sp>
      <p:sp>
        <p:nvSpPr>
          <p:cNvPr id="24" name="Text 22"/>
          <p:cNvSpPr/>
          <p:nvPr/>
        </p:nvSpPr>
        <p:spPr>
          <a:xfrm>
            <a:off x="1078992" y="4590288"/>
            <a:ext cx="329184" cy="118872"/>
          </a:xfrm>
          <a:prstGeom prst="rect">
            <a:avLst/>
          </a:prstGeom>
          <a:noFill/>
          <a:ln/>
        </p:spPr>
        <p:txBody>
          <a:bodyPr wrap="square" lIns="0" tIns="0" rIns="0" bIns="0" rtlCol="0" anchor="ctr"/>
          <a:lstStyle/>
          <a:p>
            <a:pPr marL="0" indent="0" algn="ctr">
              <a:buNone/>
            </a:pPr>
            <a:r>
              <a:rPr lang="en-US" sz="850" b="1" dirty="0">
                <a:solidFill>
                  <a:srgbClr val="07101F"/>
                </a:solidFill>
                <a:latin typeface="Aptos Display" pitchFamily="34" charset="0"/>
                <a:ea typeface="Aptos Display" pitchFamily="34" charset="-122"/>
                <a:cs typeface="Aptos Display" pitchFamily="34" charset="-120"/>
              </a:rPr>
              <a:t>4</a:t>
            </a:r>
            <a:endParaRPr lang="en-US" sz="850" dirty="0"/>
          </a:p>
        </p:txBody>
      </p:sp>
      <p:sp>
        <p:nvSpPr>
          <p:cNvPr id="25" name="Text 23"/>
          <p:cNvSpPr/>
          <p:nvPr/>
        </p:nvSpPr>
        <p:spPr>
          <a:xfrm>
            <a:off x="1600200" y="4489704"/>
            <a:ext cx="2606040" cy="210312"/>
          </a:xfrm>
          <a:prstGeom prst="rect">
            <a:avLst/>
          </a:prstGeom>
          <a:noFill/>
          <a:ln/>
        </p:spPr>
        <p:txBody>
          <a:bodyPr wrap="square" lIns="0" tIns="0" rIns="0" bIns="0" rtlCol="0" anchor="ctr">
            <a:normAutofit/>
          </a:bodyPr>
          <a:lstStyle/>
          <a:p>
            <a:pPr marL="0" indent="0">
              <a:buNone/>
            </a:pPr>
            <a:r>
              <a:rPr lang="en-US" sz="1440" b="1" dirty="0">
                <a:solidFill>
                  <a:srgbClr val="F8FAFC"/>
                </a:solidFill>
                <a:latin typeface="Aptos Display" pitchFamily="34" charset="0"/>
                <a:ea typeface="Aptos Display" pitchFamily="34" charset="-122"/>
                <a:cs typeface="Aptos Display" pitchFamily="34" charset="-120"/>
              </a:rPr>
              <a:t>Co-design the environment</a:t>
            </a:r>
            <a:endParaRPr lang="en-US" sz="1440" dirty="0"/>
          </a:p>
        </p:txBody>
      </p:sp>
      <p:sp>
        <p:nvSpPr>
          <p:cNvPr id="26" name="Text 24"/>
          <p:cNvSpPr/>
          <p:nvPr/>
        </p:nvSpPr>
        <p:spPr>
          <a:xfrm>
            <a:off x="4407408" y="4489704"/>
            <a:ext cx="6245352" cy="219456"/>
          </a:xfrm>
          <a:prstGeom prst="rect">
            <a:avLst/>
          </a:prstGeom>
          <a:noFill/>
          <a:ln/>
        </p:spPr>
        <p:txBody>
          <a:bodyPr wrap="square" lIns="0" tIns="0" rIns="0" bIns="0" rtlCol="0" anchor="ctr">
            <a:normAutofit/>
          </a:bodyPr>
          <a:lstStyle/>
          <a:p>
            <a:pPr marL="0" indent="0">
              <a:buNone/>
            </a:pPr>
            <a:r>
              <a:rPr lang="en-US" sz="1060" dirty="0">
                <a:solidFill>
                  <a:srgbClr val="B6C2D5"/>
                </a:solidFill>
                <a:latin typeface="Aptos" pitchFamily="34" charset="0"/>
                <a:ea typeface="Aptos" pitchFamily="34" charset="-122"/>
                <a:cs typeface="Aptos" pitchFamily="34" charset="-120"/>
              </a:rPr>
              <a:t>Layout, bins, workstations, lighting, and labels can reduce the AI burden.</a:t>
            </a:r>
            <a:endParaRPr lang="en-US" sz="1060" dirty="0"/>
          </a:p>
        </p:txBody>
      </p:sp>
      <p:sp>
        <p:nvSpPr>
          <p:cNvPr id="27" name="Shape 25"/>
          <p:cNvSpPr/>
          <p:nvPr/>
        </p:nvSpPr>
        <p:spPr>
          <a:xfrm>
            <a:off x="868680" y="5166360"/>
            <a:ext cx="10241280" cy="658368"/>
          </a:xfrm>
          <a:prstGeom prst="roundRect">
            <a:avLst>
              <a:gd name="adj" fmla="val 13889"/>
            </a:avLst>
          </a:prstGeom>
          <a:solidFill>
            <a:srgbClr val="12213B"/>
          </a:solidFill>
          <a:ln w="10160">
            <a:solidFill>
              <a:srgbClr val="A78BFA">
                <a:alpha val="62000"/>
              </a:srgbClr>
            </a:solidFill>
            <a:prstDash val="solid"/>
          </a:ln>
        </p:spPr>
        <p:txBody>
          <a:bodyPr/>
          <a:lstStyle/>
          <a:p>
            <a:endParaRPr lang="en-US"/>
          </a:p>
        </p:txBody>
      </p:sp>
      <p:sp>
        <p:nvSpPr>
          <p:cNvPr id="28" name="Shape 26"/>
          <p:cNvSpPr/>
          <p:nvPr/>
        </p:nvSpPr>
        <p:spPr>
          <a:xfrm>
            <a:off x="1078992" y="5330952"/>
            <a:ext cx="329184" cy="329184"/>
          </a:xfrm>
          <a:prstGeom prst="ellipse">
            <a:avLst/>
          </a:prstGeom>
          <a:solidFill>
            <a:srgbClr val="A78BFA"/>
          </a:solidFill>
          <a:ln w="12700">
            <a:solidFill>
              <a:srgbClr val="A78BFA">
                <a:alpha val="0"/>
              </a:srgbClr>
            </a:solidFill>
            <a:prstDash val="solid"/>
          </a:ln>
        </p:spPr>
        <p:txBody>
          <a:bodyPr/>
          <a:lstStyle/>
          <a:p>
            <a:endParaRPr lang="en-US"/>
          </a:p>
        </p:txBody>
      </p:sp>
      <p:sp>
        <p:nvSpPr>
          <p:cNvPr id="29" name="Text 27"/>
          <p:cNvSpPr/>
          <p:nvPr/>
        </p:nvSpPr>
        <p:spPr>
          <a:xfrm>
            <a:off x="1078992" y="5394960"/>
            <a:ext cx="329184" cy="118872"/>
          </a:xfrm>
          <a:prstGeom prst="rect">
            <a:avLst/>
          </a:prstGeom>
          <a:noFill/>
          <a:ln/>
        </p:spPr>
        <p:txBody>
          <a:bodyPr wrap="square" lIns="0" tIns="0" rIns="0" bIns="0" rtlCol="0" anchor="ctr"/>
          <a:lstStyle/>
          <a:p>
            <a:pPr marL="0" indent="0" algn="ctr">
              <a:buNone/>
            </a:pPr>
            <a:r>
              <a:rPr lang="en-US" sz="850" b="1" dirty="0">
                <a:solidFill>
                  <a:srgbClr val="07101F"/>
                </a:solidFill>
                <a:latin typeface="Aptos Display" pitchFamily="34" charset="0"/>
                <a:ea typeface="Aptos Display" pitchFamily="34" charset="-122"/>
                <a:cs typeface="Aptos Display" pitchFamily="34" charset="-120"/>
              </a:rPr>
              <a:t>5</a:t>
            </a:r>
            <a:endParaRPr lang="en-US" sz="850" dirty="0"/>
          </a:p>
        </p:txBody>
      </p:sp>
      <p:sp>
        <p:nvSpPr>
          <p:cNvPr id="30" name="Text 28"/>
          <p:cNvSpPr/>
          <p:nvPr/>
        </p:nvSpPr>
        <p:spPr>
          <a:xfrm>
            <a:off x="1600200" y="5294376"/>
            <a:ext cx="2606040" cy="210312"/>
          </a:xfrm>
          <a:prstGeom prst="rect">
            <a:avLst/>
          </a:prstGeom>
          <a:noFill/>
          <a:ln/>
        </p:spPr>
        <p:txBody>
          <a:bodyPr wrap="square" lIns="0" tIns="0" rIns="0" bIns="0" rtlCol="0" anchor="ctr">
            <a:normAutofit/>
          </a:bodyPr>
          <a:lstStyle/>
          <a:p>
            <a:pPr marL="0" indent="0">
              <a:buNone/>
            </a:pPr>
            <a:r>
              <a:rPr lang="en-US" sz="1440" b="1" dirty="0">
                <a:solidFill>
                  <a:srgbClr val="F8FAFC"/>
                </a:solidFill>
                <a:latin typeface="Aptos Display" pitchFamily="34" charset="0"/>
                <a:ea typeface="Aptos Display" pitchFamily="34" charset="-122"/>
                <a:cs typeface="Aptos Display" pitchFamily="34" charset="-120"/>
              </a:rPr>
              <a:t>Treat data as the product</a:t>
            </a:r>
            <a:endParaRPr lang="en-US" sz="1440" dirty="0"/>
          </a:p>
        </p:txBody>
      </p:sp>
      <p:sp>
        <p:nvSpPr>
          <p:cNvPr id="31" name="Text 29"/>
          <p:cNvSpPr/>
          <p:nvPr/>
        </p:nvSpPr>
        <p:spPr>
          <a:xfrm>
            <a:off x="4407408" y="5294376"/>
            <a:ext cx="6245352" cy="219456"/>
          </a:xfrm>
          <a:prstGeom prst="rect">
            <a:avLst/>
          </a:prstGeom>
          <a:noFill/>
          <a:ln/>
        </p:spPr>
        <p:txBody>
          <a:bodyPr wrap="square" lIns="0" tIns="0" rIns="0" bIns="0" rtlCol="0" anchor="ctr">
            <a:normAutofit/>
          </a:bodyPr>
          <a:lstStyle/>
          <a:p>
            <a:pPr marL="0" indent="0">
              <a:buNone/>
            </a:pPr>
            <a:r>
              <a:rPr lang="en-US" sz="1060" dirty="0">
                <a:solidFill>
                  <a:srgbClr val="B6C2D5"/>
                </a:solidFill>
                <a:latin typeface="Aptos" pitchFamily="34" charset="0"/>
                <a:ea typeface="Aptos" pitchFamily="34" charset="-122"/>
                <a:cs typeface="Aptos" pitchFamily="34" charset="-120"/>
              </a:rPr>
              <a:t>The durable asset is not only the robot; it is the data flywheel that improves behavior.</a:t>
            </a:r>
            <a:endParaRPr lang="en-US" sz="1060" dirty="0"/>
          </a:p>
        </p:txBody>
      </p:sp>
      <p:sp>
        <p:nvSpPr>
          <p:cNvPr id="32" name="Shape 30"/>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33" name="Text 31"/>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PHYSICAL AI CASE STUDY</a:t>
            </a:r>
            <a:endParaRPr lang="en-US" sz="780" dirty="0"/>
          </a:p>
        </p:txBody>
      </p:sp>
      <p:sp>
        <p:nvSpPr>
          <p:cNvPr id="34" name="Text 32"/>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30</a:t>
            </a:r>
            <a:endParaRPr lang="en-US" sz="8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31</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Case study readout</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Physical AI becomes useful when intelligence is constrained, measured, and connected to operations.</a:t>
            </a:r>
            <a:endParaRPr lang="en-US" sz="1450" dirty="0"/>
          </a:p>
        </p:txBody>
      </p:sp>
      <p:sp>
        <p:nvSpPr>
          <p:cNvPr id="7" name="Shape 5"/>
          <p:cNvSpPr/>
          <p:nvPr/>
        </p:nvSpPr>
        <p:spPr>
          <a:xfrm>
            <a:off x="960120" y="2011680"/>
            <a:ext cx="9966960" cy="914400"/>
          </a:xfrm>
          <a:prstGeom prst="roundRect">
            <a:avLst>
              <a:gd name="adj" fmla="val 14000"/>
            </a:avLst>
          </a:prstGeom>
          <a:solidFill>
            <a:srgbClr val="12213B"/>
          </a:solidFill>
          <a:ln w="12700">
            <a:solidFill>
              <a:srgbClr val="31D8FF">
                <a:alpha val="68000"/>
              </a:srgbClr>
            </a:solidFill>
            <a:prstDash val="solid"/>
          </a:ln>
        </p:spPr>
        <p:txBody>
          <a:bodyPr/>
          <a:lstStyle/>
          <a:p>
            <a:endParaRPr lang="en-US"/>
          </a:p>
        </p:txBody>
      </p:sp>
      <p:sp>
        <p:nvSpPr>
          <p:cNvPr id="8" name="Shape 6"/>
          <p:cNvSpPr/>
          <p:nvPr/>
        </p:nvSpPr>
        <p:spPr>
          <a:xfrm>
            <a:off x="1234440" y="2212848"/>
            <a:ext cx="512064" cy="512064"/>
          </a:xfrm>
          <a:prstGeom prst="ellipse">
            <a:avLst/>
          </a:prstGeom>
          <a:solidFill>
            <a:srgbClr val="31D8FF"/>
          </a:solidFill>
          <a:ln w="12700">
            <a:solidFill>
              <a:srgbClr val="31D8FF">
                <a:alpha val="0"/>
              </a:srgbClr>
            </a:solidFill>
            <a:prstDash val="solid"/>
          </a:ln>
        </p:spPr>
        <p:txBody>
          <a:bodyPr/>
          <a:lstStyle/>
          <a:p>
            <a:endParaRPr lang="en-US"/>
          </a:p>
        </p:txBody>
      </p:sp>
      <p:sp>
        <p:nvSpPr>
          <p:cNvPr id="9" name="Text 7"/>
          <p:cNvSpPr/>
          <p:nvPr/>
        </p:nvSpPr>
        <p:spPr>
          <a:xfrm>
            <a:off x="1234440" y="2313432"/>
            <a:ext cx="512064" cy="182880"/>
          </a:xfrm>
          <a:prstGeom prst="rect">
            <a:avLst/>
          </a:prstGeom>
          <a:noFill/>
          <a:ln/>
        </p:spPr>
        <p:txBody>
          <a:bodyPr wrap="square" lIns="0" tIns="0" rIns="0" bIns="0" rtlCol="0" anchor="ctr"/>
          <a:lstStyle/>
          <a:p>
            <a:pPr marL="0" indent="0" algn="ctr">
              <a:buNone/>
            </a:pPr>
            <a:r>
              <a:rPr lang="en-US" sz="1400" b="1" dirty="0">
                <a:solidFill>
                  <a:srgbClr val="07101F"/>
                </a:solidFill>
                <a:latin typeface="Aptos Display" pitchFamily="34" charset="0"/>
                <a:ea typeface="Aptos Display" pitchFamily="34" charset="-122"/>
                <a:cs typeface="Aptos Display" pitchFamily="34" charset="-120"/>
              </a:rPr>
              <a:t>1</a:t>
            </a:r>
            <a:endParaRPr lang="en-US" sz="1400" dirty="0"/>
          </a:p>
        </p:txBody>
      </p:sp>
      <p:sp>
        <p:nvSpPr>
          <p:cNvPr id="10" name="Text 8"/>
          <p:cNvSpPr/>
          <p:nvPr/>
        </p:nvSpPr>
        <p:spPr>
          <a:xfrm>
            <a:off x="2011680" y="2176272"/>
            <a:ext cx="2926080" cy="256032"/>
          </a:xfrm>
          <a:prstGeom prst="rect">
            <a:avLst/>
          </a:prstGeom>
          <a:noFill/>
          <a:ln/>
        </p:spPr>
        <p:txBody>
          <a:bodyPr wrap="square" lIns="0" tIns="0" rIns="0" bIns="0" rtlCol="0" anchor="ctr">
            <a:normAutofit/>
          </a:bodyPr>
          <a:lstStyle/>
          <a:p>
            <a:pPr marL="0" indent="0">
              <a:buNone/>
            </a:pPr>
            <a:r>
              <a:rPr lang="en-US" sz="1680" b="1" dirty="0">
                <a:solidFill>
                  <a:srgbClr val="F8FAFC"/>
                </a:solidFill>
                <a:latin typeface="Aptos Display" pitchFamily="34" charset="0"/>
                <a:ea typeface="Aptos Display" pitchFamily="34" charset="-122"/>
                <a:cs typeface="Aptos Display" pitchFamily="34" charset="-120"/>
              </a:rPr>
              <a:t>Fleet intelligence matters</a:t>
            </a:r>
            <a:endParaRPr lang="en-US" sz="1680" dirty="0"/>
          </a:p>
        </p:txBody>
      </p:sp>
      <p:sp>
        <p:nvSpPr>
          <p:cNvPr id="11" name="Text 9"/>
          <p:cNvSpPr/>
          <p:nvPr/>
        </p:nvSpPr>
        <p:spPr>
          <a:xfrm>
            <a:off x="5166360" y="2194560"/>
            <a:ext cx="5074920" cy="228600"/>
          </a:xfrm>
          <a:prstGeom prst="rect">
            <a:avLst/>
          </a:prstGeom>
          <a:noFill/>
          <a:ln/>
        </p:spPr>
        <p:txBody>
          <a:bodyPr wrap="square" lIns="0" tIns="0" rIns="0" bIns="0" rtlCol="0" anchor="ctr">
            <a:normAutofit/>
          </a:bodyPr>
          <a:lstStyle/>
          <a:p>
            <a:pPr marL="0" indent="0">
              <a:buNone/>
            </a:pPr>
            <a:r>
              <a:rPr lang="en-US" sz="1080" dirty="0">
                <a:solidFill>
                  <a:srgbClr val="B6C2D5"/>
                </a:solidFill>
                <a:latin typeface="Aptos" pitchFamily="34" charset="0"/>
                <a:ea typeface="Aptos" pitchFamily="34" charset="-122"/>
                <a:cs typeface="Aptos" pitchFamily="34" charset="-120"/>
              </a:rPr>
              <a:t>The routing layer can create value even when individual robots are simple.</a:t>
            </a:r>
            <a:endParaRPr lang="en-US" sz="1080" dirty="0"/>
          </a:p>
        </p:txBody>
      </p:sp>
      <p:sp>
        <p:nvSpPr>
          <p:cNvPr id="12" name="Shape 10"/>
          <p:cNvSpPr/>
          <p:nvPr/>
        </p:nvSpPr>
        <p:spPr>
          <a:xfrm>
            <a:off x="960120" y="3090672"/>
            <a:ext cx="9966960" cy="914400"/>
          </a:xfrm>
          <a:prstGeom prst="roundRect">
            <a:avLst>
              <a:gd name="adj" fmla="val 14000"/>
            </a:avLst>
          </a:prstGeom>
          <a:solidFill>
            <a:srgbClr val="12213B"/>
          </a:solidFill>
          <a:ln w="12700">
            <a:solidFill>
              <a:srgbClr val="F59E0B">
                <a:alpha val="68000"/>
              </a:srgbClr>
            </a:solidFill>
            <a:prstDash val="solid"/>
          </a:ln>
        </p:spPr>
        <p:txBody>
          <a:bodyPr/>
          <a:lstStyle/>
          <a:p>
            <a:endParaRPr lang="en-US"/>
          </a:p>
        </p:txBody>
      </p:sp>
      <p:sp>
        <p:nvSpPr>
          <p:cNvPr id="13" name="Shape 11"/>
          <p:cNvSpPr/>
          <p:nvPr/>
        </p:nvSpPr>
        <p:spPr>
          <a:xfrm>
            <a:off x="1234440" y="3291840"/>
            <a:ext cx="512064" cy="512064"/>
          </a:xfrm>
          <a:prstGeom prst="ellipse">
            <a:avLst/>
          </a:prstGeom>
          <a:solidFill>
            <a:srgbClr val="F59E0B"/>
          </a:solidFill>
          <a:ln w="12700">
            <a:solidFill>
              <a:srgbClr val="F59E0B">
                <a:alpha val="0"/>
              </a:srgbClr>
            </a:solidFill>
            <a:prstDash val="solid"/>
          </a:ln>
        </p:spPr>
        <p:txBody>
          <a:bodyPr/>
          <a:lstStyle/>
          <a:p>
            <a:endParaRPr lang="en-US"/>
          </a:p>
        </p:txBody>
      </p:sp>
      <p:sp>
        <p:nvSpPr>
          <p:cNvPr id="14" name="Text 12"/>
          <p:cNvSpPr/>
          <p:nvPr/>
        </p:nvSpPr>
        <p:spPr>
          <a:xfrm>
            <a:off x="1234440" y="3392424"/>
            <a:ext cx="512064" cy="182880"/>
          </a:xfrm>
          <a:prstGeom prst="rect">
            <a:avLst/>
          </a:prstGeom>
          <a:noFill/>
          <a:ln/>
        </p:spPr>
        <p:txBody>
          <a:bodyPr wrap="square" lIns="0" tIns="0" rIns="0" bIns="0" rtlCol="0" anchor="ctr"/>
          <a:lstStyle/>
          <a:p>
            <a:pPr marL="0" indent="0" algn="ctr">
              <a:buNone/>
            </a:pPr>
            <a:r>
              <a:rPr lang="en-US" sz="1400" b="1" dirty="0">
                <a:solidFill>
                  <a:srgbClr val="07101F"/>
                </a:solidFill>
                <a:latin typeface="Aptos Display" pitchFamily="34" charset="0"/>
                <a:ea typeface="Aptos Display" pitchFamily="34" charset="-122"/>
                <a:cs typeface="Aptos Display" pitchFamily="34" charset="-120"/>
              </a:rPr>
              <a:t>2</a:t>
            </a:r>
            <a:endParaRPr lang="en-US" sz="1400" dirty="0"/>
          </a:p>
        </p:txBody>
      </p:sp>
      <p:sp>
        <p:nvSpPr>
          <p:cNvPr id="15" name="Text 13"/>
          <p:cNvSpPr/>
          <p:nvPr/>
        </p:nvSpPr>
        <p:spPr>
          <a:xfrm>
            <a:off x="2011680" y="3255264"/>
            <a:ext cx="2926080" cy="256032"/>
          </a:xfrm>
          <a:prstGeom prst="rect">
            <a:avLst/>
          </a:prstGeom>
          <a:noFill/>
          <a:ln/>
        </p:spPr>
        <p:txBody>
          <a:bodyPr wrap="square" lIns="0" tIns="0" rIns="0" bIns="0" rtlCol="0" anchor="ctr">
            <a:normAutofit/>
          </a:bodyPr>
          <a:lstStyle/>
          <a:p>
            <a:pPr marL="0" indent="0">
              <a:buNone/>
            </a:pPr>
            <a:r>
              <a:rPr lang="en-US" sz="1680" b="1" dirty="0">
                <a:solidFill>
                  <a:srgbClr val="F8FAFC"/>
                </a:solidFill>
                <a:latin typeface="Aptos Display" pitchFamily="34" charset="0"/>
                <a:ea typeface="Aptos Display" pitchFamily="34" charset="-122"/>
                <a:cs typeface="Aptos Display" pitchFamily="34" charset="-120"/>
              </a:rPr>
              <a:t>Touch extends autonomy</a:t>
            </a:r>
            <a:endParaRPr lang="en-US" sz="1680" dirty="0"/>
          </a:p>
        </p:txBody>
      </p:sp>
      <p:sp>
        <p:nvSpPr>
          <p:cNvPr id="16" name="Text 14"/>
          <p:cNvSpPr/>
          <p:nvPr/>
        </p:nvSpPr>
        <p:spPr>
          <a:xfrm>
            <a:off x="5166360" y="3273552"/>
            <a:ext cx="5074920" cy="228600"/>
          </a:xfrm>
          <a:prstGeom prst="rect">
            <a:avLst/>
          </a:prstGeom>
          <a:noFill/>
          <a:ln/>
        </p:spPr>
        <p:txBody>
          <a:bodyPr wrap="square" lIns="0" tIns="0" rIns="0" bIns="0" rtlCol="0" anchor="ctr">
            <a:normAutofit/>
          </a:bodyPr>
          <a:lstStyle/>
          <a:p>
            <a:pPr marL="0" indent="0">
              <a:buNone/>
            </a:pPr>
            <a:r>
              <a:rPr lang="en-US" sz="1080" dirty="0">
                <a:solidFill>
                  <a:srgbClr val="B6C2D5"/>
                </a:solidFill>
                <a:latin typeface="Aptos" pitchFamily="34" charset="0"/>
                <a:ea typeface="Aptos" pitchFamily="34" charset="-122"/>
                <a:cs typeface="Aptos" pitchFamily="34" charset="-120"/>
              </a:rPr>
              <a:t>Contact-rich manipulation needs force sensing, control, and safe fallback.</a:t>
            </a:r>
            <a:endParaRPr lang="en-US" sz="1080" dirty="0"/>
          </a:p>
        </p:txBody>
      </p:sp>
      <p:sp>
        <p:nvSpPr>
          <p:cNvPr id="17" name="Shape 15"/>
          <p:cNvSpPr/>
          <p:nvPr/>
        </p:nvSpPr>
        <p:spPr>
          <a:xfrm>
            <a:off x="960120" y="4169664"/>
            <a:ext cx="9966960" cy="914400"/>
          </a:xfrm>
          <a:prstGeom prst="roundRect">
            <a:avLst>
              <a:gd name="adj" fmla="val 14000"/>
            </a:avLst>
          </a:prstGeom>
          <a:solidFill>
            <a:srgbClr val="12213B"/>
          </a:solidFill>
          <a:ln w="12700">
            <a:solidFill>
              <a:srgbClr val="22C55E">
                <a:alpha val="68000"/>
              </a:srgbClr>
            </a:solidFill>
            <a:prstDash val="solid"/>
          </a:ln>
        </p:spPr>
        <p:txBody>
          <a:bodyPr/>
          <a:lstStyle/>
          <a:p>
            <a:endParaRPr lang="en-US"/>
          </a:p>
        </p:txBody>
      </p:sp>
      <p:sp>
        <p:nvSpPr>
          <p:cNvPr id="18" name="Shape 16"/>
          <p:cNvSpPr/>
          <p:nvPr/>
        </p:nvSpPr>
        <p:spPr>
          <a:xfrm>
            <a:off x="1234440" y="4370832"/>
            <a:ext cx="512064" cy="512064"/>
          </a:xfrm>
          <a:prstGeom prst="ellipse">
            <a:avLst/>
          </a:prstGeom>
          <a:solidFill>
            <a:srgbClr val="22C55E"/>
          </a:solidFill>
          <a:ln w="12700">
            <a:solidFill>
              <a:srgbClr val="22C55E">
                <a:alpha val="0"/>
              </a:srgbClr>
            </a:solidFill>
            <a:prstDash val="solid"/>
          </a:ln>
        </p:spPr>
        <p:txBody>
          <a:bodyPr/>
          <a:lstStyle/>
          <a:p>
            <a:endParaRPr lang="en-US"/>
          </a:p>
        </p:txBody>
      </p:sp>
      <p:sp>
        <p:nvSpPr>
          <p:cNvPr id="19" name="Text 17"/>
          <p:cNvSpPr/>
          <p:nvPr/>
        </p:nvSpPr>
        <p:spPr>
          <a:xfrm>
            <a:off x="1234440" y="4471416"/>
            <a:ext cx="512064" cy="182880"/>
          </a:xfrm>
          <a:prstGeom prst="rect">
            <a:avLst/>
          </a:prstGeom>
          <a:noFill/>
          <a:ln/>
        </p:spPr>
        <p:txBody>
          <a:bodyPr wrap="square" lIns="0" tIns="0" rIns="0" bIns="0" rtlCol="0" anchor="ctr"/>
          <a:lstStyle/>
          <a:p>
            <a:pPr marL="0" indent="0" algn="ctr">
              <a:buNone/>
            </a:pPr>
            <a:r>
              <a:rPr lang="en-US" sz="1400" b="1" dirty="0">
                <a:solidFill>
                  <a:srgbClr val="07101F"/>
                </a:solidFill>
                <a:latin typeface="Aptos Display" pitchFamily="34" charset="0"/>
                <a:ea typeface="Aptos Display" pitchFamily="34" charset="-122"/>
                <a:cs typeface="Aptos Display" pitchFamily="34" charset="-120"/>
              </a:rPr>
              <a:t>3</a:t>
            </a:r>
            <a:endParaRPr lang="en-US" sz="1400" dirty="0"/>
          </a:p>
        </p:txBody>
      </p:sp>
      <p:sp>
        <p:nvSpPr>
          <p:cNvPr id="20" name="Text 18"/>
          <p:cNvSpPr/>
          <p:nvPr/>
        </p:nvSpPr>
        <p:spPr>
          <a:xfrm>
            <a:off x="2011680" y="4334256"/>
            <a:ext cx="2926080" cy="256032"/>
          </a:xfrm>
          <a:prstGeom prst="rect">
            <a:avLst/>
          </a:prstGeom>
          <a:noFill/>
          <a:ln/>
        </p:spPr>
        <p:txBody>
          <a:bodyPr wrap="square" lIns="0" tIns="0" rIns="0" bIns="0" rtlCol="0" anchor="ctr">
            <a:normAutofit/>
          </a:bodyPr>
          <a:lstStyle/>
          <a:p>
            <a:pPr marL="0" indent="0">
              <a:buNone/>
            </a:pPr>
            <a:r>
              <a:rPr lang="en-US" sz="1680" b="1" dirty="0">
                <a:solidFill>
                  <a:srgbClr val="F8FAFC"/>
                </a:solidFill>
                <a:latin typeface="Aptos Display" pitchFamily="34" charset="0"/>
                <a:ea typeface="Aptos Display" pitchFamily="34" charset="-122"/>
                <a:cs typeface="Aptos Display" pitchFamily="34" charset="-120"/>
              </a:rPr>
              <a:t>The system is the product</a:t>
            </a:r>
            <a:endParaRPr lang="en-US" sz="1680" dirty="0"/>
          </a:p>
        </p:txBody>
      </p:sp>
      <p:sp>
        <p:nvSpPr>
          <p:cNvPr id="21" name="Text 19"/>
          <p:cNvSpPr/>
          <p:nvPr/>
        </p:nvSpPr>
        <p:spPr>
          <a:xfrm>
            <a:off x="5166360" y="4352544"/>
            <a:ext cx="5074920" cy="228600"/>
          </a:xfrm>
          <a:prstGeom prst="rect">
            <a:avLst/>
          </a:prstGeom>
          <a:noFill/>
          <a:ln/>
        </p:spPr>
        <p:txBody>
          <a:bodyPr wrap="square" lIns="0" tIns="0" rIns="0" bIns="0" rtlCol="0" anchor="ctr">
            <a:normAutofit/>
          </a:bodyPr>
          <a:lstStyle/>
          <a:p>
            <a:pPr marL="0" indent="0">
              <a:buNone/>
            </a:pPr>
            <a:r>
              <a:rPr lang="en-US" sz="1080" dirty="0">
                <a:solidFill>
                  <a:srgbClr val="B6C2D5"/>
                </a:solidFill>
                <a:latin typeface="Aptos" pitchFamily="34" charset="0"/>
                <a:ea typeface="Aptos" pitchFamily="34" charset="-122"/>
                <a:cs typeface="Aptos" pitchFamily="34" charset="-120"/>
              </a:rPr>
              <a:t>Robots, humans, layout, data, monitoring, and governance form the deployable unit.</a:t>
            </a:r>
            <a:endParaRPr lang="en-US" sz="1080" dirty="0"/>
          </a:p>
        </p:txBody>
      </p:sp>
      <p:sp>
        <p:nvSpPr>
          <p:cNvPr id="22" name="Shape 20"/>
          <p:cNvSpPr/>
          <p:nvPr/>
        </p:nvSpPr>
        <p:spPr>
          <a:xfrm>
            <a:off x="1188720" y="5532120"/>
            <a:ext cx="9601200" cy="0"/>
          </a:xfrm>
          <a:prstGeom prst="line">
            <a:avLst/>
          </a:prstGeom>
          <a:noFill/>
          <a:ln w="10160">
            <a:solidFill>
              <a:srgbClr val="25436C">
                <a:alpha val="90000"/>
              </a:srgbClr>
            </a:solidFill>
            <a:prstDash val="solid"/>
          </a:ln>
        </p:spPr>
        <p:txBody>
          <a:bodyPr/>
          <a:lstStyle/>
          <a:p>
            <a:endParaRPr lang="en-US"/>
          </a:p>
        </p:txBody>
      </p:sp>
      <p:sp>
        <p:nvSpPr>
          <p:cNvPr id="23" name="Text 21"/>
          <p:cNvSpPr/>
          <p:nvPr/>
        </p:nvSpPr>
        <p:spPr>
          <a:xfrm>
            <a:off x="1207008" y="5742432"/>
            <a:ext cx="9555480" cy="347472"/>
          </a:xfrm>
          <a:prstGeom prst="rect">
            <a:avLst/>
          </a:prstGeom>
          <a:noFill/>
          <a:ln/>
        </p:spPr>
        <p:txBody>
          <a:bodyPr wrap="square" lIns="0" tIns="0" rIns="0" bIns="0" rtlCol="0" anchor="ctr">
            <a:normAutofit/>
          </a:bodyPr>
          <a:lstStyle/>
          <a:p>
            <a:pPr marL="0" indent="0" algn="ctr">
              <a:buNone/>
            </a:pPr>
            <a:r>
              <a:rPr lang="en-US" sz="1580" b="1" dirty="0">
                <a:solidFill>
                  <a:srgbClr val="31D8FF"/>
                </a:solidFill>
                <a:latin typeface="Aptos Display" pitchFamily="34" charset="0"/>
                <a:ea typeface="Aptos Display" pitchFamily="34" charset="-122"/>
                <a:cs typeface="Aptos Display" pitchFamily="34" charset="-120"/>
              </a:rPr>
              <a:t>Discussion prompt: Where could your organization build a bounded Physical AI pilot with a measurable data flywheel?</a:t>
            </a:r>
            <a:endParaRPr lang="en-US" sz="1580" dirty="0"/>
          </a:p>
        </p:txBody>
      </p:sp>
      <p:sp>
        <p:nvSpPr>
          <p:cNvPr id="24" name="Shape 22"/>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5" name="Text 23"/>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PHYSICAL AI CASE STUDY</a:t>
            </a:r>
            <a:endParaRPr lang="en-US" sz="780" dirty="0"/>
          </a:p>
        </p:txBody>
      </p:sp>
      <p:sp>
        <p:nvSpPr>
          <p:cNvPr id="26" name="Text 24"/>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31</a:t>
            </a:r>
            <a:endParaRPr lang="en-US" sz="8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0710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F"/>
          </a:solidFill>
          <a:ln w="12700">
            <a:solidFill>
              <a:srgbClr val="07101F">
                <a:alpha val="0"/>
              </a:srgbClr>
            </a:solidFill>
            <a:prstDash val="solid"/>
          </a:ln>
        </p:spPr>
        <p:txBody>
          <a:bodyPr/>
          <a:lstStyle/>
          <a:p>
            <a:endParaRPr lang="en-US"/>
          </a:p>
        </p:txBody>
      </p:sp>
      <p:sp>
        <p:nvSpPr>
          <p:cNvPr id="3" name="Text 1"/>
          <p:cNvSpPr/>
          <p:nvPr/>
        </p:nvSpPr>
        <p:spPr>
          <a:xfrm>
            <a:off x="685800" y="438912"/>
            <a:ext cx="5486400" cy="256032"/>
          </a:xfrm>
          <a:prstGeom prst="rect">
            <a:avLst/>
          </a:prstGeom>
          <a:noFill/>
          <a:ln/>
        </p:spPr>
        <p:txBody>
          <a:bodyPr wrap="square" lIns="0" tIns="0" rIns="0" bIns="0" rtlCol="0" anchor="ctr"/>
          <a:lstStyle/>
          <a:p>
            <a:pPr marL="0" indent="0">
              <a:buNone/>
            </a:pPr>
            <a:r>
              <a:rPr lang="en-US" sz="950" b="1" dirty="0">
                <a:solidFill>
                  <a:srgbClr val="31D8FF"/>
                </a:solidFill>
                <a:latin typeface="Aptos" pitchFamily="34" charset="0"/>
                <a:ea typeface="Aptos" pitchFamily="34" charset="-122"/>
                <a:cs typeface="Aptos" pitchFamily="34" charset="-120"/>
              </a:rPr>
              <a:t>SLIDE 32</a:t>
            </a:r>
            <a:endParaRPr lang="en-US" sz="950" dirty="0"/>
          </a:p>
        </p:txBody>
      </p:sp>
      <p:sp>
        <p:nvSpPr>
          <p:cNvPr id="4" name="Text 2"/>
          <p:cNvSpPr/>
          <p:nvPr/>
        </p:nvSpPr>
        <p:spPr>
          <a:xfrm>
            <a:off x="658368" y="768096"/>
            <a:ext cx="10881360" cy="548640"/>
          </a:xfrm>
          <a:prstGeom prst="rect">
            <a:avLst/>
          </a:prstGeom>
          <a:noFill/>
          <a:ln/>
        </p:spPr>
        <p:txBody>
          <a:bodyPr wrap="square" lIns="0" tIns="0" rIns="0" bIns="0" rtlCol="0" anchor="ctr">
            <a:normAutofit/>
          </a:bodyPr>
          <a:lstStyle/>
          <a:p>
            <a:pPr marL="0" indent="0">
              <a:buNone/>
            </a:pPr>
            <a:r>
              <a:rPr lang="en-US" sz="3100" b="1" dirty="0">
                <a:solidFill>
                  <a:srgbClr val="F8FAFC"/>
                </a:solidFill>
                <a:latin typeface="Aptos Display" pitchFamily="34" charset="0"/>
                <a:ea typeface="Aptos Display" pitchFamily="34" charset="-122"/>
                <a:cs typeface="Aptos Display" pitchFamily="34" charset="-120"/>
              </a:rPr>
              <a:t>References and further reading</a:t>
            </a:r>
            <a:endParaRPr lang="en-US" sz="3100" dirty="0"/>
          </a:p>
        </p:txBody>
      </p:sp>
      <p:sp>
        <p:nvSpPr>
          <p:cNvPr id="5" name="Shape 3"/>
          <p:cNvSpPr/>
          <p:nvPr/>
        </p:nvSpPr>
        <p:spPr>
          <a:xfrm>
            <a:off x="667512" y="1444752"/>
            <a:ext cx="960120" cy="0"/>
          </a:xfrm>
          <a:prstGeom prst="line">
            <a:avLst/>
          </a:prstGeom>
          <a:noFill/>
          <a:ln w="27940">
            <a:solidFill>
              <a:srgbClr val="31D8FF"/>
            </a:solidFill>
            <a:prstDash val="solid"/>
          </a:ln>
        </p:spPr>
        <p:txBody>
          <a:bodyPr/>
          <a:lstStyle/>
          <a:p>
            <a:endParaRPr lang="en-US"/>
          </a:p>
        </p:txBody>
      </p:sp>
      <p:sp>
        <p:nvSpPr>
          <p:cNvPr id="6" name="Text 4"/>
          <p:cNvSpPr/>
          <p:nvPr/>
        </p:nvSpPr>
        <p:spPr>
          <a:xfrm>
            <a:off x="658368" y="1572768"/>
            <a:ext cx="10607040" cy="384048"/>
          </a:xfrm>
          <a:prstGeom prst="rect">
            <a:avLst/>
          </a:prstGeom>
          <a:noFill/>
          <a:ln/>
        </p:spPr>
        <p:txBody>
          <a:bodyPr wrap="square" lIns="0" tIns="0" rIns="0" bIns="0" rtlCol="0" anchor="ctr">
            <a:normAutofit/>
          </a:bodyPr>
          <a:lstStyle/>
          <a:p>
            <a:pPr marL="0" indent="0">
              <a:buNone/>
            </a:pPr>
            <a:r>
              <a:rPr lang="en-US" sz="1450" dirty="0">
                <a:solidFill>
                  <a:srgbClr val="B6C2D5"/>
                </a:solidFill>
                <a:latin typeface="Aptos" pitchFamily="34" charset="0"/>
                <a:ea typeface="Aptos" pitchFamily="34" charset="-122"/>
                <a:cs typeface="Aptos" pitchFamily="34" charset="-120"/>
              </a:rPr>
              <a:t>Key sources used for the deck.</a:t>
            </a:r>
            <a:endParaRPr lang="en-US" sz="1450" dirty="0"/>
          </a:p>
        </p:txBody>
      </p:sp>
      <p:sp>
        <p:nvSpPr>
          <p:cNvPr id="7" name="Text 5"/>
          <p:cNvSpPr/>
          <p:nvPr/>
        </p:nvSpPr>
        <p:spPr>
          <a:xfrm>
            <a:off x="658368" y="1938528"/>
            <a:ext cx="5257800" cy="283464"/>
          </a:xfrm>
          <a:prstGeom prst="rect">
            <a:avLst/>
          </a:prstGeom>
          <a:noFill/>
          <a:ln/>
        </p:spPr>
        <p:txBody>
          <a:bodyPr wrap="square" lIns="0" tIns="0" rIns="0" bIns="0" rtlCol="0" anchor="ctr">
            <a:normAutofit/>
          </a:bodyPr>
          <a:lstStyle/>
          <a:p>
            <a:pPr marL="0" indent="0">
              <a:buNone/>
            </a:pPr>
            <a:r>
              <a:rPr lang="en-US" sz="720" dirty="0">
                <a:solidFill>
                  <a:srgbClr val="B6C2D5"/>
                </a:solidFill>
                <a:latin typeface="Aptos" pitchFamily="34" charset="0"/>
                <a:ea typeface="Aptos" pitchFamily="34" charset="-122"/>
                <a:cs typeface="Aptos" pitchFamily="34" charset="-120"/>
              </a:rPr>
              <a:t>1. NVIDIA Glossary — What is Physical AI? https://www.nvidia.com/en-us/glossary/generative-physical-ai/</a:t>
            </a:r>
            <a:endParaRPr lang="en-US" sz="720" dirty="0"/>
          </a:p>
        </p:txBody>
      </p:sp>
      <p:sp>
        <p:nvSpPr>
          <p:cNvPr id="8" name="Text 6"/>
          <p:cNvSpPr/>
          <p:nvPr/>
        </p:nvSpPr>
        <p:spPr>
          <a:xfrm>
            <a:off x="658368" y="2331720"/>
            <a:ext cx="5257800" cy="283464"/>
          </a:xfrm>
          <a:prstGeom prst="rect">
            <a:avLst/>
          </a:prstGeom>
          <a:noFill/>
          <a:ln/>
        </p:spPr>
        <p:txBody>
          <a:bodyPr wrap="square" lIns="0" tIns="0" rIns="0" bIns="0" rtlCol="0" anchor="ctr">
            <a:normAutofit/>
          </a:bodyPr>
          <a:lstStyle/>
          <a:p>
            <a:pPr marL="0" indent="0">
              <a:buNone/>
            </a:pPr>
            <a:r>
              <a:rPr lang="en-US" sz="720" dirty="0">
                <a:solidFill>
                  <a:srgbClr val="B6C2D5"/>
                </a:solidFill>
                <a:latin typeface="Aptos" pitchFamily="34" charset="0"/>
                <a:ea typeface="Aptos" pitchFamily="34" charset="-122"/>
                <a:cs typeface="Aptos" pitchFamily="34" charset="-120"/>
              </a:rPr>
              <a:t>2. Google DeepMind — RT-2: New model translates vision and language into action. https://deepmind.google/blog/rt-2-new-model-translates-vision-and-language-into-action/</a:t>
            </a:r>
            <a:endParaRPr lang="en-US" sz="720" dirty="0"/>
          </a:p>
        </p:txBody>
      </p:sp>
      <p:sp>
        <p:nvSpPr>
          <p:cNvPr id="9" name="Text 7"/>
          <p:cNvSpPr/>
          <p:nvPr/>
        </p:nvSpPr>
        <p:spPr>
          <a:xfrm>
            <a:off x="658368" y="2724912"/>
            <a:ext cx="5257800" cy="283464"/>
          </a:xfrm>
          <a:prstGeom prst="rect">
            <a:avLst/>
          </a:prstGeom>
          <a:noFill/>
          <a:ln/>
        </p:spPr>
        <p:txBody>
          <a:bodyPr wrap="square" lIns="0" tIns="0" rIns="0" bIns="0" rtlCol="0" anchor="ctr">
            <a:normAutofit/>
          </a:bodyPr>
          <a:lstStyle/>
          <a:p>
            <a:pPr marL="0" indent="0">
              <a:buNone/>
            </a:pPr>
            <a:r>
              <a:rPr lang="en-US" sz="720" dirty="0">
                <a:solidFill>
                  <a:srgbClr val="B6C2D5"/>
                </a:solidFill>
                <a:latin typeface="Aptos" pitchFamily="34" charset="0"/>
                <a:ea typeface="Aptos" pitchFamily="34" charset="-122"/>
                <a:cs typeface="Aptos" pitchFamily="34" charset="-120"/>
              </a:rPr>
              <a:t>3. Open X-Embodiment — Robotic Learning Datasets and RT-X Models. https://robotics-transformer-x.github.io/</a:t>
            </a:r>
            <a:endParaRPr lang="en-US" sz="720" dirty="0"/>
          </a:p>
        </p:txBody>
      </p:sp>
      <p:sp>
        <p:nvSpPr>
          <p:cNvPr id="10" name="Text 8"/>
          <p:cNvSpPr/>
          <p:nvPr/>
        </p:nvSpPr>
        <p:spPr>
          <a:xfrm>
            <a:off x="658368" y="3118104"/>
            <a:ext cx="5257800" cy="283464"/>
          </a:xfrm>
          <a:prstGeom prst="rect">
            <a:avLst/>
          </a:prstGeom>
          <a:noFill/>
          <a:ln/>
        </p:spPr>
        <p:txBody>
          <a:bodyPr wrap="square" lIns="0" tIns="0" rIns="0" bIns="0" rtlCol="0" anchor="ctr">
            <a:normAutofit/>
          </a:bodyPr>
          <a:lstStyle/>
          <a:p>
            <a:pPr marL="0" indent="0">
              <a:buNone/>
            </a:pPr>
            <a:r>
              <a:rPr lang="en-US" sz="720" dirty="0">
                <a:solidFill>
                  <a:srgbClr val="B6C2D5"/>
                </a:solidFill>
                <a:latin typeface="Aptos" pitchFamily="34" charset="0"/>
                <a:ea typeface="Aptos" pitchFamily="34" charset="-122"/>
                <a:cs typeface="Aptos" pitchFamily="34" charset="-120"/>
              </a:rPr>
              <a:t>4. Octo — An Open-Source Generalist Robot Policy. https://octo-models.github.io/</a:t>
            </a:r>
            <a:endParaRPr lang="en-US" sz="720" dirty="0"/>
          </a:p>
        </p:txBody>
      </p:sp>
      <p:sp>
        <p:nvSpPr>
          <p:cNvPr id="11" name="Text 9"/>
          <p:cNvSpPr/>
          <p:nvPr/>
        </p:nvSpPr>
        <p:spPr>
          <a:xfrm>
            <a:off x="658368" y="3511296"/>
            <a:ext cx="5257800" cy="283464"/>
          </a:xfrm>
          <a:prstGeom prst="rect">
            <a:avLst/>
          </a:prstGeom>
          <a:noFill/>
          <a:ln/>
        </p:spPr>
        <p:txBody>
          <a:bodyPr wrap="square" lIns="0" tIns="0" rIns="0" bIns="0" rtlCol="0" anchor="ctr">
            <a:normAutofit/>
          </a:bodyPr>
          <a:lstStyle/>
          <a:p>
            <a:pPr marL="0" indent="0">
              <a:buNone/>
            </a:pPr>
            <a:r>
              <a:rPr lang="en-US" sz="720" dirty="0">
                <a:solidFill>
                  <a:srgbClr val="B6C2D5"/>
                </a:solidFill>
                <a:latin typeface="Aptos" pitchFamily="34" charset="0"/>
                <a:ea typeface="Aptos" pitchFamily="34" charset="-122"/>
                <a:cs typeface="Aptos" pitchFamily="34" charset="-120"/>
              </a:rPr>
              <a:t>5. NVIDIA Cosmos — Physical AI with World Foundation Models. https://www.nvidia.com/en-us/ai/cosmos/</a:t>
            </a:r>
            <a:endParaRPr lang="en-US" sz="720" dirty="0"/>
          </a:p>
        </p:txBody>
      </p:sp>
      <p:sp>
        <p:nvSpPr>
          <p:cNvPr id="12" name="Text 10"/>
          <p:cNvSpPr/>
          <p:nvPr/>
        </p:nvSpPr>
        <p:spPr>
          <a:xfrm>
            <a:off x="658368" y="3904488"/>
            <a:ext cx="525780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6. International Federation of Robotics — World Robotics 2025 report. https://ifr.org/ifr-press-releases/news/global-robot-demand-in-factories-doubles-over-10-years</a:t>
            </a:r>
            <a:endParaRPr lang="en-US" sz="720" dirty="0"/>
          </a:p>
        </p:txBody>
      </p:sp>
      <p:sp>
        <p:nvSpPr>
          <p:cNvPr id="13" name="Text 11"/>
          <p:cNvSpPr/>
          <p:nvPr/>
        </p:nvSpPr>
        <p:spPr>
          <a:xfrm>
            <a:off x="658368" y="4297680"/>
            <a:ext cx="525780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7. Stanford HAI — 2025 AI Index Report. https://hai.stanford.edu/ai-index/2025-ai-index-report</a:t>
            </a:r>
            <a:endParaRPr lang="en-US" sz="720" dirty="0"/>
          </a:p>
        </p:txBody>
      </p:sp>
      <p:sp>
        <p:nvSpPr>
          <p:cNvPr id="14" name="Text 12"/>
          <p:cNvSpPr/>
          <p:nvPr/>
        </p:nvSpPr>
        <p:spPr>
          <a:xfrm>
            <a:off x="658368" y="4690872"/>
            <a:ext cx="525780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8. NIST — AI Risk Management Framework. https://www.nist.gov/itl/ai-risk-management-framework</a:t>
            </a:r>
            <a:endParaRPr lang="en-US" sz="720" dirty="0"/>
          </a:p>
        </p:txBody>
      </p:sp>
      <p:sp>
        <p:nvSpPr>
          <p:cNvPr id="15" name="Text 13"/>
          <p:cNvSpPr/>
          <p:nvPr/>
        </p:nvSpPr>
        <p:spPr>
          <a:xfrm>
            <a:off x="6236208" y="1938528"/>
            <a:ext cx="530352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9. ISO — ISO 10218-1:2025 Robotics safety requirements. https://www.iso.org/standard/73933.html</a:t>
            </a:r>
            <a:endParaRPr lang="en-US" sz="720" dirty="0"/>
          </a:p>
        </p:txBody>
      </p:sp>
      <p:sp>
        <p:nvSpPr>
          <p:cNvPr id="16" name="Text 14"/>
          <p:cNvSpPr/>
          <p:nvPr/>
        </p:nvSpPr>
        <p:spPr>
          <a:xfrm>
            <a:off x="6236208" y="2331720"/>
            <a:ext cx="530352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10. European Commission — AI Act. https://digital-strategy.ec.europa.eu/en/policies/regulatory-framework-ai</a:t>
            </a:r>
            <a:endParaRPr lang="en-US" sz="720" dirty="0"/>
          </a:p>
        </p:txBody>
      </p:sp>
      <p:sp>
        <p:nvSpPr>
          <p:cNvPr id="17" name="Text 15"/>
          <p:cNvSpPr/>
          <p:nvPr/>
        </p:nvSpPr>
        <p:spPr>
          <a:xfrm>
            <a:off x="6236208" y="2724912"/>
            <a:ext cx="530352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11. Amazon — Amazon launches a new AI foundation model to power its robotic fleet and deploys its 1 millionth robot. https://www.aboutamazon.com/news/operations/amazon-million-robots-ai-foundation-model</a:t>
            </a:r>
            <a:endParaRPr lang="en-US" sz="720" dirty="0"/>
          </a:p>
        </p:txBody>
      </p:sp>
      <p:sp>
        <p:nvSpPr>
          <p:cNvPr id="18" name="Text 16"/>
          <p:cNvSpPr/>
          <p:nvPr/>
        </p:nvSpPr>
        <p:spPr>
          <a:xfrm>
            <a:off x="6236208" y="3118104"/>
            <a:ext cx="530352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12. Amazon — Amazon has more than 1 million robots that sort, lift, and carry packages. https://www.aboutamazon.com/news/operations/amazon-robotics-robots-fulfillment-center</a:t>
            </a:r>
            <a:endParaRPr lang="en-US" sz="720" dirty="0"/>
          </a:p>
        </p:txBody>
      </p:sp>
      <p:sp>
        <p:nvSpPr>
          <p:cNvPr id="19" name="Text 17"/>
          <p:cNvSpPr/>
          <p:nvPr/>
        </p:nvSpPr>
        <p:spPr>
          <a:xfrm>
            <a:off x="6236208" y="3511296"/>
            <a:ext cx="530352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13. Amazon — Introducing Vulcan: Amazon’s first robot with a sense of touch. https://www.aboutamazon.com/news/operations/amazon-vulcan-robot-pick-stow-touch</a:t>
            </a:r>
            <a:endParaRPr lang="en-US" sz="720" dirty="0"/>
          </a:p>
        </p:txBody>
      </p:sp>
      <p:sp>
        <p:nvSpPr>
          <p:cNvPr id="20" name="Text 18"/>
          <p:cNvSpPr/>
          <p:nvPr/>
        </p:nvSpPr>
        <p:spPr>
          <a:xfrm>
            <a:off x="6236208" y="3904488"/>
            <a:ext cx="530352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14. Amazon Science — How Amazon’s Vulcan robots use touch to plan and execute motions. https://www.amazon.science/blog/how-amazons-vulcan-robots-use-touch-to-plan-and-execute-motions</a:t>
            </a:r>
            <a:endParaRPr lang="en-US" sz="720" dirty="0"/>
          </a:p>
        </p:txBody>
      </p:sp>
      <p:sp>
        <p:nvSpPr>
          <p:cNvPr id="21" name="Text 19"/>
          <p:cNvSpPr/>
          <p:nvPr/>
        </p:nvSpPr>
        <p:spPr>
          <a:xfrm>
            <a:off x="6236208" y="4297680"/>
            <a:ext cx="530352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15. Amazon — Next-generation fulfillment center powered by AI and robotics. https://www.aboutamazon.com/news/operations/amazon-fulfillment-center-robotics-ai</a:t>
            </a:r>
            <a:endParaRPr lang="en-US" sz="720" dirty="0"/>
          </a:p>
        </p:txBody>
      </p:sp>
      <p:sp>
        <p:nvSpPr>
          <p:cNvPr id="22" name="Text 20"/>
          <p:cNvSpPr/>
          <p:nvPr/>
        </p:nvSpPr>
        <p:spPr>
          <a:xfrm>
            <a:off x="6236208" y="4690872"/>
            <a:ext cx="5303520" cy="283464"/>
          </a:xfrm>
          <a:prstGeom prst="rect">
            <a:avLst/>
          </a:prstGeom>
          <a:noFill/>
          <a:ln/>
        </p:spPr>
        <p:txBody>
          <a:bodyPr wrap="square" lIns="0" tIns="0" rIns="0" bIns="0" rtlCol="0" anchor="ctr">
            <a:normAutofit/>
          </a:bodyPr>
          <a:lstStyle/>
          <a:p>
            <a:pPr marL="0" indent="0">
              <a:buNone/>
            </a:pPr>
            <a:r>
              <a:rPr lang="en-US" sz="720" dirty="0">
                <a:solidFill>
                  <a:srgbClr val="8391A8"/>
                </a:solidFill>
                <a:latin typeface="Aptos" pitchFamily="34" charset="0"/>
                <a:ea typeface="Aptos" pitchFamily="34" charset="-122"/>
                <a:cs typeface="Aptos" pitchFamily="34" charset="-120"/>
              </a:rPr>
              <a:t>16. Amazon IR — Q2 2025 results, DeepFleet update. https://ir.aboutamazon.com/news-release/news-release-details/2025/Amazon-com-Announces-Second-Quarter-Results/</a:t>
            </a:r>
            <a:endParaRPr lang="en-US" sz="720" dirty="0"/>
          </a:p>
        </p:txBody>
      </p:sp>
      <p:sp>
        <p:nvSpPr>
          <p:cNvPr id="23" name="Text 21"/>
          <p:cNvSpPr/>
          <p:nvPr/>
        </p:nvSpPr>
        <p:spPr>
          <a:xfrm>
            <a:off x="658368" y="5961888"/>
            <a:ext cx="7955280" cy="201168"/>
          </a:xfrm>
          <a:prstGeom prst="rect">
            <a:avLst/>
          </a:prstGeom>
          <a:noFill/>
          <a:ln/>
        </p:spPr>
        <p:txBody>
          <a:bodyPr wrap="square" lIns="0" tIns="0" rIns="0" bIns="0" rtlCol="0" anchor="ctr"/>
          <a:lstStyle/>
          <a:p>
            <a:pPr marL="0" indent="0">
              <a:buNone/>
            </a:pPr>
            <a:r>
              <a:rPr lang="en-US" sz="800" dirty="0">
                <a:solidFill>
                  <a:srgbClr val="8391A8"/>
                </a:solidFill>
                <a:latin typeface="Aptos" pitchFamily="34" charset="0"/>
                <a:ea typeface="Aptos" pitchFamily="34" charset="-122"/>
                <a:cs typeface="Aptos" pitchFamily="34" charset="-120"/>
              </a:rPr>
              <a:t>Generated visuals: OpenAI image generation, created for this presentation.</a:t>
            </a:r>
            <a:endParaRPr lang="en-US" sz="800" dirty="0"/>
          </a:p>
        </p:txBody>
      </p:sp>
      <p:sp>
        <p:nvSpPr>
          <p:cNvPr id="24" name="Shape 22"/>
          <p:cNvSpPr/>
          <p:nvPr/>
        </p:nvSpPr>
        <p:spPr>
          <a:xfrm>
            <a:off x="594360" y="6400800"/>
            <a:ext cx="10972800" cy="0"/>
          </a:xfrm>
          <a:prstGeom prst="line">
            <a:avLst/>
          </a:prstGeom>
          <a:noFill/>
          <a:ln w="7620">
            <a:solidFill>
              <a:srgbClr val="25436C">
                <a:alpha val="85000"/>
              </a:srgbClr>
            </a:solidFill>
            <a:prstDash val="solid"/>
          </a:ln>
        </p:spPr>
        <p:txBody>
          <a:bodyPr/>
          <a:lstStyle/>
          <a:p>
            <a:endParaRPr lang="en-US"/>
          </a:p>
        </p:txBody>
      </p:sp>
      <p:sp>
        <p:nvSpPr>
          <p:cNvPr id="25" name="Text 23"/>
          <p:cNvSpPr/>
          <p:nvPr/>
        </p:nvSpPr>
        <p:spPr>
          <a:xfrm>
            <a:off x="594360" y="6492240"/>
            <a:ext cx="6858000" cy="219456"/>
          </a:xfrm>
          <a:prstGeom prst="rect">
            <a:avLst/>
          </a:prstGeom>
          <a:noFill/>
          <a:ln/>
        </p:spPr>
        <p:txBody>
          <a:bodyPr wrap="square" lIns="0" tIns="0" rIns="0" bIns="0" rtlCol="0" anchor="ctr"/>
          <a:lstStyle/>
          <a:p>
            <a:pPr marL="0" indent="0">
              <a:buNone/>
            </a:pPr>
            <a:r>
              <a:rPr lang="en-US" sz="780" b="1" dirty="0">
                <a:solidFill>
                  <a:srgbClr val="8391A8"/>
                </a:solidFill>
                <a:latin typeface="Aptos" pitchFamily="34" charset="0"/>
                <a:ea typeface="Aptos" pitchFamily="34" charset="-122"/>
                <a:cs typeface="Aptos" pitchFamily="34" charset="-120"/>
              </a:rPr>
              <a:t>FOUNDATIONS OF PHYSICAL AI</a:t>
            </a:r>
            <a:endParaRPr lang="en-US" sz="780" dirty="0"/>
          </a:p>
        </p:txBody>
      </p:sp>
      <p:sp>
        <p:nvSpPr>
          <p:cNvPr id="26" name="Text 24"/>
          <p:cNvSpPr/>
          <p:nvPr/>
        </p:nvSpPr>
        <p:spPr>
          <a:xfrm>
            <a:off x="11292840" y="6473952"/>
            <a:ext cx="320040" cy="219456"/>
          </a:xfrm>
          <a:prstGeom prst="rect">
            <a:avLst/>
          </a:prstGeom>
          <a:noFill/>
          <a:ln/>
        </p:spPr>
        <p:txBody>
          <a:bodyPr wrap="square" lIns="0" tIns="0" rIns="0" bIns="0" rtlCol="0" anchor="ctr"/>
          <a:lstStyle/>
          <a:p>
            <a:pPr marL="0" indent="0" algn="r">
              <a:buNone/>
            </a:pPr>
            <a:r>
              <a:rPr lang="en-US" sz="820" b="1" dirty="0">
                <a:solidFill>
                  <a:srgbClr val="8391A8"/>
                </a:solidFill>
                <a:latin typeface="Aptos" pitchFamily="34" charset="0"/>
                <a:ea typeface="Aptos" pitchFamily="34" charset="-122"/>
                <a:cs typeface="Aptos" pitchFamily="34" charset="-120"/>
              </a:rPr>
              <a:t>32</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5079</Words>
  <Application>Microsoft Office PowerPoint</Application>
  <PresentationFormat>Widescreen</PresentationFormat>
  <Paragraphs>633</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Foundations of Physical AI</dc:title>
  <dc:subject>Foundations of Physical AI</dc:subject>
  <dc:creator>OpenAI</dc:creator>
  <cp:lastModifiedBy>Gupta, Kishor</cp:lastModifiedBy>
  <cp:revision>2</cp:revision>
  <dcterms:created xsi:type="dcterms:W3CDTF">2026-05-29T03:40:08Z</dcterms:created>
  <dcterms:modified xsi:type="dcterms:W3CDTF">2026-05-29T04:37:00Z</dcterms:modified>
</cp:coreProperties>
</file>